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8182cca-50c8-66b7-24c0-d7bceb36febc}">
          <p14:sldIdLst>
            <p14:sldId id="256"/>
            <p14:sldId id="257"/>
          </p14:sldIdLst>
        </p14:section>
        <p14:section name="Approach" id="{4b272da5-2d2e-d087-c591-d5b8ae526d4c}">
          <p14:sldIdLst>
            <p14:sldId id="258"/>
            <p14:sldId id="259"/>
          </p14:sldIdLst>
        </p14:section>
        <p14:section name="Implementation" id="{52a12728-2358-ac57-27cd-f60c2e53f026}">
          <p14:sldIdLst>
            <p14:sldId id="260"/>
            <p14:sldId id="261"/>
          </p14:sldIdLst>
        </p14:section>
        <p14:section name="Results" id="{544660eb-4f20-6b4f-c24a-4354ead406bb}">
          <p14:sldIdLst>
            <p14:sldId id="262"/>
            <p14:sldId id="263"/>
          </p14:sldIdLst>
        </p14:section>
        <p14:section name="Conclusion" id="{cefeb3e5-d212-5d77-d336-6cb4e62cfc79}">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130"/>
                </a:solidFill>
                <a:latin typeface="+mn-lt"/>
              </a:defRPr>
            </a:pPr>
            <a:r>
              <a:rPr sz="1300" b="0" i="0" u="none" strike="noStrike">
                <a:solidFill>
                  <a:srgbClr val="1C2130"/>
                </a:solidFill>
                <a:latin typeface="+mn-lt"/>
              </a:rPr>
              <a:t>Test MAE gain vs persistence (%, 3-seed mean)</a:t>
            </a:r>
          </a:p>
        </c:rich>
      </c:tx>
      <c:layout/>
      <c:overlay val="0"/>
    </c:title>
    <c:autoTitleDeleted val="0"/>
    <c:plotArea>
      <c:layout/>
      <c:barChart>
        <c:barDir val="col"/>
        <c:grouping val="clustered"/>
        <c:varyColors val="0"/>
        <c:ser>
          <c:idx val="0"/>
          <c:order val="0"/>
          <c:tx>
            <c:strRef>
              <c:f>Sheet1!$B$1</c:f>
              <c:strCache>
                <c:ptCount val="1"/>
                <c:pt idx="0">
                  <c:v>CNN-LSTM vs persistence</c:v>
                </c:pt>
              </c:strCache>
            </c:strRef>
          </c:tx>
          <c:spPr>
            <a:solidFill>
              <a:srgbClr val="4B3BA6"/>
            </a:solidFill>
            <a:effectLst/>
          </c:spPr>
          <c:invertIfNegative val="0"/>
          <c:dLbls>
            <c:numFmt formatCode="+0.0&quot;%&quot;" sourceLinked="0"/>
            <c:txPr>
              <a:bodyPr/>
              <a:lstStyle/>
              <a:p>
                <a:pPr>
                  <a:defRPr b="0" i="0" strike="noStrike" sz="1200" u="none">
                    <a:solidFill>
                      <a:srgbClr val="1C2130"/>
                    </a:solidFill>
                    <a:latin typeface="+mn-lt"/>
                  </a:defRPr>
                </a:pPr>
              </a:p>
            </c:txPr>
            <c:showLegendKey val="0"/>
            <c:showVal val="1"/>
            <c:showCatName val="0"/>
            <c:showSerName val="0"/>
            <c:showPercent val="0"/>
            <c:showBubbleSize val="0"/>
            <c:showLeaderLines val="0"/>
          </c:dLbls>
          <c:cat>
            <c:multiLvlStrRef>
              <c:f>Sheet1!$A$2:$A$6</c:f>
              <c:multiLvlStrCache>
                <c:ptCount val="5"/>
                <c:lvl>
                  <c:pt idx="0">
                    <c:v>Abilene 5 min</c:v>
                  </c:pt>
                  <c:pt idx="1">
                    <c:v>Abilene 30 min</c:v>
                  </c:pt>
                  <c:pt idx="2">
                    <c:v>Abilene 60 min</c:v>
                  </c:pt>
                  <c:pt idx="3">
                    <c:v>GÉANT 15 min</c:v>
                  </c:pt>
                  <c:pt idx="4">
                    <c:v>GÉANT 60 min</c:v>
                  </c:pt>
                </c:lvl>
              </c:multiLvlStrCache>
            </c:multiLvlStrRef>
          </c:cat>
          <c:val>
            <c:numRef>
              <c:f>Sheet1!$B$2:$B$6</c:f>
              <c:numCache>
                <c:formatCode>General</c:formatCode>
                <c:ptCount val="5"/>
                <c:pt idx="0">
                  <c:v>0.4</c:v>
                </c:pt>
                <c:pt idx="1">
                  <c:v>0.8</c:v>
                </c:pt>
                <c:pt idx="2">
                  <c:v>1.1</c:v>
                </c:pt>
                <c:pt idx="3">
                  <c:v>0.3</c:v>
                </c:pt>
                <c:pt idx="4">
                  <c:v>2.7</c:v>
                </c:pt>
              </c:numCache>
            </c:numRef>
          </c:val>
        </c:ser>
        <c:dLbls>
          <c:numFmt formatCode="+0.0&quot;%&quot;" sourceLinked="0"/>
          <c:txPr>
            <a:bodyPr/>
            <a:lstStyle/>
            <a:p>
              <a:pPr>
                <a:defRPr b="0" i="0" strike="noStrike" sz="1200" u="none">
                  <a:solidFill>
                    <a:srgbClr val="1C21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072"/>
                </a:solidFill>
                <a:latin typeface="+mn-lt"/>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9525" cap="flat">
              <a:solidFill>
                <a:srgbClr val="E3E1EA"/>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072"/>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 Good morning. Our project forecasts traffic on a real backbone computer network (not road traffic) so that link congestion can be flagged before it happens.
- The map is the Abilene research network in the US: 12 routers, so 12 x 12 = 144 router-to-router (origin-destination) flows, measured every 5 minutes for 24 weeks in 2004. We later repeated everything on the European GEANT network (23 routers, 529 flows, 15-minute data).
- The highlighted path (LA to Chicago) matters later: one bursty flow on it causes almost all congestion events.
EMPHASISE: real measured data, two networks, about 70 trained models, everything reproducible.
TRANSITION: "Let me start with why forecasting this traffic matters."
LIKELY QUESTIONS
- Is this road traffic? No - bytes between routers.
- Why Abilene? It is the standard public dataset with measured OD flows plus the routing matrix needed to compute link loads.
(Fill in the bracketed names, register numbers, department, institution, guide and year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 Today congestion is handled after the fact: monitoring shows a link is overloaded, then operators act. Users have already suffered.
- Traffic changes all the time: the whole network peaks around 1.5x its quiet point each day, and individual flows burst - one LA-to-Chicago flow jumps from about 100 Mbit/s to over 6 Gbit/s.
- If we could forecast each flow 5-60 minutes ahead, we could add up the forecasts on each link (using the routing matrix) and warn before the link is overloaded.
- A gap we noticed: many deep-learning forecasters are judged on scaled numbers or against other complex models. We always compare against persistence ("next value = current value"), which is very hard to beat at 5-minute steps.
OBJECTIVES: seven technical objectives are complete; the final written report is pending. The last box of the chain (actually rerouting) is not implemented - we stop at warnings.
EXPECTED vs DEMONSTRATED BENEFIT: expected - minutes of warning before congestion. Demonstrated - flow forecasts beat persistence slightly; warnings were not earlier (slide 8). Be upfront about this.
TRANSITION: "Next, how this is done today and what we did differently."
LIKELY QUESTIONS
- Why not forecast link loads directly? Flows are what the dataset measures, and a flow forecast can be mapped onto any routing (load = A x flows).
- What is persistence? Forecast = last observed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 Four ways the problem is handled today, each with a gap we measured ourselves on Abilene's test period:
  * Reactive monitoring - acts after overload.
  * Persistence - excellent at 5 minutes (3.212 Mbit/s mean error) but by definition it cannot see a burst coming.
  * ARIMA, one model per flow - on the 5 busiest flows it was 2.8% WORSE than persistence; its forecasts are smoothed and react late to spikes.
  * Plain LSTM or CNN that predict each flow's level from scratch - 2.8x and 3.4x worse than persistence, because they pull forecasts towards typical values.
- Our solution: a residual CNN-LSTM. It predicts "last value + a correction", so before training it IS persistence and training can only improve on it. And it is trained on the error in real units (Mbit/s), the same metric we report.
- Novelty, honestly stated: we did not invent the CNN-LSTM. What is distinctive is the strict evaluation, the evidence about output form and loss, the end-to-end link-level test, and the diagnosis.
TRANSITION: "Here is how the whole system fits together."
LIKELY QUESTIONS
- Why is persistence so strong? At 5-minute steps traffic changes little; the last value is already a very good guess.
- Then what is the point of the CNN-LSTM? To learn the small systematic part of the change. It does - slightly - and the gain grows with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(follow the arrows)
Lane 1 - data:
- Abilene: 24 weekly files, each 2,016 rows x 144 flows; we use the measured "realOD" column. GEANT: 10,772 traffic-matrix XML files.
- Cleaning is rule-based: duplicated days, day-long flow outages, router outages and one physically impossible value are REMOVED, never filled in. 84.4% of Abilene time steps are kept.
- The kept data is cut into gap-free segments (9 on Abilene) and 1-hour windows are made inside each segment only.
- Split by time 60/20/20, scaler fitted on training data only - so nothing about the test period leaks into training.
Lane 2 - forecasting (right to left):
- Train the residual CNN-LSTM; predict; clip the forecast to the physically possible range; undo the scaling to get Mbit/s.
Lane 3 - application:
- Multiply flow forecasts by the routing matrix A to get the load on each of the 30 backbone links, divide by capacity, warn at 50%.
- Evaluate everything against persistence; log every run; one HTML results page.
EMPHASISE: this is the implemented architecture, not an idealised design. Rerouting itself is not implemented.
TRANSITION: "Now the model inside lane 2."
LIKELY QUESTIONS
- Why remove rather than fill missing data? Filling would mean training and scoring on numbers that were never measured.
- Why 50% and not 80%? No Abilene link ever reaches 80% (max 75%), so 80% gives zero events. 50% was fixed before seeing any warning result and is documented as a deviation from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 Input: the last 12 readings (one hour) of all 144 flows, scaled.
- Two causal 1-D convolutions (64 filters, width 3) pick up short patterns such as a rise over three readings, across all flows. "Causal" means each output only sees the current and earlier steps - no peeking at the future.
- Max pooling halves the sequence to 6 steps; two LSTM layers (100 then 50 units) model how those patterns evolve and summarise the hour into 50 numbers; dropout 0.2 limits memorising.
- The key design: the final Dense layer outputs a CORRECTION, initialised to zero, which is ADDED to the last observed value (orange skip path). So an untrained model is exactly persistence.
- Loss: we undo the log + min-max scaling inside TensorFlow and train on mean absolute error in Mbit/s. On the log scale every flow counts equally, so the model was optimising flows that hardly matter in Mbit/s.
- Evidence table: the planned (plain) CNN-LSTM was 2.1x worse than persistence; residual with MSE still lost by 1.3%; residual with the real-unit loss was the first to WIN (1.8% better on validation).
- Training: Adam, learning rate 0.001, batch 128, early stopping with best-weight restore, learning-rate halving on plateaus, 3 random seeds.
SIMPLE ANALOGY: the model is a weather forecaster who starts from "tomorrow = today" and only learns small adjustments.
TRANSITION: "How this is implemented in code."
LIKELY QUESTIONS
- Why causal padding? Otherwise convolution outputs mix in later steps of the window.
- Why tuning changed nothing? Differences between settings (about 0.5-1.5%) were inside the seed-to-seed noise, so we kept the planned settings rather than over-fit validation.
- What was the forecast "blow-up"? One validation input exceeded the training range; the model extrapolated and exp() turned it into ~25 million Mbit/s. Fixed by clipping forecasts to 0..fastest link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 Stack: Python 3.13 (TensorFlow does not support 3.14 yet), TensorFlow 2.21 with Keras for the networks, NumPy for all data handling, statsmodels only for ARIMA, pandas for the results table, matplotlib for the 21 figures. Everything runs on a laptop CPU.
- Code organisation: all reusable code lives once in common.py; each phase is one script, split into "# %%" cells that run in VS Code's Interactive Window.
- All modules are complete. Only the final written report is pending.
- Decisions worth highlighting:
  * removing bad data instead of inventing values,
  * scaler on training data only (no leakage),
  * clipping forecasts to the physically possible range - this fixed a real bug where one out-of-range input produced ~25 million Mbit/s,
  * fixed seeds + cached models so every number can be regenerated,
  * every run is appended to metrics.csv and the results page is rebuilt automatically.
TRANSITION: "Here is the system actually running."
LIKELY QUESTIONS
- How did you test the code? self_test() runs the whole data pipeline on synthetic data with assertions; 00_setup checks the model builds with exactly 143,608 parameters; 01_data checks that undoing the scaling gives back the raw data exactly.
- Why .py with cells instead of notebooks? Plain text: easy to diff, runnable from a terminal; outputs are saved to the report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 - An excerpt of the results page (results/report.html), which every script rebuilds automatically. These are the Abilene 5-minute test rows: persistence 3.212 Mbit/s; the CNN-LSTM as originally planned 9.241 (about 3x worse); the residual version trained with MSE 3.227 (still slightly worse); and the final residual CNN-LSTM trained on MAE in Mbit/s, three seeds: 3.201, 3.207, 3.194 - every seed beats persistence. The full page lists all 156 logged runs; only these rows are shown so the comparison is readable.
B - Real console output from the link-level script: the routing matrix has 30 backbone links (28 at 9.92 Gbit/s, 2 at 2.48 Gbit/s); forecasts are mapped onto them and link-utilisation errors computed for 5, 30 and 60 minutes ahead.
C - One real forecast traced through the system: busiest flow (Washington to Washington), test sample 3691. The last reading (335) jumped up from ~273-281. The model added a small negative correction, forecasting 311.6 Mbit/s. The truth was 286.7: error 24.8 vs persistence's 48.2.
BE HONEST: this sample was picked to illustrate a gain. Most corrections are much smaller; on average the model is only about 1% better.
LIVE DEMO OPTION: open results/report.html in a browser, or run ".venv\Scripts\python scripts\04_analysis.py" (about 8 seconds, uses saved models).
TRANSITION: "Now the overall numbers."
LIKELY QUESTIONS
- Why did the model lower the forecast? A plausible reading is that it learned single-step spikes on this flow are often partly reversed - an interpretation, not tested for this sample.
- Why do seeds differ? Seed 43 barely moved (334.3); seeds 42 and 44 corrected more. That is why we report 3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 Chart: after the fixes, the CNN-LSTM beats persistence everywhere - but by small margins: 0.4% at 5 minutes on Abilene, rising to 1.1% at 60 minutes; on GEANT 0.3% at 15 minutes and 2.7% at 60 minutes, where it beats persistence on 459 of 529 flows. All 3 seeds beat persistence in every case. The gain grows with horizon on both networks - that is the stable finding.
- Table: plain models were 2.8x / 3.4x worse; the residual CNN-LSTM is 3.200 +/- 0.005 vs 3.212.
- Link level: F1 is almost identical (0.97/0.94/0.91 vs 0.97/0.93/0.90) and the number of congestion onsets warned 30 minutes in advance is the same, 5 of 35. So the objective of EARLIER warnings was not met.
- Why: the model forecasts only 1-5% of each real change ("damping" 0.01-0.05). It is persistence plus a small nudge, because short-term bursts are mostly unpredictable from the last hour.
- LSTM-only looked best on validation but lost 12% on test at 30/60 min. That entire loss is one flow (LOSA to CHIN) whose test bursts exceed anything in training. Without that flow LSTM-only is as good as the CNN-LSTM. So the CNN's value here is robustness to out-of-range bursts.
TRANSITION: "What we contribute, and what is left."
LIKELY QUESTIONS
- Isn't 0.4% just noise? Seed spread at 5 min is +/-0.005 Mbit/s on 3.2 and all seeds beat persistence - consistent but tiny. The 60-minute GEANT gain (+2.7%) is clearer.
- Why is persistence F1 so high? Congestion episodes last many steps; persistence is right on every step except the first and last.
- Why can persistence never warn of an onset 5 minutes ahead? An onset means the previous step was below threshold, and that is exactly persistence's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Contributions (all demonstrated, with evidence on earlier slides):
1. A clean, leak-free, reproducible pipeline on Abilene and GEANT.
2. Evidence that the output form (residual) and the loss (MAE in real units) matter more than the architecture.
3. An end-to-end check that goes beyond flow accuracy to the warnings an operator would actually use.
4. A diagnosis of why gains stay small: the model loses slightly on small moves, gains 4-7% on large moves at 60 min, under-forecasts peaks (bias -21% vs -15% for persistence at 60 min on Abilene), and setting the LOSA-CHIN flow to zero cuts congested link-steps from 1,091 to 43.
We also corrected our own earlier hypothesis: we thought the model "over-smoothed" everywhere; the data showed the opposite on ordinary moves - over-smoothing is only a peak effect.
Limitations - state plainly. Future work is separate and NOT implemented.
Publication: possible, not guaranteed; it would need more seeds and confidence intervals. No patent claim.
TRANSITION: "To conclude."
LIKELY QUESTIONS
- What would you do first next? Add a seasonal baseline and time-of-day inputs (low effort, uses the daily cycle the model cannot currently see).
- Would a GNN help? It could use which flows share links; untested here.
- Why not deploy? Data is 2004-05 and offline; a live system needs streaming input, drift monitoring and input integrity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1 minute)
- Problem: congestion is handled reactively.
- Solution: we forecast all router-to-router flows with a residual CNN-LSTM, map them onto links with the routing matrix and raise warnings.
- Achievement: a complete, leak-free, reproducible pipeline evaluated on two real backbone networks.
- Findings: it beats the strong persistence baseline on both networks, by 0.3% at the shortest horizon up to 2.7% at an hour, but better flow forecasts did not give earlier congestion warnings. Our error analysis explains why.
- Status: all technical work done; final report being written.
"Thank you. We are happy to take questions."
QUICK ANSWERS TO KEEP READY
- "Your gain is tiny" -&gt; consistent across all seeds and both networks; grows with horizon; we report it honestly rather than on scaled data.
- "What did the model learn?" -&gt; small systematic corrections; it forecasts 1-5% of each real change.
- "What is novel?" -&gt; not the architecture; the strict evaluation, the residual + real-unit-loss evidence, the link-level test and the diagnosis.
See Final_Review_Viva_QA.md for the full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28232"/>
            <a:ext cx="6400800" cy="274320"/>
          </a:xfrm>
          <a:prstGeom prst="rect">
            <a:avLst/>
          </a:prstGeom>
          <a:noFill/>
          <a:ln/>
        </p:spPr>
        <p:txBody>
          <a:bodyPr wrap="square" lIns="0" tIns="0" rIns="0" bIns="0" rtlCol="0" anchor="ctr"/>
          <a:lstStyle/>
          <a:p>
            <a:pPr indent="0" marL="0">
              <a:buNone/>
            </a:pPr>
            <a:r>
              <a:rPr lang="en-US" sz="1000" dirty="0">
                <a:solidFill>
                  <a:schemeClr val="tx2"/>
                </a:solidFill>
              </a:rPr>
              <a:t>CNN-LSTM Based Network Traffic Forecasting  ·  Final Review</a:t>
            </a:r>
            <a:endParaRPr lang="en-US" sz="10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585216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B.TECH FINAL-YEAR PROJECT  ·  FINAL REVIEW</a:t>
            </a:r>
            <a:endParaRPr lang="en-US" sz="1200" dirty="0"/>
          </a:p>
        </p:txBody>
      </p:sp>
      <p:sp>
        <p:nvSpPr>
          <p:cNvPr id="3" name="Text 1"/>
          <p:cNvSpPr txBox="1"/>
          <p:nvPr/>
        </p:nvSpPr>
        <p:spPr>
          <a:xfrm>
            <a:off x="548640" y="868680"/>
            <a:ext cx="5852160" cy="178308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CNN-LSTM Based Network Traffic Forecasting</a:t>
            </a:r>
            <a:endParaRPr lang="en-US" sz="3800" dirty="0"/>
          </a:p>
        </p:txBody>
      </p:sp>
      <p:sp>
        <p:nvSpPr>
          <p:cNvPr id="4" name="Text 2"/>
          <p:cNvSpPr txBox="1"/>
          <p:nvPr/>
        </p:nvSpPr>
        <p:spPr>
          <a:xfrm>
            <a:off x="548640" y="2377440"/>
            <a:ext cx="5760720" cy="731520"/>
          </a:xfrm>
          <a:prstGeom prst="rect">
            <a:avLst/>
          </a:prstGeom>
          <a:noFill/>
          <a:ln/>
        </p:spPr>
        <p:txBody>
          <a:bodyPr wrap="square" lIns="0" tIns="0" rIns="0" bIns="0" rtlCol="0" anchor="t"/>
          <a:lstStyle/>
          <a:p>
            <a:pPr indent="0" marL="0">
              <a:buNone/>
            </a:pPr>
            <a:r>
              <a:rPr lang="en-US" sz="1500" dirty="0">
                <a:solidFill>
                  <a:schemeClr val="accent5"/>
                </a:solidFill>
              </a:rPr>
              <a:t>Forecasting backbone router-to-router traffic 5–60 minutes ahead and mapping it onto network links to flag congestion before it happens</a:t>
            </a:r>
            <a:endParaRPr lang="en-US" sz="1500" dirty="0"/>
          </a:p>
        </p:txBody>
      </p:sp>
      <p:sp>
        <p:nvSpPr>
          <p:cNvPr id="5" name="Text 3"/>
          <p:cNvSpPr txBox="1"/>
          <p:nvPr/>
        </p:nvSpPr>
        <p:spPr>
          <a:xfrm>
            <a:off x="548640" y="3383280"/>
            <a:ext cx="1463040" cy="329184"/>
          </a:xfrm>
          <a:prstGeom prst="rect">
            <a:avLst/>
          </a:prstGeom>
          <a:noFill/>
          <a:ln/>
        </p:spPr>
        <p:txBody>
          <a:bodyPr wrap="square" lIns="0" tIns="0" rIns="0" bIns="0" rtlCol="0" anchor="ctr"/>
          <a:lstStyle/>
          <a:p>
            <a:pPr indent="0" marL="0">
              <a:buNone/>
            </a:pPr>
            <a:r>
              <a:rPr lang="en-US" sz="1400" dirty="0">
                <a:solidFill>
                  <a:schemeClr val="accent5"/>
                </a:solidFill>
              </a:rPr>
              <a:t>Student(s)</a:t>
            </a:r>
            <a:endParaRPr lang="en-US" sz="1400" dirty="0"/>
          </a:p>
        </p:txBody>
      </p:sp>
      <p:sp>
        <p:nvSpPr>
          <p:cNvPr id="6" name="Text 4"/>
          <p:cNvSpPr txBox="1"/>
          <p:nvPr/>
        </p:nvSpPr>
        <p:spPr>
          <a:xfrm>
            <a:off x="2057400" y="3383280"/>
            <a:ext cx="4297680" cy="329184"/>
          </a:xfrm>
          <a:prstGeom prst="rect">
            <a:avLst/>
          </a:prstGeom>
          <a:noFill/>
          <a:ln/>
        </p:spPr>
        <p:txBody>
          <a:bodyPr wrap="square" lIns="0" tIns="0" rIns="0" bIns="0" rtlCol="0" anchor="ctr"/>
          <a:lstStyle/>
          <a:p>
            <a:pPr indent="0" marL="0">
              <a:buNone/>
            </a:pPr>
            <a:r>
              <a:rPr lang="en-US" sz="1400" dirty="0">
                <a:solidFill>
                  <a:srgbClr val="F2B880"/>
                </a:solidFill>
              </a:rPr>
              <a:t>[Name – Register No.]  ·  [Name – Register No.]</a:t>
            </a:r>
            <a:endParaRPr lang="en-US" sz="1400" dirty="0"/>
          </a:p>
        </p:txBody>
      </p:sp>
      <p:sp>
        <p:nvSpPr>
          <p:cNvPr id="7" name="Text 5"/>
          <p:cNvSpPr txBox="1"/>
          <p:nvPr/>
        </p:nvSpPr>
        <p:spPr>
          <a:xfrm>
            <a:off x="548640" y="3767328"/>
            <a:ext cx="1463040" cy="329184"/>
          </a:xfrm>
          <a:prstGeom prst="rect">
            <a:avLst/>
          </a:prstGeom>
          <a:noFill/>
          <a:ln/>
        </p:spPr>
        <p:txBody>
          <a:bodyPr wrap="square" lIns="0" tIns="0" rIns="0" bIns="0" rtlCol="0" anchor="ctr"/>
          <a:lstStyle/>
          <a:p>
            <a:pPr indent="0" marL="0">
              <a:buNone/>
            </a:pPr>
            <a:r>
              <a:rPr lang="en-US" sz="1400" dirty="0">
                <a:solidFill>
                  <a:schemeClr val="accent5"/>
                </a:solidFill>
              </a:rPr>
              <a:t>Department</a:t>
            </a:r>
            <a:endParaRPr lang="en-US" sz="1400" dirty="0"/>
          </a:p>
        </p:txBody>
      </p:sp>
      <p:sp>
        <p:nvSpPr>
          <p:cNvPr id="8" name="Text 6"/>
          <p:cNvSpPr txBox="1"/>
          <p:nvPr/>
        </p:nvSpPr>
        <p:spPr>
          <a:xfrm>
            <a:off x="2057400" y="3767328"/>
            <a:ext cx="4297680" cy="329184"/>
          </a:xfrm>
          <a:prstGeom prst="rect">
            <a:avLst/>
          </a:prstGeom>
          <a:noFill/>
          <a:ln/>
        </p:spPr>
        <p:txBody>
          <a:bodyPr wrap="square" lIns="0" tIns="0" rIns="0" bIns="0" rtlCol="0" anchor="ctr"/>
          <a:lstStyle/>
          <a:p>
            <a:pPr indent="0" marL="0">
              <a:buNone/>
            </a:pPr>
            <a:r>
              <a:rPr lang="en-US" sz="1400" dirty="0">
                <a:solidFill>
                  <a:srgbClr val="F2B880"/>
                </a:solidFill>
              </a:rPr>
              <a:t>[Department of ...]</a:t>
            </a:r>
            <a:endParaRPr lang="en-US" sz="1400" dirty="0"/>
          </a:p>
        </p:txBody>
      </p:sp>
      <p:sp>
        <p:nvSpPr>
          <p:cNvPr id="9" name="Text 7"/>
          <p:cNvSpPr txBox="1"/>
          <p:nvPr/>
        </p:nvSpPr>
        <p:spPr>
          <a:xfrm>
            <a:off x="548640" y="4151376"/>
            <a:ext cx="1463040" cy="329184"/>
          </a:xfrm>
          <a:prstGeom prst="rect">
            <a:avLst/>
          </a:prstGeom>
          <a:noFill/>
          <a:ln/>
        </p:spPr>
        <p:txBody>
          <a:bodyPr wrap="square" lIns="0" tIns="0" rIns="0" bIns="0" rtlCol="0" anchor="ctr"/>
          <a:lstStyle/>
          <a:p>
            <a:pPr indent="0" marL="0">
              <a:buNone/>
            </a:pPr>
            <a:r>
              <a:rPr lang="en-US" sz="1400" dirty="0">
                <a:solidFill>
                  <a:schemeClr val="accent5"/>
                </a:solidFill>
              </a:rPr>
              <a:t>Institution</a:t>
            </a:r>
            <a:endParaRPr lang="en-US" sz="1400" dirty="0"/>
          </a:p>
        </p:txBody>
      </p:sp>
      <p:sp>
        <p:nvSpPr>
          <p:cNvPr id="10" name="Text 8"/>
          <p:cNvSpPr txBox="1"/>
          <p:nvPr/>
        </p:nvSpPr>
        <p:spPr>
          <a:xfrm>
            <a:off x="2057400" y="4151376"/>
            <a:ext cx="4297680" cy="329184"/>
          </a:xfrm>
          <a:prstGeom prst="rect">
            <a:avLst/>
          </a:prstGeom>
          <a:noFill/>
          <a:ln/>
        </p:spPr>
        <p:txBody>
          <a:bodyPr wrap="square" lIns="0" tIns="0" rIns="0" bIns="0" rtlCol="0" anchor="ctr"/>
          <a:lstStyle/>
          <a:p>
            <a:pPr indent="0" marL="0">
              <a:buNone/>
            </a:pPr>
            <a:r>
              <a:rPr lang="en-US" sz="1400" dirty="0">
                <a:solidFill>
                  <a:srgbClr val="F2B880"/>
                </a:solidFill>
              </a:rPr>
              <a:t>[Institution name]</a:t>
            </a:r>
            <a:endParaRPr lang="en-US" sz="1400" dirty="0"/>
          </a:p>
        </p:txBody>
      </p:sp>
      <p:sp>
        <p:nvSpPr>
          <p:cNvPr id="11" name="Text 9"/>
          <p:cNvSpPr txBox="1"/>
          <p:nvPr/>
        </p:nvSpPr>
        <p:spPr>
          <a:xfrm>
            <a:off x="548640" y="4535424"/>
            <a:ext cx="1463040" cy="329184"/>
          </a:xfrm>
          <a:prstGeom prst="rect">
            <a:avLst/>
          </a:prstGeom>
          <a:noFill/>
          <a:ln/>
        </p:spPr>
        <p:txBody>
          <a:bodyPr wrap="square" lIns="0" tIns="0" rIns="0" bIns="0" rtlCol="0" anchor="ctr"/>
          <a:lstStyle/>
          <a:p>
            <a:pPr indent="0" marL="0">
              <a:buNone/>
            </a:pPr>
            <a:r>
              <a:rPr lang="en-US" sz="1400" dirty="0">
                <a:solidFill>
                  <a:schemeClr val="accent5"/>
                </a:solidFill>
              </a:rPr>
              <a:t>Guide</a:t>
            </a:r>
            <a:endParaRPr lang="en-US" sz="1400" dirty="0"/>
          </a:p>
        </p:txBody>
      </p:sp>
      <p:sp>
        <p:nvSpPr>
          <p:cNvPr id="12" name="Text 10"/>
          <p:cNvSpPr txBox="1"/>
          <p:nvPr/>
        </p:nvSpPr>
        <p:spPr>
          <a:xfrm>
            <a:off x="2057400" y="4535424"/>
            <a:ext cx="4297680" cy="329184"/>
          </a:xfrm>
          <a:prstGeom prst="rect">
            <a:avLst/>
          </a:prstGeom>
          <a:noFill/>
          <a:ln/>
        </p:spPr>
        <p:txBody>
          <a:bodyPr wrap="square" lIns="0" tIns="0" rIns="0" bIns="0" rtlCol="0" anchor="ctr"/>
          <a:lstStyle/>
          <a:p>
            <a:pPr indent="0" marL="0">
              <a:buNone/>
            </a:pPr>
            <a:r>
              <a:rPr lang="en-US" sz="1400" dirty="0">
                <a:solidFill>
                  <a:srgbClr val="F2B880"/>
                </a:solidFill>
              </a:rPr>
              <a:t>[Guide name, designation]</a:t>
            </a:r>
            <a:endParaRPr lang="en-US" sz="1400" dirty="0"/>
          </a:p>
        </p:txBody>
      </p:sp>
      <p:sp>
        <p:nvSpPr>
          <p:cNvPr id="13" name="Text 11"/>
          <p:cNvSpPr txBox="1"/>
          <p:nvPr/>
        </p:nvSpPr>
        <p:spPr>
          <a:xfrm>
            <a:off x="548640" y="4919472"/>
            <a:ext cx="1463040" cy="329184"/>
          </a:xfrm>
          <a:prstGeom prst="rect">
            <a:avLst/>
          </a:prstGeom>
          <a:noFill/>
          <a:ln/>
        </p:spPr>
        <p:txBody>
          <a:bodyPr wrap="square" lIns="0" tIns="0" rIns="0" bIns="0" rtlCol="0" anchor="ctr"/>
          <a:lstStyle/>
          <a:p>
            <a:pPr indent="0" marL="0">
              <a:buNone/>
            </a:pPr>
            <a:r>
              <a:rPr lang="en-US" sz="1400" dirty="0">
                <a:solidFill>
                  <a:schemeClr val="accent5"/>
                </a:solidFill>
              </a:rPr>
              <a:t>Academic year</a:t>
            </a:r>
            <a:endParaRPr lang="en-US" sz="1400" dirty="0"/>
          </a:p>
        </p:txBody>
      </p:sp>
      <p:sp>
        <p:nvSpPr>
          <p:cNvPr id="14" name="Text 12"/>
          <p:cNvSpPr txBox="1"/>
          <p:nvPr/>
        </p:nvSpPr>
        <p:spPr>
          <a:xfrm>
            <a:off x="2057400" y="4919472"/>
            <a:ext cx="4297680" cy="329184"/>
          </a:xfrm>
          <a:prstGeom prst="rect">
            <a:avLst/>
          </a:prstGeom>
          <a:noFill/>
          <a:ln/>
        </p:spPr>
        <p:txBody>
          <a:bodyPr wrap="square" lIns="0" tIns="0" rIns="0" bIns="0" rtlCol="0" anchor="ctr"/>
          <a:lstStyle/>
          <a:p>
            <a:pPr indent="0" marL="0">
              <a:buNone/>
            </a:pPr>
            <a:r>
              <a:rPr lang="en-US" sz="1400" dirty="0">
                <a:solidFill>
                  <a:srgbClr val="F2B880"/>
                </a:solidFill>
              </a:rPr>
              <a:t>[20XX – 20XX]</a:t>
            </a:r>
            <a:endParaRPr lang="en-US" sz="1400" dirty="0"/>
          </a:p>
        </p:txBody>
      </p:sp>
      <p:sp>
        <p:nvSpPr>
          <p:cNvPr id="15" name="Shape 13"/>
          <p:cNvSpPr/>
          <p:nvPr/>
        </p:nvSpPr>
        <p:spPr>
          <a:xfrm>
            <a:off x="6537960" y="548640"/>
            <a:ext cx="5120640" cy="4709160"/>
          </a:xfrm>
          <a:prstGeom prst="roundRect">
            <a:avLst>
              <a:gd name="adj" fmla="val 2330"/>
            </a:avLst>
          </a:prstGeom>
          <a:solidFill>
            <a:srgbClr val="262C3D"/>
          </a:solidFill>
          <a:ln w="9525">
            <a:solidFill>
              <a:srgbClr val="262C3D"/>
            </a:solidFill>
            <a:prstDash val="solid"/>
          </a:ln>
        </p:spPr>
      </p:sp>
      <p:sp>
        <p:nvSpPr>
          <p:cNvPr id="16" name="Shape 14"/>
          <p:cNvSpPr/>
          <p:nvPr/>
        </p:nvSpPr>
        <p:spPr>
          <a:xfrm flipV="1">
            <a:off x="9467797" y="3483293"/>
            <a:ext cx="1038065" cy="682371"/>
          </a:xfrm>
          <a:prstGeom prst="line">
            <a:avLst/>
          </a:prstGeom>
          <a:noFill/>
          <a:ln w="31750">
            <a:solidFill>
              <a:srgbClr val="8A82C9"/>
            </a:solidFill>
            <a:prstDash val="solid"/>
          </a:ln>
        </p:spPr>
      </p:sp>
      <p:sp>
        <p:nvSpPr>
          <p:cNvPr id="17" name="Shape 15"/>
          <p:cNvSpPr/>
          <p:nvPr/>
        </p:nvSpPr>
        <p:spPr>
          <a:xfrm>
            <a:off x="10340261" y="2449346"/>
            <a:ext cx="165600" cy="1033946"/>
          </a:xfrm>
          <a:prstGeom prst="line">
            <a:avLst/>
          </a:prstGeom>
          <a:noFill/>
          <a:ln w="25400">
            <a:solidFill>
              <a:schemeClr val="accent2"/>
            </a:solidFill>
            <a:prstDash val="solid"/>
          </a:ln>
        </p:spPr>
      </p:sp>
      <p:sp>
        <p:nvSpPr>
          <p:cNvPr id="18" name="Shape 16"/>
          <p:cNvSpPr/>
          <p:nvPr/>
        </p:nvSpPr>
        <p:spPr>
          <a:xfrm flipV="1">
            <a:off x="10505861" y="2600788"/>
            <a:ext cx="685868" cy="882505"/>
          </a:xfrm>
          <a:prstGeom prst="line">
            <a:avLst/>
          </a:prstGeom>
          <a:noFill/>
          <a:ln w="31750">
            <a:solidFill>
              <a:srgbClr val="8A82C9"/>
            </a:solidFill>
            <a:prstDash val="solid"/>
          </a:ln>
        </p:spPr>
      </p:sp>
      <p:sp>
        <p:nvSpPr>
          <p:cNvPr id="19" name="Shape 17"/>
          <p:cNvSpPr/>
          <p:nvPr/>
        </p:nvSpPr>
        <p:spPr>
          <a:xfrm>
            <a:off x="10204402" y="2097411"/>
            <a:ext cx="135859" cy="351935"/>
          </a:xfrm>
          <a:prstGeom prst="line">
            <a:avLst/>
          </a:prstGeom>
          <a:noFill/>
          <a:ln w="31750">
            <a:solidFill>
              <a:srgbClr val="8A82C9"/>
            </a:solidFill>
            <a:prstDash val="solid"/>
          </a:ln>
        </p:spPr>
      </p:sp>
      <p:sp>
        <p:nvSpPr>
          <p:cNvPr id="20" name="Shape 18"/>
          <p:cNvSpPr/>
          <p:nvPr/>
        </p:nvSpPr>
        <p:spPr>
          <a:xfrm>
            <a:off x="10204402" y="2097411"/>
            <a:ext cx="1272630" cy="180023"/>
          </a:xfrm>
          <a:prstGeom prst="line">
            <a:avLst/>
          </a:prstGeom>
          <a:noFill/>
          <a:ln w="31750">
            <a:solidFill>
              <a:srgbClr val="8A82C9"/>
            </a:solidFill>
            <a:prstDash val="solid"/>
          </a:ln>
        </p:spPr>
      </p:sp>
      <p:sp>
        <p:nvSpPr>
          <p:cNvPr id="21" name="Shape 19"/>
          <p:cNvSpPr/>
          <p:nvPr/>
        </p:nvSpPr>
        <p:spPr>
          <a:xfrm>
            <a:off x="8583706" y="2283143"/>
            <a:ext cx="783464" cy="306604"/>
          </a:xfrm>
          <a:prstGeom prst="line">
            <a:avLst/>
          </a:prstGeom>
          <a:noFill/>
          <a:ln w="31750">
            <a:solidFill>
              <a:srgbClr val="8A82C9"/>
            </a:solidFill>
            <a:prstDash val="solid"/>
          </a:ln>
        </p:spPr>
      </p:sp>
      <p:sp>
        <p:nvSpPr>
          <p:cNvPr id="22" name="Shape 20"/>
          <p:cNvSpPr/>
          <p:nvPr/>
        </p:nvSpPr>
        <p:spPr>
          <a:xfrm flipV="1">
            <a:off x="6996368" y="2283143"/>
            <a:ext cx="1587337" cy="576792"/>
          </a:xfrm>
          <a:prstGeom prst="line">
            <a:avLst/>
          </a:prstGeom>
          <a:noFill/>
          <a:ln w="31750">
            <a:solidFill>
              <a:srgbClr val="8A82C9"/>
            </a:solidFill>
            <a:prstDash val="solid"/>
          </a:ln>
        </p:spPr>
      </p:sp>
      <p:sp>
        <p:nvSpPr>
          <p:cNvPr id="23" name="Shape 21"/>
          <p:cNvSpPr/>
          <p:nvPr/>
        </p:nvSpPr>
        <p:spPr>
          <a:xfrm>
            <a:off x="6970776" y="1108710"/>
            <a:ext cx="1612930" cy="1174433"/>
          </a:xfrm>
          <a:prstGeom prst="line">
            <a:avLst/>
          </a:prstGeom>
          <a:noFill/>
          <a:ln w="31750">
            <a:solidFill>
              <a:srgbClr val="8A82C9"/>
            </a:solidFill>
            <a:prstDash val="solid"/>
          </a:ln>
        </p:spPr>
      </p:sp>
      <p:sp>
        <p:nvSpPr>
          <p:cNvPr id="24" name="Shape 22"/>
          <p:cNvSpPr/>
          <p:nvPr/>
        </p:nvSpPr>
        <p:spPr>
          <a:xfrm>
            <a:off x="9367170" y="2589747"/>
            <a:ext cx="100626" cy="1575917"/>
          </a:xfrm>
          <a:prstGeom prst="line">
            <a:avLst/>
          </a:prstGeom>
          <a:noFill/>
          <a:ln w="31750">
            <a:solidFill>
              <a:srgbClr val="8A82C9"/>
            </a:solidFill>
            <a:prstDash val="solid"/>
          </a:ln>
        </p:spPr>
      </p:sp>
      <p:sp>
        <p:nvSpPr>
          <p:cNvPr id="25" name="Shape 23"/>
          <p:cNvSpPr/>
          <p:nvPr/>
        </p:nvSpPr>
        <p:spPr>
          <a:xfrm>
            <a:off x="7348369" y="3431858"/>
            <a:ext cx="2119427" cy="733806"/>
          </a:xfrm>
          <a:prstGeom prst="line">
            <a:avLst/>
          </a:prstGeom>
          <a:noFill/>
          <a:ln w="31750">
            <a:solidFill>
              <a:srgbClr val="8A82C9"/>
            </a:solidFill>
            <a:prstDash val="solid"/>
          </a:ln>
        </p:spPr>
      </p:sp>
      <p:sp>
        <p:nvSpPr>
          <p:cNvPr id="26" name="Shape 24"/>
          <p:cNvSpPr/>
          <p:nvPr/>
        </p:nvSpPr>
        <p:spPr>
          <a:xfrm flipV="1">
            <a:off x="9367170" y="2449346"/>
            <a:ext cx="973091" cy="140400"/>
          </a:xfrm>
          <a:prstGeom prst="line">
            <a:avLst/>
          </a:prstGeom>
          <a:noFill/>
          <a:ln w="31750">
            <a:solidFill>
              <a:srgbClr val="8A82C9"/>
            </a:solidFill>
            <a:prstDash val="solid"/>
          </a:ln>
        </p:spPr>
      </p:sp>
      <p:sp>
        <p:nvSpPr>
          <p:cNvPr id="27" name="Shape 25"/>
          <p:cNvSpPr/>
          <p:nvPr/>
        </p:nvSpPr>
        <p:spPr>
          <a:xfrm>
            <a:off x="6996368" y="2859935"/>
            <a:ext cx="352001" cy="571923"/>
          </a:xfrm>
          <a:prstGeom prst="line">
            <a:avLst/>
          </a:prstGeom>
          <a:noFill/>
          <a:ln w="31750">
            <a:solidFill>
              <a:srgbClr val="8A82C9"/>
            </a:solidFill>
            <a:prstDash val="solid"/>
          </a:ln>
        </p:spPr>
      </p:sp>
      <p:sp>
        <p:nvSpPr>
          <p:cNvPr id="28" name="Shape 26"/>
          <p:cNvSpPr/>
          <p:nvPr/>
        </p:nvSpPr>
        <p:spPr>
          <a:xfrm flipV="1">
            <a:off x="11191730" y="2277433"/>
            <a:ext cx="285302" cy="323355"/>
          </a:xfrm>
          <a:prstGeom prst="line">
            <a:avLst/>
          </a:prstGeom>
          <a:noFill/>
          <a:ln w="31750">
            <a:solidFill>
              <a:srgbClr val="8A82C9"/>
            </a:solidFill>
            <a:prstDash val="solid"/>
          </a:ln>
        </p:spPr>
      </p:sp>
      <p:sp>
        <p:nvSpPr>
          <p:cNvPr id="29" name="Shape 27"/>
          <p:cNvSpPr/>
          <p:nvPr/>
        </p:nvSpPr>
        <p:spPr>
          <a:xfrm>
            <a:off x="6970776" y="1108710"/>
            <a:ext cx="25592" cy="1751225"/>
          </a:xfrm>
          <a:prstGeom prst="line">
            <a:avLst/>
          </a:prstGeom>
          <a:noFill/>
          <a:ln w="31750">
            <a:solidFill>
              <a:srgbClr val="8A82C9"/>
            </a:solidFill>
            <a:prstDash val="solid"/>
          </a:ln>
        </p:spPr>
      </p:sp>
      <p:sp>
        <p:nvSpPr>
          <p:cNvPr id="30" name="Shape 28"/>
          <p:cNvSpPr/>
          <p:nvPr/>
        </p:nvSpPr>
        <p:spPr>
          <a:xfrm>
            <a:off x="6996368" y="2859935"/>
            <a:ext cx="352001" cy="571923"/>
          </a:xfrm>
          <a:prstGeom prst="line">
            <a:avLst/>
          </a:prstGeom>
          <a:noFill/>
          <a:ln w="50800">
            <a:solidFill>
              <a:srgbClr val="F2B880"/>
            </a:solidFill>
            <a:prstDash val="solid"/>
          </a:ln>
        </p:spPr>
      </p:sp>
      <p:sp>
        <p:nvSpPr>
          <p:cNvPr id="31" name="Shape 29"/>
          <p:cNvSpPr/>
          <p:nvPr/>
        </p:nvSpPr>
        <p:spPr>
          <a:xfrm flipV="1">
            <a:off x="6996368" y="2283143"/>
            <a:ext cx="1587337" cy="576792"/>
          </a:xfrm>
          <a:prstGeom prst="line">
            <a:avLst/>
          </a:prstGeom>
          <a:noFill/>
          <a:ln w="50800">
            <a:solidFill>
              <a:srgbClr val="F2B880"/>
            </a:solidFill>
            <a:prstDash val="solid"/>
          </a:ln>
        </p:spPr>
      </p:sp>
      <p:sp>
        <p:nvSpPr>
          <p:cNvPr id="32" name="Shape 30"/>
          <p:cNvSpPr/>
          <p:nvPr/>
        </p:nvSpPr>
        <p:spPr>
          <a:xfrm>
            <a:off x="8583706" y="2283143"/>
            <a:ext cx="783464" cy="306604"/>
          </a:xfrm>
          <a:prstGeom prst="line">
            <a:avLst/>
          </a:prstGeom>
          <a:noFill/>
          <a:ln w="50800">
            <a:solidFill>
              <a:srgbClr val="F2B880"/>
            </a:solidFill>
            <a:prstDash val="solid"/>
          </a:ln>
        </p:spPr>
      </p:sp>
      <p:sp>
        <p:nvSpPr>
          <p:cNvPr id="33" name="Shape 31"/>
          <p:cNvSpPr/>
          <p:nvPr/>
        </p:nvSpPr>
        <p:spPr>
          <a:xfrm flipV="1">
            <a:off x="9367170" y="2449346"/>
            <a:ext cx="973091" cy="140400"/>
          </a:xfrm>
          <a:prstGeom prst="line">
            <a:avLst/>
          </a:prstGeom>
          <a:noFill/>
          <a:ln w="50800">
            <a:solidFill>
              <a:srgbClr val="F2B880"/>
            </a:solidFill>
            <a:prstDash val="solid"/>
          </a:ln>
        </p:spPr>
      </p:sp>
      <p:sp>
        <p:nvSpPr>
          <p:cNvPr id="34" name="Shape 32"/>
          <p:cNvSpPr/>
          <p:nvPr/>
        </p:nvSpPr>
        <p:spPr>
          <a:xfrm>
            <a:off x="10204402" y="2097411"/>
            <a:ext cx="135859" cy="351935"/>
          </a:xfrm>
          <a:prstGeom prst="line">
            <a:avLst/>
          </a:prstGeom>
          <a:noFill/>
          <a:ln w="50800">
            <a:solidFill>
              <a:srgbClr val="F2B880"/>
            </a:solidFill>
            <a:prstDash val="solid"/>
          </a:ln>
        </p:spPr>
      </p:sp>
      <p:sp>
        <p:nvSpPr>
          <p:cNvPr id="35" name="Shape 33"/>
          <p:cNvSpPr/>
          <p:nvPr/>
        </p:nvSpPr>
        <p:spPr>
          <a:xfrm>
            <a:off x="10414421" y="3391853"/>
            <a:ext cx="182880" cy="182880"/>
          </a:xfrm>
          <a:prstGeom prst="ellipse">
            <a:avLst/>
          </a:prstGeom>
          <a:solidFill>
            <a:schemeClr val="bg1"/>
          </a:solidFill>
          <a:ln w="25400">
            <a:solidFill>
              <a:schemeClr val="accent1"/>
            </a:solidFill>
            <a:prstDash val="solid"/>
          </a:ln>
        </p:spPr>
      </p:sp>
      <p:sp>
        <p:nvSpPr>
          <p:cNvPr id="36" name="Text 34"/>
          <p:cNvSpPr txBox="1"/>
          <p:nvPr/>
        </p:nvSpPr>
        <p:spPr>
          <a:xfrm>
            <a:off x="10615589" y="3529013"/>
            <a:ext cx="914400" cy="228600"/>
          </a:xfrm>
          <a:prstGeom prst="rect">
            <a:avLst/>
          </a:prstGeom>
          <a:noFill/>
          <a:ln/>
        </p:spPr>
        <p:txBody>
          <a:bodyPr wrap="square" lIns="0" tIns="0" rIns="0" bIns="0" rtlCol="0" anchor="t"/>
          <a:lstStyle/>
          <a:p>
            <a:pPr indent="0" marL="0">
              <a:buNone/>
            </a:pPr>
            <a:r>
              <a:rPr lang="en-US" sz="1100" b="1" dirty="0">
                <a:solidFill>
                  <a:schemeClr val="bg1"/>
                </a:solidFill>
              </a:rPr>
              <a:t>ATLA (+M5)</a:t>
            </a:r>
            <a:endParaRPr lang="en-US" sz="1100" dirty="0"/>
          </a:p>
        </p:txBody>
      </p:sp>
      <p:sp>
        <p:nvSpPr>
          <p:cNvPr id="37" name="Shape 35"/>
          <p:cNvSpPr/>
          <p:nvPr/>
        </p:nvSpPr>
        <p:spPr>
          <a:xfrm>
            <a:off x="10112962" y="2005971"/>
            <a:ext cx="182880" cy="182880"/>
          </a:xfrm>
          <a:prstGeom prst="ellipse">
            <a:avLst/>
          </a:prstGeom>
          <a:solidFill>
            <a:schemeClr val="bg1"/>
          </a:solidFill>
          <a:ln w="25400">
            <a:solidFill>
              <a:schemeClr val="accent1"/>
            </a:solidFill>
            <a:prstDash val="solid"/>
          </a:ln>
        </p:spPr>
      </p:sp>
      <p:sp>
        <p:nvSpPr>
          <p:cNvPr id="38" name="Text 36"/>
          <p:cNvSpPr txBox="1"/>
          <p:nvPr/>
        </p:nvSpPr>
        <p:spPr>
          <a:xfrm>
            <a:off x="9820354" y="1768227"/>
            <a:ext cx="914400" cy="228600"/>
          </a:xfrm>
          <a:prstGeom prst="rect">
            <a:avLst/>
          </a:prstGeom>
          <a:noFill/>
          <a:ln/>
        </p:spPr>
        <p:txBody>
          <a:bodyPr wrap="square" lIns="0" tIns="0" rIns="0" bIns="0" rtlCol="0" anchor="t"/>
          <a:lstStyle/>
          <a:p>
            <a:pPr indent="0" marL="0">
              <a:buNone/>
            </a:pPr>
            <a:r>
              <a:rPr lang="en-US" sz="1100" b="1" dirty="0">
                <a:solidFill>
                  <a:schemeClr val="bg1"/>
                </a:solidFill>
              </a:rPr>
              <a:t>CHIN</a:t>
            </a:r>
            <a:endParaRPr lang="en-US" sz="1100" dirty="0"/>
          </a:p>
        </p:txBody>
      </p:sp>
      <p:sp>
        <p:nvSpPr>
          <p:cNvPr id="39" name="Shape 37"/>
          <p:cNvSpPr/>
          <p:nvPr/>
        </p:nvSpPr>
        <p:spPr>
          <a:xfrm>
            <a:off x="8492266" y="2191703"/>
            <a:ext cx="182880" cy="182880"/>
          </a:xfrm>
          <a:prstGeom prst="ellipse">
            <a:avLst/>
          </a:prstGeom>
          <a:solidFill>
            <a:schemeClr val="bg1"/>
          </a:solidFill>
          <a:ln w="25400">
            <a:solidFill>
              <a:schemeClr val="accent1"/>
            </a:solidFill>
            <a:prstDash val="solid"/>
          </a:ln>
        </p:spPr>
      </p:sp>
      <p:sp>
        <p:nvSpPr>
          <p:cNvPr id="40" name="Text 38"/>
          <p:cNvSpPr txBox="1"/>
          <p:nvPr/>
        </p:nvSpPr>
        <p:spPr>
          <a:xfrm>
            <a:off x="8400826" y="1935671"/>
            <a:ext cx="914400" cy="228600"/>
          </a:xfrm>
          <a:prstGeom prst="rect">
            <a:avLst/>
          </a:prstGeom>
          <a:noFill/>
          <a:ln/>
        </p:spPr>
        <p:txBody>
          <a:bodyPr wrap="square" lIns="0" tIns="0" rIns="0" bIns="0" rtlCol="0" anchor="t"/>
          <a:lstStyle/>
          <a:p>
            <a:pPr indent="0" marL="0">
              <a:buNone/>
            </a:pPr>
            <a:r>
              <a:rPr lang="en-US" sz="1100" b="1" dirty="0">
                <a:solidFill>
                  <a:schemeClr val="bg1"/>
                </a:solidFill>
              </a:rPr>
              <a:t>DNVR</a:t>
            </a:r>
            <a:endParaRPr lang="en-US" sz="1100" dirty="0"/>
          </a:p>
        </p:txBody>
      </p:sp>
      <p:sp>
        <p:nvSpPr>
          <p:cNvPr id="41" name="Shape 39"/>
          <p:cNvSpPr/>
          <p:nvPr/>
        </p:nvSpPr>
        <p:spPr>
          <a:xfrm>
            <a:off x="9376357" y="4074224"/>
            <a:ext cx="182880" cy="182880"/>
          </a:xfrm>
          <a:prstGeom prst="ellipse">
            <a:avLst/>
          </a:prstGeom>
          <a:solidFill>
            <a:schemeClr val="bg1"/>
          </a:solidFill>
          <a:ln w="25400">
            <a:solidFill>
              <a:schemeClr val="accent1"/>
            </a:solidFill>
            <a:prstDash val="solid"/>
          </a:ln>
        </p:spPr>
      </p:sp>
      <p:sp>
        <p:nvSpPr>
          <p:cNvPr id="42" name="Text 40"/>
          <p:cNvSpPr txBox="1"/>
          <p:nvPr/>
        </p:nvSpPr>
        <p:spPr>
          <a:xfrm>
            <a:off x="8900869" y="4092512"/>
            <a:ext cx="914400" cy="228600"/>
          </a:xfrm>
          <a:prstGeom prst="rect">
            <a:avLst/>
          </a:prstGeom>
          <a:noFill/>
          <a:ln/>
        </p:spPr>
        <p:txBody>
          <a:bodyPr wrap="square" lIns="0" tIns="0" rIns="0" bIns="0" rtlCol="0" anchor="t"/>
          <a:lstStyle/>
          <a:p>
            <a:pPr indent="0" marL="0">
              <a:buNone/>
            </a:pPr>
            <a:r>
              <a:rPr lang="en-US" sz="1100" b="1" dirty="0">
                <a:solidFill>
                  <a:schemeClr val="bg1"/>
                </a:solidFill>
              </a:rPr>
              <a:t>HSTN</a:t>
            </a:r>
            <a:endParaRPr lang="en-US" sz="1100" dirty="0"/>
          </a:p>
        </p:txBody>
      </p:sp>
      <p:sp>
        <p:nvSpPr>
          <p:cNvPr id="43" name="Shape 41"/>
          <p:cNvSpPr/>
          <p:nvPr/>
        </p:nvSpPr>
        <p:spPr>
          <a:xfrm>
            <a:off x="10248821" y="2357906"/>
            <a:ext cx="182880" cy="182880"/>
          </a:xfrm>
          <a:prstGeom prst="ellipse">
            <a:avLst/>
          </a:prstGeom>
          <a:solidFill>
            <a:schemeClr val="bg1"/>
          </a:solidFill>
          <a:ln w="25400">
            <a:solidFill>
              <a:schemeClr val="accent1"/>
            </a:solidFill>
            <a:prstDash val="solid"/>
          </a:ln>
        </p:spPr>
      </p:sp>
      <p:sp>
        <p:nvSpPr>
          <p:cNvPr id="44" name="Text 42"/>
          <p:cNvSpPr txBox="1"/>
          <p:nvPr/>
        </p:nvSpPr>
        <p:spPr>
          <a:xfrm>
            <a:off x="10449989" y="2495066"/>
            <a:ext cx="914400" cy="228600"/>
          </a:xfrm>
          <a:prstGeom prst="rect">
            <a:avLst/>
          </a:prstGeom>
          <a:noFill/>
          <a:ln/>
        </p:spPr>
        <p:txBody>
          <a:bodyPr wrap="square" lIns="0" tIns="0" rIns="0" bIns="0" rtlCol="0" anchor="t"/>
          <a:lstStyle/>
          <a:p>
            <a:pPr indent="0" marL="0">
              <a:buNone/>
            </a:pPr>
            <a:r>
              <a:rPr lang="en-US" sz="1100" b="1" dirty="0">
                <a:solidFill>
                  <a:schemeClr val="bg1"/>
                </a:solidFill>
              </a:rPr>
              <a:t>IPLS</a:t>
            </a:r>
            <a:endParaRPr lang="en-US" sz="1100" dirty="0"/>
          </a:p>
        </p:txBody>
      </p:sp>
      <p:sp>
        <p:nvSpPr>
          <p:cNvPr id="45" name="Shape 43"/>
          <p:cNvSpPr/>
          <p:nvPr/>
        </p:nvSpPr>
        <p:spPr>
          <a:xfrm>
            <a:off x="9275730" y="2498307"/>
            <a:ext cx="182880" cy="182880"/>
          </a:xfrm>
          <a:prstGeom prst="ellipse">
            <a:avLst/>
          </a:prstGeom>
          <a:solidFill>
            <a:schemeClr val="bg1"/>
          </a:solidFill>
          <a:ln w="25400">
            <a:solidFill>
              <a:schemeClr val="accent1"/>
            </a:solidFill>
            <a:prstDash val="solid"/>
          </a:ln>
        </p:spPr>
      </p:sp>
      <p:sp>
        <p:nvSpPr>
          <p:cNvPr id="46" name="Text 44"/>
          <p:cNvSpPr txBox="1"/>
          <p:nvPr/>
        </p:nvSpPr>
        <p:spPr>
          <a:xfrm>
            <a:off x="9138570" y="2717763"/>
            <a:ext cx="914400" cy="228600"/>
          </a:xfrm>
          <a:prstGeom prst="rect">
            <a:avLst/>
          </a:prstGeom>
          <a:noFill/>
          <a:ln/>
        </p:spPr>
        <p:txBody>
          <a:bodyPr wrap="square" lIns="0" tIns="0" rIns="0" bIns="0" rtlCol="0" anchor="t"/>
          <a:lstStyle/>
          <a:p>
            <a:pPr indent="0" marL="0">
              <a:buNone/>
            </a:pPr>
            <a:r>
              <a:rPr lang="en-US" sz="1100" b="1" dirty="0">
                <a:solidFill>
                  <a:schemeClr val="bg1"/>
                </a:solidFill>
              </a:rPr>
              <a:t>KSCY</a:t>
            </a:r>
            <a:endParaRPr lang="en-US" sz="1100" dirty="0"/>
          </a:p>
        </p:txBody>
      </p:sp>
      <p:sp>
        <p:nvSpPr>
          <p:cNvPr id="47" name="Shape 45"/>
          <p:cNvSpPr/>
          <p:nvPr/>
        </p:nvSpPr>
        <p:spPr>
          <a:xfrm>
            <a:off x="7256929" y="3340418"/>
            <a:ext cx="182880" cy="182880"/>
          </a:xfrm>
          <a:prstGeom prst="ellipse">
            <a:avLst/>
          </a:prstGeom>
          <a:solidFill>
            <a:schemeClr val="bg1"/>
          </a:solidFill>
          <a:ln w="25400">
            <a:solidFill>
              <a:schemeClr val="accent1"/>
            </a:solidFill>
            <a:prstDash val="solid"/>
          </a:ln>
        </p:spPr>
      </p:sp>
      <p:sp>
        <p:nvSpPr>
          <p:cNvPr id="48" name="Text 46"/>
          <p:cNvSpPr txBox="1"/>
          <p:nvPr/>
        </p:nvSpPr>
        <p:spPr>
          <a:xfrm>
            <a:off x="7476385" y="3450146"/>
            <a:ext cx="914400" cy="228600"/>
          </a:xfrm>
          <a:prstGeom prst="rect">
            <a:avLst/>
          </a:prstGeom>
          <a:noFill/>
          <a:ln/>
        </p:spPr>
        <p:txBody>
          <a:bodyPr wrap="square" lIns="0" tIns="0" rIns="0" bIns="0" rtlCol="0" anchor="t"/>
          <a:lstStyle/>
          <a:p>
            <a:pPr indent="0" marL="0">
              <a:buNone/>
            </a:pPr>
            <a:r>
              <a:rPr lang="en-US" sz="1100" b="1" dirty="0">
                <a:solidFill>
                  <a:schemeClr val="bg1"/>
                </a:solidFill>
              </a:rPr>
              <a:t>LOSA</a:t>
            </a:r>
            <a:endParaRPr lang="en-US" sz="1100" dirty="0"/>
          </a:p>
        </p:txBody>
      </p:sp>
      <p:sp>
        <p:nvSpPr>
          <p:cNvPr id="49" name="Shape 47"/>
          <p:cNvSpPr/>
          <p:nvPr/>
        </p:nvSpPr>
        <p:spPr>
          <a:xfrm>
            <a:off x="11385592" y="2185993"/>
            <a:ext cx="182880" cy="182880"/>
          </a:xfrm>
          <a:prstGeom prst="ellipse">
            <a:avLst/>
          </a:prstGeom>
          <a:solidFill>
            <a:schemeClr val="bg1"/>
          </a:solidFill>
          <a:ln w="25400">
            <a:solidFill>
              <a:schemeClr val="accent1"/>
            </a:solidFill>
            <a:prstDash val="solid"/>
          </a:ln>
        </p:spPr>
      </p:sp>
      <p:sp>
        <p:nvSpPr>
          <p:cNvPr id="50" name="Text 48"/>
          <p:cNvSpPr txBox="1"/>
          <p:nvPr/>
        </p:nvSpPr>
        <p:spPr>
          <a:xfrm>
            <a:off x="11202712" y="1929961"/>
            <a:ext cx="914400" cy="228600"/>
          </a:xfrm>
          <a:prstGeom prst="rect">
            <a:avLst/>
          </a:prstGeom>
          <a:noFill/>
          <a:ln/>
        </p:spPr>
        <p:txBody>
          <a:bodyPr wrap="square" lIns="0" tIns="0" rIns="0" bIns="0" rtlCol="0" anchor="t"/>
          <a:lstStyle/>
          <a:p>
            <a:pPr indent="0" marL="0">
              <a:buNone/>
            </a:pPr>
            <a:r>
              <a:rPr lang="en-US" sz="1100" b="1" dirty="0">
                <a:solidFill>
                  <a:schemeClr val="bg1"/>
                </a:solidFill>
              </a:rPr>
              <a:t>NYCM</a:t>
            </a:r>
            <a:endParaRPr lang="en-US" sz="1100" dirty="0"/>
          </a:p>
        </p:txBody>
      </p:sp>
      <p:sp>
        <p:nvSpPr>
          <p:cNvPr id="51" name="Shape 49"/>
          <p:cNvSpPr/>
          <p:nvPr/>
        </p:nvSpPr>
        <p:spPr>
          <a:xfrm>
            <a:off x="6904928" y="2768495"/>
            <a:ext cx="182880" cy="182880"/>
          </a:xfrm>
          <a:prstGeom prst="ellipse">
            <a:avLst/>
          </a:prstGeom>
          <a:solidFill>
            <a:schemeClr val="bg1"/>
          </a:solidFill>
          <a:ln w="25400">
            <a:solidFill>
              <a:schemeClr val="accent1"/>
            </a:solidFill>
            <a:prstDash val="solid"/>
          </a:ln>
        </p:spPr>
      </p:sp>
      <p:sp>
        <p:nvSpPr>
          <p:cNvPr id="52" name="Text 50"/>
          <p:cNvSpPr txBox="1"/>
          <p:nvPr/>
        </p:nvSpPr>
        <p:spPr>
          <a:xfrm>
            <a:off x="7124384" y="2814215"/>
            <a:ext cx="914400" cy="228600"/>
          </a:xfrm>
          <a:prstGeom prst="rect">
            <a:avLst/>
          </a:prstGeom>
          <a:noFill/>
          <a:ln/>
        </p:spPr>
        <p:txBody>
          <a:bodyPr wrap="square" lIns="0" tIns="0" rIns="0" bIns="0" rtlCol="0" anchor="t"/>
          <a:lstStyle/>
          <a:p>
            <a:pPr indent="0" marL="0">
              <a:buNone/>
            </a:pPr>
            <a:r>
              <a:rPr lang="en-US" sz="1100" b="1" dirty="0">
                <a:solidFill>
                  <a:schemeClr val="bg1"/>
                </a:solidFill>
              </a:rPr>
              <a:t>SNVA</a:t>
            </a:r>
            <a:endParaRPr lang="en-US" sz="1100" dirty="0"/>
          </a:p>
        </p:txBody>
      </p:sp>
      <p:sp>
        <p:nvSpPr>
          <p:cNvPr id="53" name="Shape 51"/>
          <p:cNvSpPr/>
          <p:nvPr/>
        </p:nvSpPr>
        <p:spPr>
          <a:xfrm>
            <a:off x="6879336" y="1017270"/>
            <a:ext cx="182880" cy="182880"/>
          </a:xfrm>
          <a:prstGeom prst="ellipse">
            <a:avLst/>
          </a:prstGeom>
          <a:solidFill>
            <a:schemeClr val="bg1"/>
          </a:solidFill>
          <a:ln w="25400">
            <a:solidFill>
              <a:schemeClr val="accent1"/>
            </a:solidFill>
            <a:prstDash val="solid"/>
          </a:ln>
        </p:spPr>
      </p:sp>
      <p:sp>
        <p:nvSpPr>
          <p:cNvPr id="54" name="Text 52"/>
          <p:cNvSpPr txBox="1"/>
          <p:nvPr/>
        </p:nvSpPr>
        <p:spPr>
          <a:xfrm>
            <a:off x="7080504" y="998982"/>
            <a:ext cx="914400" cy="228600"/>
          </a:xfrm>
          <a:prstGeom prst="rect">
            <a:avLst/>
          </a:prstGeom>
          <a:noFill/>
          <a:ln/>
        </p:spPr>
        <p:txBody>
          <a:bodyPr wrap="square" lIns="0" tIns="0" rIns="0" bIns="0" rtlCol="0" anchor="t"/>
          <a:lstStyle/>
          <a:p>
            <a:pPr indent="0" marL="0">
              <a:buNone/>
            </a:pPr>
            <a:r>
              <a:rPr lang="en-US" sz="1100" b="1" dirty="0">
                <a:solidFill>
                  <a:schemeClr val="bg1"/>
                </a:solidFill>
              </a:rPr>
              <a:t>STTL</a:t>
            </a:r>
            <a:endParaRPr lang="en-US" sz="1100" dirty="0"/>
          </a:p>
        </p:txBody>
      </p:sp>
      <p:sp>
        <p:nvSpPr>
          <p:cNvPr id="55" name="Shape 53"/>
          <p:cNvSpPr/>
          <p:nvPr/>
        </p:nvSpPr>
        <p:spPr>
          <a:xfrm>
            <a:off x="11100290" y="2509348"/>
            <a:ext cx="182880" cy="182880"/>
          </a:xfrm>
          <a:prstGeom prst="ellipse">
            <a:avLst/>
          </a:prstGeom>
          <a:solidFill>
            <a:schemeClr val="bg1"/>
          </a:solidFill>
          <a:ln w="25400">
            <a:solidFill>
              <a:schemeClr val="accent1"/>
            </a:solidFill>
            <a:prstDash val="solid"/>
          </a:ln>
        </p:spPr>
      </p:sp>
      <p:sp>
        <p:nvSpPr>
          <p:cNvPr id="56" name="Text 54"/>
          <p:cNvSpPr txBox="1"/>
          <p:nvPr/>
        </p:nvSpPr>
        <p:spPr>
          <a:xfrm>
            <a:off x="10780250" y="2728804"/>
            <a:ext cx="914400" cy="228600"/>
          </a:xfrm>
          <a:prstGeom prst="rect">
            <a:avLst/>
          </a:prstGeom>
          <a:noFill/>
          <a:ln/>
        </p:spPr>
        <p:txBody>
          <a:bodyPr wrap="square" lIns="0" tIns="0" rIns="0" bIns="0" rtlCol="0" anchor="t"/>
          <a:lstStyle/>
          <a:p>
            <a:pPr indent="0" marL="0">
              <a:buNone/>
            </a:pPr>
            <a:r>
              <a:rPr lang="en-US" sz="1100" b="1" dirty="0">
                <a:solidFill>
                  <a:schemeClr val="bg1"/>
                </a:solidFill>
              </a:rPr>
              <a:t>WASH</a:t>
            </a:r>
            <a:endParaRPr lang="en-US" sz="1100" dirty="0"/>
          </a:p>
        </p:txBody>
      </p:sp>
      <p:sp>
        <p:nvSpPr>
          <p:cNvPr id="57" name="Text 55"/>
          <p:cNvSpPr txBox="1"/>
          <p:nvPr/>
        </p:nvSpPr>
        <p:spPr>
          <a:xfrm>
            <a:off x="6720840" y="4572000"/>
            <a:ext cx="4800600" cy="594360"/>
          </a:xfrm>
          <a:prstGeom prst="rect">
            <a:avLst/>
          </a:prstGeom>
          <a:noFill/>
          <a:ln/>
        </p:spPr>
        <p:txBody>
          <a:bodyPr wrap="square" lIns="0" tIns="0" rIns="0" bIns="0" rtlCol="0" anchor="t"/>
          <a:lstStyle/>
          <a:p>
            <a:pPr indent="0" marL="0">
              <a:buNone/>
            </a:pPr>
            <a:r>
              <a:rPr lang="en-US" sz="1100" b="1" dirty="0">
                <a:solidFill>
                  <a:schemeClr val="bg1"/>
                </a:solidFill>
              </a:rPr>
              <a:t>Abilene (Internet2) backbone: </a:t>
            </a:r>
            <a:pPr indent="0" marL="0">
              <a:buNone/>
            </a:pPr>
            <a:r>
              <a:rPr lang="en-US" sz="1100" dirty="0">
                <a:solidFill>
                  <a:schemeClr val="accent5"/>
                </a:solidFill>
              </a:rPr>
              <a:t>12 routers → 144 origin–destination flows. Positions from the dataset’s topology file. </a:t>
            </a:r>
            <a:pPr indent="0" marL="0">
              <a:buNone/>
            </a:pPr>
            <a:r>
              <a:rPr lang="en-US" sz="1100" b="1" dirty="0">
                <a:solidFill>
                  <a:srgbClr val="F2B880"/>
                </a:solidFill>
              </a:rPr>
              <a:t>Highlighted: </a:t>
            </a:r>
            <a:pPr indent="0" marL="0">
              <a:buNone/>
            </a:pPr>
            <a:r>
              <a:rPr lang="en-US" sz="1100" dirty="0">
                <a:solidFill>
                  <a:schemeClr val="accent5"/>
                </a:solidFill>
              </a:rPr>
              <a:t>LOSA→CHIN path, source of most congestion events.</a:t>
            </a:r>
            <a:endParaRPr lang="en-US" sz="1100" dirty="0"/>
          </a:p>
        </p:txBody>
      </p:sp>
      <p:sp>
        <p:nvSpPr>
          <p:cNvPr id="58" name="Text 56"/>
          <p:cNvSpPr txBox="1"/>
          <p:nvPr/>
        </p:nvSpPr>
        <p:spPr>
          <a:xfrm>
            <a:off x="548640" y="5577840"/>
            <a:ext cx="2651760" cy="45720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144 + 529</a:t>
            </a:r>
            <a:endParaRPr lang="en-US" sz="2600" dirty="0"/>
          </a:p>
        </p:txBody>
      </p:sp>
      <p:sp>
        <p:nvSpPr>
          <p:cNvPr id="59" name="Text 57"/>
          <p:cNvSpPr txBox="1"/>
          <p:nvPr/>
        </p:nvSpPr>
        <p:spPr>
          <a:xfrm>
            <a:off x="548640" y="6053328"/>
            <a:ext cx="2651760" cy="274320"/>
          </a:xfrm>
          <a:prstGeom prst="rect">
            <a:avLst/>
          </a:prstGeom>
          <a:noFill/>
          <a:ln/>
        </p:spPr>
        <p:txBody>
          <a:bodyPr wrap="square" lIns="0" tIns="0" rIns="0" bIns="0" rtlCol="0" anchor="t"/>
          <a:lstStyle/>
          <a:p>
            <a:pPr indent="0" marL="0">
              <a:buNone/>
            </a:pPr>
            <a:r>
              <a:rPr lang="en-US" sz="1200" dirty="0">
                <a:solidFill>
                  <a:schemeClr val="accent5"/>
                </a:solidFill>
              </a:rPr>
              <a:t>OD flows forecast (Abilene, GÉANT)</a:t>
            </a:r>
            <a:endParaRPr lang="en-US" sz="1200" dirty="0"/>
          </a:p>
        </p:txBody>
      </p:sp>
      <p:sp>
        <p:nvSpPr>
          <p:cNvPr id="60" name="Text 58"/>
          <p:cNvSpPr txBox="1"/>
          <p:nvPr/>
        </p:nvSpPr>
        <p:spPr>
          <a:xfrm>
            <a:off x="3346704" y="5577840"/>
            <a:ext cx="2651760" cy="45720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2</a:t>
            </a:r>
            <a:endParaRPr lang="en-US" sz="2600" dirty="0"/>
          </a:p>
        </p:txBody>
      </p:sp>
      <p:sp>
        <p:nvSpPr>
          <p:cNvPr id="61" name="Text 59"/>
          <p:cNvSpPr txBox="1"/>
          <p:nvPr/>
        </p:nvSpPr>
        <p:spPr>
          <a:xfrm>
            <a:off x="3346704" y="6053328"/>
            <a:ext cx="2651760" cy="274320"/>
          </a:xfrm>
          <a:prstGeom prst="rect">
            <a:avLst/>
          </a:prstGeom>
          <a:noFill/>
          <a:ln/>
        </p:spPr>
        <p:txBody>
          <a:bodyPr wrap="square" lIns="0" tIns="0" rIns="0" bIns="0" rtlCol="0" anchor="t"/>
          <a:lstStyle/>
          <a:p>
            <a:pPr indent="0" marL="0">
              <a:buNone/>
            </a:pPr>
            <a:r>
              <a:rPr lang="en-US" sz="1200" dirty="0">
                <a:solidFill>
                  <a:schemeClr val="accent5"/>
                </a:solidFill>
              </a:rPr>
              <a:t>real backbone networks</a:t>
            </a:r>
            <a:endParaRPr lang="en-US" sz="1200" dirty="0"/>
          </a:p>
        </p:txBody>
      </p:sp>
      <p:sp>
        <p:nvSpPr>
          <p:cNvPr id="62" name="Text 60"/>
          <p:cNvSpPr txBox="1"/>
          <p:nvPr/>
        </p:nvSpPr>
        <p:spPr>
          <a:xfrm>
            <a:off x="6144768" y="5577840"/>
            <a:ext cx="2651760" cy="45720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5–60 min</a:t>
            </a:r>
            <a:endParaRPr lang="en-US" sz="2600" dirty="0"/>
          </a:p>
        </p:txBody>
      </p:sp>
      <p:sp>
        <p:nvSpPr>
          <p:cNvPr id="63" name="Text 61"/>
          <p:cNvSpPr txBox="1"/>
          <p:nvPr/>
        </p:nvSpPr>
        <p:spPr>
          <a:xfrm>
            <a:off x="6144768" y="6053328"/>
            <a:ext cx="2651760" cy="274320"/>
          </a:xfrm>
          <a:prstGeom prst="rect">
            <a:avLst/>
          </a:prstGeom>
          <a:noFill/>
          <a:ln/>
        </p:spPr>
        <p:txBody>
          <a:bodyPr wrap="square" lIns="0" tIns="0" rIns="0" bIns="0" rtlCol="0" anchor="t"/>
          <a:lstStyle/>
          <a:p>
            <a:pPr indent="0" marL="0">
              <a:buNone/>
            </a:pPr>
            <a:r>
              <a:rPr lang="en-US" sz="1200" dirty="0">
                <a:solidFill>
                  <a:schemeClr val="accent5"/>
                </a:solidFill>
              </a:rPr>
              <a:t>forecast horizons</a:t>
            </a:r>
            <a:endParaRPr lang="en-US" sz="1200" dirty="0"/>
          </a:p>
        </p:txBody>
      </p:sp>
      <p:sp>
        <p:nvSpPr>
          <p:cNvPr id="64" name="Text 62"/>
          <p:cNvSpPr txBox="1"/>
          <p:nvPr/>
        </p:nvSpPr>
        <p:spPr>
          <a:xfrm>
            <a:off x="8942832" y="5577840"/>
            <a:ext cx="2651760" cy="45720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73</a:t>
            </a:r>
            <a:endParaRPr lang="en-US" sz="2600" dirty="0"/>
          </a:p>
        </p:txBody>
      </p:sp>
      <p:sp>
        <p:nvSpPr>
          <p:cNvPr id="65" name="Text 63"/>
          <p:cNvSpPr txBox="1"/>
          <p:nvPr/>
        </p:nvSpPr>
        <p:spPr>
          <a:xfrm>
            <a:off x="8942832" y="6053328"/>
            <a:ext cx="2651760" cy="274320"/>
          </a:xfrm>
          <a:prstGeom prst="rect">
            <a:avLst/>
          </a:prstGeom>
          <a:noFill/>
          <a:ln/>
        </p:spPr>
        <p:txBody>
          <a:bodyPr wrap="square" lIns="0" tIns="0" rIns="0" bIns="0" rtlCol="0" anchor="t"/>
          <a:lstStyle/>
          <a:p>
            <a:pPr indent="0" marL="0">
              <a:buNone/>
            </a:pPr>
            <a:r>
              <a:rPr lang="en-US" sz="1200" dirty="0">
                <a:solidFill>
                  <a:schemeClr val="accent5"/>
                </a:solidFill>
              </a:rPr>
              <a:t>trained models saved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Problem, Motivation and Objectives</a:t>
            </a:r>
            <a:endParaRPr lang="en-US" sz="3200" dirty="0"/>
          </a:p>
        </p:txBody>
      </p:sp>
      <p:sp>
        <p:nvSpPr>
          <p:cNvPr id="3" name="Text 1"/>
          <p:cNvSpPr txBox="1"/>
          <p:nvPr/>
        </p:nvSpPr>
        <p:spPr>
          <a:xfrm>
            <a:off x="548640" y="1188720"/>
            <a:ext cx="53035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 PROBLEM</a:t>
            </a:r>
            <a:endParaRPr lang="en-US" sz="1200" dirty="0"/>
          </a:p>
        </p:txBody>
      </p:sp>
      <p:sp>
        <p:nvSpPr>
          <p:cNvPr id="4" name="Shape 2"/>
          <p:cNvSpPr/>
          <p:nvPr/>
        </p:nvSpPr>
        <p:spPr>
          <a:xfrm>
            <a:off x="548640" y="1591056"/>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548640" y="15910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097280" y="1572768"/>
            <a:ext cx="4846320" cy="292608"/>
          </a:xfrm>
          <a:prstGeom prst="rect">
            <a:avLst/>
          </a:prstGeom>
          <a:noFill/>
          <a:ln/>
        </p:spPr>
        <p:txBody>
          <a:bodyPr wrap="square" lIns="0" tIns="0" rIns="0" bIns="0" rtlCol="0" anchor="t"/>
          <a:lstStyle/>
          <a:p>
            <a:pPr indent="0" marL="0">
              <a:buNone/>
            </a:pPr>
            <a:r>
              <a:rPr lang="en-US" sz="1600" b="1" dirty="0">
                <a:solidFill>
                  <a:schemeClr val="tx1"/>
                </a:solidFill>
              </a:rPr>
              <a:t>Congestion is handled reactively</a:t>
            </a:r>
            <a:endParaRPr lang="en-US" sz="1600" dirty="0"/>
          </a:p>
        </p:txBody>
      </p:sp>
      <p:sp>
        <p:nvSpPr>
          <p:cNvPr id="7" name="Text 5"/>
          <p:cNvSpPr txBox="1"/>
          <p:nvPr/>
        </p:nvSpPr>
        <p:spPr>
          <a:xfrm>
            <a:off x="1097280" y="1883664"/>
            <a:ext cx="4846320" cy="640080"/>
          </a:xfrm>
          <a:prstGeom prst="rect">
            <a:avLst/>
          </a:prstGeom>
          <a:noFill/>
          <a:ln/>
        </p:spPr>
        <p:txBody>
          <a:bodyPr wrap="square" lIns="0" tIns="0" rIns="0" bIns="0" rtlCol="0" anchor="t"/>
          <a:lstStyle/>
          <a:p>
            <a:pPr indent="0" marL="0">
              <a:buNone/>
            </a:pPr>
            <a:r>
              <a:rPr lang="en-US" sz="1400" dirty="0">
                <a:solidFill>
                  <a:schemeClr val="tx2"/>
                </a:solidFill>
              </a:rPr>
              <a:t>Operators reroute only after a link overloads — users already see delay and packet loss.</a:t>
            </a:r>
            <a:endParaRPr lang="en-US" sz="1400" dirty="0"/>
          </a:p>
        </p:txBody>
      </p:sp>
      <p:sp>
        <p:nvSpPr>
          <p:cNvPr id="8" name="Shape 6"/>
          <p:cNvSpPr/>
          <p:nvPr/>
        </p:nvSpPr>
        <p:spPr>
          <a:xfrm>
            <a:off x="548640" y="2615184"/>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548640" y="26151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1097280" y="2596896"/>
            <a:ext cx="4846320" cy="292608"/>
          </a:xfrm>
          <a:prstGeom prst="rect">
            <a:avLst/>
          </a:prstGeom>
          <a:noFill/>
          <a:ln/>
        </p:spPr>
        <p:txBody>
          <a:bodyPr wrap="square" lIns="0" tIns="0" rIns="0" bIns="0" rtlCol="0" anchor="t"/>
          <a:lstStyle/>
          <a:p>
            <a:pPr indent="0" marL="0">
              <a:buNone/>
            </a:pPr>
            <a:r>
              <a:rPr lang="en-US" sz="1600" b="1" dirty="0">
                <a:solidFill>
                  <a:schemeClr val="tx1"/>
                </a:solidFill>
              </a:rPr>
              <a:t>Traffic is volatile</a:t>
            </a:r>
            <a:endParaRPr lang="en-US" sz="1600" dirty="0"/>
          </a:p>
        </p:txBody>
      </p:sp>
      <p:sp>
        <p:nvSpPr>
          <p:cNvPr id="11" name="Text 9"/>
          <p:cNvSpPr txBox="1"/>
          <p:nvPr/>
        </p:nvSpPr>
        <p:spPr>
          <a:xfrm>
            <a:off x="1097280" y="2907792"/>
            <a:ext cx="4846320" cy="640080"/>
          </a:xfrm>
          <a:prstGeom prst="rect">
            <a:avLst/>
          </a:prstGeom>
          <a:noFill/>
          <a:ln/>
        </p:spPr>
        <p:txBody>
          <a:bodyPr wrap="square" lIns="0" tIns="0" rIns="0" bIns="0" rtlCol="0" anchor="t"/>
          <a:lstStyle/>
          <a:p>
            <a:pPr indent="0" marL="0">
              <a:buNone/>
            </a:pPr>
            <a:r>
              <a:rPr lang="en-US" sz="1400" dirty="0">
                <a:solidFill>
                  <a:schemeClr val="tx2"/>
                </a:solidFill>
              </a:rPr>
              <a:t>Abilene’s daily peak is about 1.5× its low; one flow bursts from ~100 to over 6,000 Mbit/s.</a:t>
            </a:r>
            <a:endParaRPr lang="en-US" sz="1400" dirty="0"/>
          </a:p>
        </p:txBody>
      </p:sp>
      <p:sp>
        <p:nvSpPr>
          <p:cNvPr id="12" name="Shape 10"/>
          <p:cNvSpPr/>
          <p:nvPr/>
        </p:nvSpPr>
        <p:spPr>
          <a:xfrm>
            <a:off x="548640" y="3639312"/>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548640" y="36393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 12"/>
          <p:cNvSpPr txBox="1"/>
          <p:nvPr/>
        </p:nvSpPr>
        <p:spPr>
          <a:xfrm>
            <a:off x="1097280" y="3621024"/>
            <a:ext cx="4846320" cy="292608"/>
          </a:xfrm>
          <a:prstGeom prst="rect">
            <a:avLst/>
          </a:prstGeom>
          <a:noFill/>
          <a:ln/>
        </p:spPr>
        <p:txBody>
          <a:bodyPr wrap="square" lIns="0" tIns="0" rIns="0" bIns="0" rtlCol="0" anchor="t"/>
          <a:lstStyle/>
          <a:p>
            <a:pPr indent="0" marL="0">
              <a:buNone/>
            </a:pPr>
            <a:r>
              <a:rPr lang="en-US" sz="1600" b="1" dirty="0">
                <a:solidFill>
                  <a:schemeClr val="tx1"/>
                </a:solidFill>
              </a:rPr>
              <a:t>Deep forecasters are often judged loosely</a:t>
            </a:r>
            <a:endParaRPr lang="en-US" sz="1600" dirty="0"/>
          </a:p>
        </p:txBody>
      </p:sp>
      <p:sp>
        <p:nvSpPr>
          <p:cNvPr id="15" name="Text 13"/>
          <p:cNvSpPr txBox="1"/>
          <p:nvPr/>
        </p:nvSpPr>
        <p:spPr>
          <a:xfrm>
            <a:off x="1097280" y="3931920"/>
            <a:ext cx="4846320" cy="640080"/>
          </a:xfrm>
          <a:prstGeom prst="rect">
            <a:avLst/>
          </a:prstGeom>
          <a:noFill/>
          <a:ln/>
        </p:spPr>
        <p:txBody>
          <a:bodyPr wrap="square" lIns="0" tIns="0" rIns="0" bIns="0" rtlCol="0" anchor="t"/>
          <a:lstStyle/>
          <a:p>
            <a:pPr indent="0" marL="0">
              <a:buNone/>
            </a:pPr>
            <a:r>
              <a:rPr lang="en-US" sz="1400" dirty="0">
                <a:solidFill>
                  <a:schemeClr val="tx2"/>
                </a:solidFill>
              </a:rPr>
              <a:t>Results are frequently reported on scaled data or against other complex models, not against the simple rule “next = now”.</a:t>
            </a:r>
            <a:endParaRPr lang="en-US" sz="1400" dirty="0"/>
          </a:p>
        </p:txBody>
      </p:sp>
      <p:sp>
        <p:nvSpPr>
          <p:cNvPr id="16" name="Shape 14"/>
          <p:cNvSpPr/>
          <p:nvPr/>
        </p:nvSpPr>
        <p:spPr>
          <a:xfrm>
            <a:off x="6355080" y="1188720"/>
            <a:ext cx="5285232" cy="3886200"/>
          </a:xfrm>
          <a:prstGeom prst="roundRect">
            <a:avLst>
              <a:gd name="adj" fmla="val 1882"/>
            </a:avLst>
          </a:prstGeom>
          <a:solidFill>
            <a:schemeClr val="bg2"/>
          </a:solidFill>
          <a:ln w="9525">
            <a:solidFill>
              <a:schemeClr val="bg2"/>
            </a:solidFill>
            <a:prstDash val="solid"/>
          </a:ln>
        </p:spPr>
      </p:sp>
      <p:sp>
        <p:nvSpPr>
          <p:cNvPr id="17" name="Text 15"/>
          <p:cNvSpPr txBox="1"/>
          <p:nvPr/>
        </p:nvSpPr>
        <p:spPr>
          <a:xfrm>
            <a:off x="6583680" y="132588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OBJECTIVES</a:t>
            </a:r>
            <a:endParaRPr lang="en-US" sz="1200" dirty="0"/>
          </a:p>
        </p:txBody>
      </p:sp>
      <p:sp>
        <p:nvSpPr>
          <p:cNvPr id="18" name="Text 16"/>
          <p:cNvSpPr txBox="1"/>
          <p:nvPr/>
        </p:nvSpPr>
        <p:spPr>
          <a:xfrm>
            <a:off x="6583680" y="1691640"/>
            <a:ext cx="3977640" cy="347472"/>
          </a:xfrm>
          <a:prstGeom prst="rect">
            <a:avLst/>
          </a:prstGeom>
          <a:noFill/>
          <a:ln/>
        </p:spPr>
        <p:txBody>
          <a:bodyPr wrap="square" lIns="0" tIns="0" rIns="0" bIns="0" rtlCol="0" anchor="ctr"/>
          <a:lstStyle/>
          <a:p>
            <a:pPr indent="0" marL="0">
              <a:buNone/>
            </a:pPr>
            <a:r>
              <a:rPr lang="en-US" sz="1400" dirty="0">
                <a:solidFill>
                  <a:schemeClr val="tx1"/>
                </a:solidFill>
              </a:rPr>
              <a:t>1.  Prepare real backbone data without leaking the future</a:t>
            </a:r>
            <a:endParaRPr lang="en-US" sz="1400" dirty="0"/>
          </a:p>
        </p:txBody>
      </p:sp>
      <p:sp>
        <p:nvSpPr>
          <p:cNvPr id="19" name="Shape 17"/>
          <p:cNvSpPr/>
          <p:nvPr/>
        </p:nvSpPr>
        <p:spPr>
          <a:xfrm>
            <a:off x="10652760" y="1728216"/>
            <a:ext cx="822960" cy="274320"/>
          </a:xfrm>
          <a:prstGeom prst="roundRect">
            <a:avLst>
              <a:gd name="adj" fmla="val 50000"/>
            </a:avLst>
          </a:prstGeom>
          <a:solidFill>
            <a:schemeClr val="accent3"/>
          </a:solidFill>
          <a:ln w="9525">
            <a:solidFill>
              <a:schemeClr val="accent3"/>
            </a:solidFill>
            <a:prstDash val="solid"/>
          </a:ln>
        </p:spPr>
      </p:sp>
      <p:sp>
        <p:nvSpPr>
          <p:cNvPr id="20" name="Text 18"/>
          <p:cNvSpPr txBox="1"/>
          <p:nvPr/>
        </p:nvSpPr>
        <p:spPr>
          <a:xfrm>
            <a:off x="10652760" y="1728216"/>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21" name="Text 19"/>
          <p:cNvSpPr txBox="1"/>
          <p:nvPr/>
        </p:nvSpPr>
        <p:spPr>
          <a:xfrm>
            <a:off x="6583680" y="2103120"/>
            <a:ext cx="3977640" cy="347472"/>
          </a:xfrm>
          <a:prstGeom prst="rect">
            <a:avLst/>
          </a:prstGeom>
          <a:noFill/>
          <a:ln/>
        </p:spPr>
        <p:txBody>
          <a:bodyPr wrap="square" lIns="0" tIns="0" rIns="0" bIns="0" rtlCol="0" anchor="ctr"/>
          <a:lstStyle/>
          <a:p>
            <a:pPr indent="0" marL="0">
              <a:buNone/>
            </a:pPr>
            <a:r>
              <a:rPr lang="en-US" sz="1400" dirty="0">
                <a:solidFill>
                  <a:schemeClr val="tx1"/>
                </a:solidFill>
              </a:rPr>
              <a:t>2.  Measure strong baselines: persistence and ARIMA</a:t>
            </a:r>
            <a:endParaRPr lang="en-US" sz="1400" dirty="0"/>
          </a:p>
        </p:txBody>
      </p:sp>
      <p:sp>
        <p:nvSpPr>
          <p:cNvPr id="22" name="Shape 20"/>
          <p:cNvSpPr/>
          <p:nvPr/>
        </p:nvSpPr>
        <p:spPr>
          <a:xfrm>
            <a:off x="10652760" y="2139696"/>
            <a:ext cx="822960" cy="274320"/>
          </a:xfrm>
          <a:prstGeom prst="roundRect">
            <a:avLst>
              <a:gd name="adj" fmla="val 50000"/>
            </a:avLst>
          </a:prstGeom>
          <a:solidFill>
            <a:schemeClr val="accent3"/>
          </a:solidFill>
          <a:ln w="9525">
            <a:solidFill>
              <a:schemeClr val="accent3"/>
            </a:solidFill>
            <a:prstDash val="solid"/>
          </a:ln>
        </p:spPr>
      </p:sp>
      <p:sp>
        <p:nvSpPr>
          <p:cNvPr id="23" name="Text 21"/>
          <p:cNvSpPr txBox="1"/>
          <p:nvPr/>
        </p:nvSpPr>
        <p:spPr>
          <a:xfrm>
            <a:off x="10652760" y="2139696"/>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24" name="Text 22"/>
          <p:cNvSpPr txBox="1"/>
          <p:nvPr/>
        </p:nvSpPr>
        <p:spPr>
          <a:xfrm>
            <a:off x="6583680" y="2514600"/>
            <a:ext cx="3977640" cy="347472"/>
          </a:xfrm>
          <a:prstGeom prst="rect">
            <a:avLst/>
          </a:prstGeom>
          <a:noFill/>
          <a:ln/>
        </p:spPr>
        <p:txBody>
          <a:bodyPr wrap="square" lIns="0" tIns="0" rIns="0" bIns="0" rtlCol="0" anchor="ctr"/>
          <a:lstStyle/>
          <a:p>
            <a:pPr indent="0" marL="0">
              <a:buNone/>
            </a:pPr>
            <a:r>
              <a:rPr lang="en-US" sz="1400" dirty="0">
                <a:solidFill>
                  <a:schemeClr val="tx1"/>
                </a:solidFill>
              </a:rPr>
              <a:t>3.  Build and tune LSTM, CNN and CNN-LSTM models</a:t>
            </a:r>
            <a:endParaRPr lang="en-US" sz="1400" dirty="0"/>
          </a:p>
        </p:txBody>
      </p:sp>
      <p:sp>
        <p:nvSpPr>
          <p:cNvPr id="25" name="Shape 23"/>
          <p:cNvSpPr/>
          <p:nvPr/>
        </p:nvSpPr>
        <p:spPr>
          <a:xfrm>
            <a:off x="10652760" y="2551176"/>
            <a:ext cx="822960" cy="274320"/>
          </a:xfrm>
          <a:prstGeom prst="roundRect">
            <a:avLst>
              <a:gd name="adj" fmla="val 50000"/>
            </a:avLst>
          </a:prstGeom>
          <a:solidFill>
            <a:schemeClr val="accent3"/>
          </a:solidFill>
          <a:ln w="9525">
            <a:solidFill>
              <a:schemeClr val="accent3"/>
            </a:solidFill>
            <a:prstDash val="solid"/>
          </a:ln>
        </p:spPr>
      </p:sp>
      <p:sp>
        <p:nvSpPr>
          <p:cNvPr id="26" name="Text 24"/>
          <p:cNvSpPr txBox="1"/>
          <p:nvPr/>
        </p:nvSpPr>
        <p:spPr>
          <a:xfrm>
            <a:off x="10652760" y="2551176"/>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27" name="Text 25"/>
          <p:cNvSpPr txBox="1"/>
          <p:nvPr/>
        </p:nvSpPr>
        <p:spPr>
          <a:xfrm>
            <a:off x="6583680" y="2926080"/>
            <a:ext cx="3977640" cy="347472"/>
          </a:xfrm>
          <a:prstGeom prst="rect">
            <a:avLst/>
          </a:prstGeom>
          <a:noFill/>
          <a:ln/>
        </p:spPr>
        <p:txBody>
          <a:bodyPr wrap="square" lIns="0" tIns="0" rIns="0" bIns="0" rtlCol="0" anchor="ctr"/>
          <a:lstStyle/>
          <a:p>
            <a:pPr indent="0" marL="0">
              <a:buNone/>
            </a:pPr>
            <a:r>
              <a:rPr lang="en-US" sz="1400" dirty="0">
                <a:solidFill>
                  <a:schemeClr val="tx1"/>
                </a:solidFill>
              </a:rPr>
              <a:t>4.  Forecast 30 and 60 min ahead; ablation study</a:t>
            </a:r>
            <a:endParaRPr lang="en-US" sz="1400" dirty="0"/>
          </a:p>
        </p:txBody>
      </p:sp>
      <p:sp>
        <p:nvSpPr>
          <p:cNvPr id="28" name="Shape 26"/>
          <p:cNvSpPr/>
          <p:nvPr/>
        </p:nvSpPr>
        <p:spPr>
          <a:xfrm>
            <a:off x="10652760" y="2962656"/>
            <a:ext cx="822960" cy="274320"/>
          </a:xfrm>
          <a:prstGeom prst="roundRect">
            <a:avLst>
              <a:gd name="adj" fmla="val 50000"/>
            </a:avLst>
          </a:prstGeom>
          <a:solidFill>
            <a:schemeClr val="accent3"/>
          </a:solidFill>
          <a:ln w="9525">
            <a:solidFill>
              <a:schemeClr val="accent3"/>
            </a:solidFill>
            <a:prstDash val="solid"/>
          </a:ln>
        </p:spPr>
      </p:sp>
      <p:sp>
        <p:nvSpPr>
          <p:cNvPr id="29" name="Text 27"/>
          <p:cNvSpPr txBox="1"/>
          <p:nvPr/>
        </p:nvSpPr>
        <p:spPr>
          <a:xfrm>
            <a:off x="10652760" y="2962656"/>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30" name="Text 28"/>
          <p:cNvSpPr txBox="1"/>
          <p:nvPr/>
        </p:nvSpPr>
        <p:spPr>
          <a:xfrm>
            <a:off x="6583680" y="3337560"/>
            <a:ext cx="3977640" cy="347472"/>
          </a:xfrm>
          <a:prstGeom prst="rect">
            <a:avLst/>
          </a:prstGeom>
          <a:noFill/>
          <a:ln/>
        </p:spPr>
        <p:txBody>
          <a:bodyPr wrap="square" lIns="0" tIns="0" rIns="0" bIns="0" rtlCol="0" anchor="ctr"/>
          <a:lstStyle/>
          <a:p>
            <a:pPr indent="0" marL="0">
              <a:buNone/>
            </a:pPr>
            <a:r>
              <a:rPr lang="en-US" sz="1400" dirty="0">
                <a:solidFill>
                  <a:schemeClr val="tx1"/>
                </a:solidFill>
              </a:rPr>
              <a:t>5.  Turn flow forecasts into link loads and warnings</a:t>
            </a:r>
            <a:endParaRPr lang="en-US" sz="1400" dirty="0"/>
          </a:p>
        </p:txBody>
      </p:sp>
      <p:sp>
        <p:nvSpPr>
          <p:cNvPr id="31" name="Shape 29"/>
          <p:cNvSpPr/>
          <p:nvPr/>
        </p:nvSpPr>
        <p:spPr>
          <a:xfrm>
            <a:off x="10652760" y="3374136"/>
            <a:ext cx="822960" cy="274320"/>
          </a:xfrm>
          <a:prstGeom prst="roundRect">
            <a:avLst>
              <a:gd name="adj" fmla="val 50000"/>
            </a:avLst>
          </a:prstGeom>
          <a:solidFill>
            <a:schemeClr val="accent3"/>
          </a:solidFill>
          <a:ln w="9525">
            <a:solidFill>
              <a:schemeClr val="accent3"/>
            </a:solidFill>
            <a:prstDash val="solid"/>
          </a:ln>
        </p:spPr>
      </p:sp>
      <p:sp>
        <p:nvSpPr>
          <p:cNvPr id="32" name="Text 30"/>
          <p:cNvSpPr txBox="1"/>
          <p:nvPr/>
        </p:nvSpPr>
        <p:spPr>
          <a:xfrm>
            <a:off x="10652760" y="3374136"/>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33" name="Text 31"/>
          <p:cNvSpPr txBox="1"/>
          <p:nvPr/>
        </p:nvSpPr>
        <p:spPr>
          <a:xfrm>
            <a:off x="6583680" y="3749040"/>
            <a:ext cx="3977640" cy="347472"/>
          </a:xfrm>
          <a:prstGeom prst="rect">
            <a:avLst/>
          </a:prstGeom>
          <a:noFill/>
          <a:ln/>
        </p:spPr>
        <p:txBody>
          <a:bodyPr wrap="square" lIns="0" tIns="0" rIns="0" bIns="0" rtlCol="0" anchor="ctr"/>
          <a:lstStyle/>
          <a:p>
            <a:pPr indent="0" marL="0">
              <a:buNone/>
            </a:pPr>
            <a:r>
              <a:rPr lang="en-US" sz="1400" dirty="0">
                <a:solidFill>
                  <a:schemeClr val="tx1"/>
                </a:solidFill>
              </a:rPr>
              <a:t>6.  Verify on a second network (GÉANT)</a:t>
            </a:r>
            <a:endParaRPr lang="en-US" sz="1400" dirty="0"/>
          </a:p>
        </p:txBody>
      </p:sp>
      <p:sp>
        <p:nvSpPr>
          <p:cNvPr id="34" name="Shape 32"/>
          <p:cNvSpPr/>
          <p:nvPr/>
        </p:nvSpPr>
        <p:spPr>
          <a:xfrm>
            <a:off x="10652760" y="3785616"/>
            <a:ext cx="822960" cy="274320"/>
          </a:xfrm>
          <a:prstGeom prst="roundRect">
            <a:avLst>
              <a:gd name="adj" fmla="val 50000"/>
            </a:avLst>
          </a:prstGeom>
          <a:solidFill>
            <a:schemeClr val="accent3"/>
          </a:solidFill>
          <a:ln w="9525">
            <a:solidFill>
              <a:schemeClr val="accent3"/>
            </a:solidFill>
            <a:prstDash val="solid"/>
          </a:ln>
        </p:spPr>
      </p:sp>
      <p:sp>
        <p:nvSpPr>
          <p:cNvPr id="35" name="Text 33"/>
          <p:cNvSpPr txBox="1"/>
          <p:nvPr/>
        </p:nvSpPr>
        <p:spPr>
          <a:xfrm>
            <a:off x="10652760" y="3785616"/>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36" name="Text 34"/>
          <p:cNvSpPr txBox="1"/>
          <p:nvPr/>
        </p:nvSpPr>
        <p:spPr>
          <a:xfrm>
            <a:off x="6583680" y="4160520"/>
            <a:ext cx="3977640" cy="347472"/>
          </a:xfrm>
          <a:prstGeom prst="rect">
            <a:avLst/>
          </a:prstGeom>
          <a:noFill/>
          <a:ln/>
        </p:spPr>
        <p:txBody>
          <a:bodyPr wrap="square" lIns="0" tIns="0" rIns="0" bIns="0" rtlCol="0" anchor="ctr"/>
          <a:lstStyle/>
          <a:p>
            <a:pPr indent="0" marL="0">
              <a:buNone/>
            </a:pPr>
            <a:r>
              <a:rPr lang="en-US" sz="1400" dirty="0">
                <a:solidFill>
                  <a:schemeClr val="tx1"/>
                </a:solidFill>
              </a:rPr>
              <a:t>7.  Analyse where and why the model gains or loses</a:t>
            </a:r>
            <a:endParaRPr lang="en-US" sz="1400" dirty="0"/>
          </a:p>
        </p:txBody>
      </p:sp>
      <p:sp>
        <p:nvSpPr>
          <p:cNvPr id="37" name="Shape 35"/>
          <p:cNvSpPr/>
          <p:nvPr/>
        </p:nvSpPr>
        <p:spPr>
          <a:xfrm>
            <a:off x="10652760" y="4197096"/>
            <a:ext cx="822960" cy="274320"/>
          </a:xfrm>
          <a:prstGeom prst="roundRect">
            <a:avLst>
              <a:gd name="adj" fmla="val 50000"/>
            </a:avLst>
          </a:prstGeom>
          <a:solidFill>
            <a:schemeClr val="accent3"/>
          </a:solidFill>
          <a:ln w="9525">
            <a:solidFill>
              <a:schemeClr val="accent3"/>
            </a:solidFill>
            <a:prstDash val="solid"/>
          </a:ln>
        </p:spPr>
      </p:sp>
      <p:sp>
        <p:nvSpPr>
          <p:cNvPr id="38" name="Text 36"/>
          <p:cNvSpPr txBox="1"/>
          <p:nvPr/>
        </p:nvSpPr>
        <p:spPr>
          <a:xfrm>
            <a:off x="10652760" y="4197096"/>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39" name="Text 37"/>
          <p:cNvSpPr txBox="1"/>
          <p:nvPr/>
        </p:nvSpPr>
        <p:spPr>
          <a:xfrm>
            <a:off x="6583680" y="4572000"/>
            <a:ext cx="3977640" cy="347472"/>
          </a:xfrm>
          <a:prstGeom prst="rect">
            <a:avLst/>
          </a:prstGeom>
          <a:noFill/>
          <a:ln/>
        </p:spPr>
        <p:txBody>
          <a:bodyPr wrap="square" lIns="0" tIns="0" rIns="0" bIns="0" rtlCol="0" anchor="ctr"/>
          <a:lstStyle/>
          <a:p>
            <a:pPr indent="0" marL="0">
              <a:buNone/>
            </a:pPr>
            <a:r>
              <a:rPr lang="en-US" sz="1400" dirty="0">
                <a:solidFill>
                  <a:schemeClr val="tx1"/>
                </a:solidFill>
              </a:rPr>
              <a:t>8.  Final report</a:t>
            </a:r>
            <a:endParaRPr lang="en-US" sz="1400" dirty="0"/>
          </a:p>
        </p:txBody>
      </p:sp>
      <p:sp>
        <p:nvSpPr>
          <p:cNvPr id="40" name="Shape 38"/>
          <p:cNvSpPr/>
          <p:nvPr/>
        </p:nvSpPr>
        <p:spPr>
          <a:xfrm>
            <a:off x="10652760" y="4608576"/>
            <a:ext cx="822960" cy="274320"/>
          </a:xfrm>
          <a:prstGeom prst="roundRect">
            <a:avLst>
              <a:gd name="adj" fmla="val 50000"/>
            </a:avLst>
          </a:prstGeom>
          <a:solidFill>
            <a:schemeClr val="accent2"/>
          </a:solidFill>
          <a:ln w="9525">
            <a:solidFill>
              <a:schemeClr val="accent2"/>
            </a:solidFill>
            <a:prstDash val="solid"/>
          </a:ln>
        </p:spPr>
      </p:sp>
      <p:sp>
        <p:nvSpPr>
          <p:cNvPr id="41" name="Text 39"/>
          <p:cNvSpPr txBox="1"/>
          <p:nvPr/>
        </p:nvSpPr>
        <p:spPr>
          <a:xfrm>
            <a:off x="10652760" y="4608576"/>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Pending</a:t>
            </a:r>
            <a:endParaRPr lang="en-US" sz="1100" dirty="0"/>
          </a:p>
        </p:txBody>
      </p:sp>
      <p:sp>
        <p:nvSpPr>
          <p:cNvPr id="42" name="Text 40"/>
          <p:cNvSpPr txBox="1"/>
          <p:nvPr/>
        </p:nvSpPr>
        <p:spPr>
          <a:xfrm>
            <a:off x="548640" y="523036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WHY FORECAST? — THE PROACTIVE CHAIN THIS PROJECT BUILDS</a:t>
            </a:r>
            <a:endParaRPr lang="en-US" sz="1200" dirty="0"/>
          </a:p>
        </p:txBody>
      </p:sp>
      <p:sp>
        <p:nvSpPr>
          <p:cNvPr id="43" name="Shape 41"/>
          <p:cNvSpPr/>
          <p:nvPr/>
        </p:nvSpPr>
        <p:spPr>
          <a:xfrm>
            <a:off x="548640" y="5577840"/>
            <a:ext cx="1993392" cy="566928"/>
          </a:xfrm>
          <a:prstGeom prst="roundRect">
            <a:avLst>
              <a:gd name="adj" fmla="val 12903"/>
            </a:avLst>
          </a:prstGeom>
          <a:solidFill>
            <a:schemeClr val="accent5"/>
          </a:solidFill>
          <a:ln w="9525">
            <a:solidFill>
              <a:schemeClr val="accent5"/>
            </a:solidFill>
            <a:prstDash val="solid"/>
          </a:ln>
        </p:spPr>
      </p:sp>
      <p:sp>
        <p:nvSpPr>
          <p:cNvPr id="44" name="Text 42"/>
          <p:cNvSpPr txBox="1"/>
          <p:nvPr/>
        </p:nvSpPr>
        <p:spPr>
          <a:xfrm>
            <a:off x="594360" y="5577840"/>
            <a:ext cx="1901952" cy="566928"/>
          </a:xfrm>
          <a:prstGeom prst="rect">
            <a:avLst/>
          </a:prstGeom>
          <a:noFill/>
          <a:ln/>
        </p:spPr>
        <p:txBody>
          <a:bodyPr wrap="square" lIns="0" tIns="0" rIns="0" bIns="0" rtlCol="0" anchor="ctr"/>
          <a:lstStyle/>
          <a:p>
            <a:pPr algn="ctr" indent="0" marL="0">
              <a:buNone/>
            </a:pPr>
            <a:r>
              <a:rPr lang="en-US" sz="1400" b="1" dirty="0">
                <a:solidFill>
                  <a:schemeClr val="tx1"/>
                </a:solidFill>
              </a:rPr>
              <a:t>Historical flow traffic</a:t>
            </a:r>
            <a:endParaRPr lang="en-US" sz="1400" dirty="0"/>
          </a:p>
        </p:txBody>
      </p:sp>
      <p:sp>
        <p:nvSpPr>
          <p:cNvPr id="45" name="Shape 43"/>
          <p:cNvSpPr/>
          <p:nvPr/>
        </p:nvSpPr>
        <p:spPr>
          <a:xfrm>
            <a:off x="2569464" y="5861304"/>
            <a:ext cx="228600" cy="0"/>
          </a:xfrm>
          <a:prstGeom prst="line">
            <a:avLst/>
          </a:prstGeom>
          <a:noFill/>
          <a:ln w="22225">
            <a:solidFill>
              <a:schemeClr val="accent1"/>
            </a:solidFill>
            <a:prstDash val="solid"/>
            <a:tailEnd type="triangle"/>
          </a:ln>
        </p:spPr>
      </p:sp>
      <p:sp>
        <p:nvSpPr>
          <p:cNvPr id="46" name="Shape 44"/>
          <p:cNvSpPr/>
          <p:nvPr/>
        </p:nvSpPr>
        <p:spPr>
          <a:xfrm>
            <a:off x="2825496" y="5577840"/>
            <a:ext cx="1993392" cy="566928"/>
          </a:xfrm>
          <a:prstGeom prst="roundRect">
            <a:avLst>
              <a:gd name="adj" fmla="val 12903"/>
            </a:avLst>
          </a:prstGeom>
          <a:solidFill>
            <a:schemeClr val="accent5"/>
          </a:solidFill>
          <a:ln w="9525">
            <a:solidFill>
              <a:schemeClr val="accent5"/>
            </a:solidFill>
            <a:prstDash val="solid"/>
          </a:ln>
        </p:spPr>
      </p:sp>
      <p:sp>
        <p:nvSpPr>
          <p:cNvPr id="47" name="Text 45"/>
          <p:cNvSpPr txBox="1"/>
          <p:nvPr/>
        </p:nvSpPr>
        <p:spPr>
          <a:xfrm>
            <a:off x="2871216" y="5577840"/>
            <a:ext cx="1901952" cy="566928"/>
          </a:xfrm>
          <a:prstGeom prst="rect">
            <a:avLst/>
          </a:prstGeom>
          <a:noFill/>
          <a:ln/>
        </p:spPr>
        <p:txBody>
          <a:bodyPr wrap="square" lIns="0" tIns="0" rIns="0" bIns="0" rtlCol="0" anchor="ctr"/>
          <a:lstStyle/>
          <a:p>
            <a:pPr algn="ctr" indent="0" marL="0">
              <a:buNone/>
            </a:pPr>
            <a:r>
              <a:rPr lang="en-US" sz="1400" b="1" dirty="0">
                <a:solidFill>
                  <a:schemeClr val="tx1"/>
                </a:solidFill>
              </a:rPr>
              <a:t>CNN-LSTM flow forecast</a:t>
            </a:r>
            <a:endParaRPr lang="en-US" sz="1400" dirty="0"/>
          </a:p>
        </p:txBody>
      </p:sp>
      <p:sp>
        <p:nvSpPr>
          <p:cNvPr id="48" name="Shape 46"/>
          <p:cNvSpPr/>
          <p:nvPr/>
        </p:nvSpPr>
        <p:spPr>
          <a:xfrm>
            <a:off x="4846320" y="5861304"/>
            <a:ext cx="228600" cy="0"/>
          </a:xfrm>
          <a:prstGeom prst="line">
            <a:avLst/>
          </a:prstGeom>
          <a:noFill/>
          <a:ln w="22225">
            <a:solidFill>
              <a:schemeClr val="accent1"/>
            </a:solidFill>
            <a:prstDash val="solid"/>
            <a:tailEnd type="triangle"/>
          </a:ln>
        </p:spPr>
      </p:sp>
      <p:sp>
        <p:nvSpPr>
          <p:cNvPr id="49" name="Shape 47"/>
          <p:cNvSpPr/>
          <p:nvPr/>
        </p:nvSpPr>
        <p:spPr>
          <a:xfrm>
            <a:off x="5102352" y="5577840"/>
            <a:ext cx="1993392" cy="566928"/>
          </a:xfrm>
          <a:prstGeom prst="roundRect">
            <a:avLst>
              <a:gd name="adj" fmla="val 12903"/>
            </a:avLst>
          </a:prstGeom>
          <a:solidFill>
            <a:schemeClr val="accent5"/>
          </a:solidFill>
          <a:ln w="9525">
            <a:solidFill>
              <a:schemeClr val="accent5"/>
            </a:solidFill>
            <a:prstDash val="solid"/>
          </a:ln>
        </p:spPr>
      </p:sp>
      <p:sp>
        <p:nvSpPr>
          <p:cNvPr id="50" name="Text 48"/>
          <p:cNvSpPr txBox="1"/>
          <p:nvPr/>
        </p:nvSpPr>
        <p:spPr>
          <a:xfrm>
            <a:off x="5148072" y="5577840"/>
            <a:ext cx="1901952" cy="566928"/>
          </a:xfrm>
          <a:prstGeom prst="rect">
            <a:avLst/>
          </a:prstGeom>
          <a:noFill/>
          <a:ln/>
        </p:spPr>
        <p:txBody>
          <a:bodyPr wrap="square" lIns="0" tIns="0" rIns="0" bIns="0" rtlCol="0" anchor="ctr"/>
          <a:lstStyle/>
          <a:p>
            <a:pPr algn="ctr" indent="0" marL="0">
              <a:buNone/>
            </a:pPr>
            <a:r>
              <a:rPr lang="en-US" sz="1400" b="1" dirty="0">
                <a:solidFill>
                  <a:schemeClr val="tx1"/>
                </a:solidFill>
              </a:rPr>
              <a:t>Future link load</a:t>
            </a:r>
            <a:endParaRPr lang="en-US" sz="1400" dirty="0"/>
          </a:p>
        </p:txBody>
      </p:sp>
      <p:sp>
        <p:nvSpPr>
          <p:cNvPr id="51" name="Shape 49"/>
          <p:cNvSpPr/>
          <p:nvPr/>
        </p:nvSpPr>
        <p:spPr>
          <a:xfrm>
            <a:off x="7123176" y="5861304"/>
            <a:ext cx="228600" cy="0"/>
          </a:xfrm>
          <a:prstGeom prst="line">
            <a:avLst/>
          </a:prstGeom>
          <a:noFill/>
          <a:ln w="22225">
            <a:solidFill>
              <a:schemeClr val="accent1"/>
            </a:solidFill>
            <a:prstDash val="solid"/>
            <a:tailEnd type="triangle"/>
          </a:ln>
        </p:spPr>
      </p:sp>
      <p:sp>
        <p:nvSpPr>
          <p:cNvPr id="52" name="Shape 50"/>
          <p:cNvSpPr/>
          <p:nvPr/>
        </p:nvSpPr>
        <p:spPr>
          <a:xfrm>
            <a:off x="7379208" y="5577840"/>
            <a:ext cx="1993392" cy="566928"/>
          </a:xfrm>
          <a:prstGeom prst="roundRect">
            <a:avLst>
              <a:gd name="adj" fmla="val 12903"/>
            </a:avLst>
          </a:prstGeom>
          <a:solidFill>
            <a:schemeClr val="accent5"/>
          </a:solidFill>
          <a:ln w="9525">
            <a:solidFill>
              <a:schemeClr val="accent5"/>
            </a:solidFill>
            <a:prstDash val="solid"/>
          </a:ln>
        </p:spPr>
      </p:sp>
      <p:sp>
        <p:nvSpPr>
          <p:cNvPr id="53" name="Text 51"/>
          <p:cNvSpPr txBox="1"/>
          <p:nvPr/>
        </p:nvSpPr>
        <p:spPr>
          <a:xfrm>
            <a:off x="7424928" y="5577840"/>
            <a:ext cx="1901952" cy="566928"/>
          </a:xfrm>
          <a:prstGeom prst="rect">
            <a:avLst/>
          </a:prstGeom>
          <a:noFill/>
          <a:ln/>
        </p:spPr>
        <p:txBody>
          <a:bodyPr wrap="square" lIns="0" tIns="0" rIns="0" bIns="0" rtlCol="0" anchor="ctr"/>
          <a:lstStyle/>
          <a:p>
            <a:pPr algn="ctr" indent="0" marL="0">
              <a:buNone/>
            </a:pPr>
            <a:r>
              <a:rPr lang="en-US" sz="1400" b="1" dirty="0">
                <a:solidFill>
                  <a:schemeClr val="tx1"/>
                </a:solidFill>
              </a:rPr>
              <a:t>Early congestion warning</a:t>
            </a:r>
            <a:endParaRPr lang="en-US" sz="1400" dirty="0"/>
          </a:p>
        </p:txBody>
      </p:sp>
      <p:sp>
        <p:nvSpPr>
          <p:cNvPr id="54" name="Shape 52"/>
          <p:cNvSpPr/>
          <p:nvPr/>
        </p:nvSpPr>
        <p:spPr>
          <a:xfrm>
            <a:off x="9400032" y="5861304"/>
            <a:ext cx="228600" cy="0"/>
          </a:xfrm>
          <a:prstGeom prst="line">
            <a:avLst/>
          </a:prstGeom>
          <a:noFill/>
          <a:ln w="22225">
            <a:solidFill>
              <a:schemeClr val="accent1"/>
            </a:solidFill>
            <a:prstDash val="solid"/>
            <a:tailEnd type="triangle"/>
          </a:ln>
        </p:spPr>
      </p:sp>
      <p:sp>
        <p:nvSpPr>
          <p:cNvPr id="55" name="Shape 53"/>
          <p:cNvSpPr/>
          <p:nvPr/>
        </p:nvSpPr>
        <p:spPr>
          <a:xfrm>
            <a:off x="9656064" y="5577840"/>
            <a:ext cx="1993392" cy="566928"/>
          </a:xfrm>
          <a:prstGeom prst="roundRect">
            <a:avLst>
              <a:gd name="adj" fmla="val 12903"/>
            </a:avLst>
          </a:prstGeom>
          <a:solidFill>
            <a:schemeClr val="bg1"/>
          </a:solidFill>
          <a:ln w="12700">
            <a:solidFill>
              <a:schemeClr val="tx2"/>
            </a:solidFill>
            <a:prstDash val="dash"/>
          </a:ln>
        </p:spPr>
      </p:sp>
      <p:sp>
        <p:nvSpPr>
          <p:cNvPr id="56" name="Text 54"/>
          <p:cNvSpPr txBox="1"/>
          <p:nvPr/>
        </p:nvSpPr>
        <p:spPr>
          <a:xfrm>
            <a:off x="9701784" y="5577840"/>
            <a:ext cx="1901952" cy="566928"/>
          </a:xfrm>
          <a:prstGeom prst="rect">
            <a:avLst/>
          </a:prstGeom>
          <a:noFill/>
          <a:ln/>
        </p:spPr>
        <p:txBody>
          <a:bodyPr wrap="square" lIns="0" tIns="0" rIns="0" bIns="0" rtlCol="0" anchor="ctr"/>
          <a:lstStyle/>
          <a:p>
            <a:pPr algn="ctr" indent="0" marL="0">
              <a:buNone/>
            </a:pPr>
            <a:r>
              <a:rPr lang="en-US" sz="1400" dirty="0">
                <a:solidFill>
                  <a:schemeClr val="tx2"/>
                </a:solidFill>
              </a:rPr>
              <a:t>Proactive rerouting</a:t>
            </a:r>
            <a:endParaRPr lang="en-US" sz="1400" dirty="0"/>
          </a:p>
        </p:txBody>
      </p:sp>
      <p:sp>
        <p:nvSpPr>
          <p:cNvPr id="57" name="Text 55"/>
          <p:cNvSpPr txBox="1"/>
          <p:nvPr/>
        </p:nvSpPr>
        <p:spPr>
          <a:xfrm>
            <a:off x="9631375" y="5266944"/>
            <a:ext cx="2011680" cy="228600"/>
          </a:xfrm>
          <a:prstGeom prst="rect">
            <a:avLst/>
          </a:prstGeom>
          <a:noFill/>
          <a:ln/>
        </p:spPr>
        <p:txBody>
          <a:bodyPr wrap="square" lIns="0" tIns="0" rIns="0" bIns="0" rtlCol="0" anchor="t"/>
          <a:lstStyle/>
          <a:p>
            <a:pPr algn="r" indent="0" marL="0">
              <a:buNone/>
            </a:pPr>
            <a:r>
              <a:rPr lang="en-US" sz="1100" i="1" dirty="0">
                <a:solidFill>
                  <a:schemeClr val="tx2"/>
                </a:solidFill>
              </a:rPr>
              <a:t>dashed = not implemented</a:t>
            </a:r>
            <a:endParaRPr lang="en-US" sz="11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Existing Approaches, Proposed Solution and Novelty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7086600" cy="914400"/>
        </p:xfrm>
        <a:graphic>
          <a:graphicData uri="http://schemas.openxmlformats.org/drawingml/2006/table">
            <a:tbl>
              <a:tblPr/>
              <a:tblGrid>
                <a:gridCol w="1965960"/>
                <a:gridCol w="2377440"/>
                <a:gridCol w="2743200"/>
              </a:tblGrid>
              <a:tr h="411480">
                <a:tc>
                  <a:txBody>
                    <a:bodyPr/>
                    <a:lstStyle/>
                    <a:p>
                      <a:pPr indent="0" marL="0">
                        <a:buNone/>
                      </a:pPr>
                      <a:r>
                        <a:rPr lang="en-US" sz="1400" b="1" dirty="0">
                          <a:solidFill>
                            <a:schemeClr val="bg1"/>
                          </a:solidFill>
                        </a:rPr>
                        <a:t>Approach</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How it forecasts</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Gap — measured in this project</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tx1"/>
                    </a:solidFill>
                  </a:tcPr>
                </a:tc>
              </a:tr>
              <a:tr h="566928">
                <a:tc>
                  <a:txBody>
                    <a:bodyPr/>
                    <a:lstStyle/>
                    <a:p>
                      <a:pPr indent="0" marL="0">
                        <a:buNone/>
                      </a:pPr>
                      <a:r>
                        <a:rPr lang="en-US" sz="1400" dirty="0">
                          <a:solidFill>
                            <a:schemeClr val="tx1"/>
                          </a:solidFill>
                        </a:rPr>
                        <a:t>Reactive monitoring</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400" dirty="0">
                          <a:solidFill>
                            <a:schemeClr val="tx1"/>
                          </a:solidFill>
                        </a:rPr>
                        <a:t>Acts on the current link load</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400" dirty="0">
                          <a:solidFill>
                            <a:schemeClr val="tx1"/>
                          </a:solidFill>
                        </a:rPr>
                        <a:t>Warns only after overload has begun</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713232">
                <a:tc>
                  <a:txBody>
                    <a:bodyPr/>
                    <a:lstStyle/>
                    <a:p>
                      <a:pPr indent="0" marL="0">
                        <a:buNone/>
                      </a:pPr>
                      <a:r>
                        <a:rPr lang="en-US" sz="1400" dirty="0">
                          <a:solidFill>
                            <a:schemeClr val="tx1"/>
                          </a:solidFill>
                        </a:rPr>
                        <a:t>Persistence (“next = now”)</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400" dirty="0">
                          <a:solidFill>
                            <a:schemeClr val="tx1"/>
                          </a:solidFill>
                        </a:rPr>
                        <a:t>Repeats the last value</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400" dirty="0">
                          <a:solidFill>
                            <a:schemeClr val="tx1"/>
                          </a:solidFill>
                        </a:rPr>
                        <a:t>Strong at 5 min (MAE 3.212 Mbit/s) but cannot anticipate a burst</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713232">
                <a:tc>
                  <a:txBody>
                    <a:bodyPr/>
                    <a:lstStyle/>
                    <a:p>
                      <a:pPr indent="0" marL="0">
                        <a:buNone/>
                      </a:pPr>
                      <a:r>
                        <a:rPr lang="en-US" sz="1400" dirty="0">
                          <a:solidFill>
                            <a:schemeClr val="tx1"/>
                          </a:solidFill>
                        </a:rPr>
                        <a:t>ARIMA, per flow</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400" dirty="0">
                          <a:solidFill>
                            <a:schemeClr val="tx1"/>
                          </a:solidFill>
                        </a:rPr>
                        <a:t>Linear model of recent values</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400" dirty="0">
                          <a:solidFill>
                            <a:schemeClr val="tx1"/>
                          </a:solidFill>
                        </a:rPr>
                        <a:t>2.8% worse than persistence on the 5 busiest flows; smooths spikes</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713232">
                <a:tc>
                  <a:txBody>
                    <a:bodyPr/>
                    <a:lstStyle/>
                    <a:p>
                      <a:pPr indent="0" marL="0">
                        <a:buNone/>
                      </a:pPr>
                      <a:r>
                        <a:rPr lang="en-US" sz="1400" dirty="0">
                          <a:solidFill>
                            <a:schemeClr val="tx1"/>
                          </a:solidFill>
                        </a:rPr>
                        <a:t>Plain LSTM / CNN</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400" dirty="0">
                          <a:solidFill>
                            <a:schemeClr val="tx1"/>
                          </a:solidFill>
                        </a:rPr>
                        <a:t>Predict each flow’s level from scratch</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400" dirty="0">
                          <a:solidFill>
                            <a:schemeClr val="tx1"/>
                          </a:solidFill>
                        </a:rPr>
                        <a:t>2.8× / 3.4× worse than persistence: pulled to typical values</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868680">
                <a:tc>
                  <a:txBody>
                    <a:bodyPr/>
                    <a:lstStyle/>
                    <a:p>
                      <a:pPr indent="0" marL="0">
                        <a:buNone/>
                      </a:pPr>
                      <a:r>
                        <a:rPr lang="en-US" sz="1400" b="1" dirty="0">
                          <a:solidFill>
                            <a:schemeClr val="tx1"/>
                          </a:solidFill>
                        </a:rPr>
                        <a:t>Proposed: residual CNN-LSTM</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accent5"/>
                    </a:solidFill>
                  </a:tcPr>
                </a:tc>
                <a:tc>
                  <a:txBody>
                    <a:bodyPr/>
                    <a:lstStyle/>
                    <a:p>
                      <a:pPr indent="0" marL="0">
                        <a:buNone/>
                      </a:pPr>
                      <a:r>
                        <a:rPr lang="en-US" sz="1400" b="1" dirty="0">
                          <a:solidFill>
                            <a:schemeClr val="tx1"/>
                          </a:solidFill>
                        </a:rPr>
                        <a:t>Last value + learned correction, trained on error in Mbit/s</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accent5"/>
                    </a:solidFill>
                  </a:tcPr>
                </a:tc>
                <a:tc>
                  <a:txBody>
                    <a:bodyPr/>
                    <a:lstStyle/>
                    <a:p>
                      <a:pPr indent="0" marL="0">
                        <a:buNone/>
                      </a:pPr>
                      <a:r>
                        <a:rPr lang="en-US" sz="1400" b="1" dirty="0">
                          <a:solidFill>
                            <a:schemeClr val="tx1"/>
                          </a:solidFill>
                        </a:rPr>
                        <a:t>Beats persistence on both networks: +0.4% (5 min) to +2.7% (60 min)</a:t>
                      </a:r>
                      <a:endParaRPr lang="en-US" sz="1400" dirty="0"/>
                    </a:p>
                  </a:txBody>
                  <a:tcPr marL="91440" marR="91440" marT="54864" marB="54864"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accent5"/>
                    </a:solidFill>
                  </a:tcPr>
                </a:tc>
              </a:tr>
            </a:tbl>
          </a:graphicData>
        </a:graphic>
      </p:graphicFrame>
      <p:sp>
        <p:nvSpPr>
          <p:cNvPr id="4" name="Text 1"/>
          <p:cNvSpPr txBox="1"/>
          <p:nvPr/>
        </p:nvSpPr>
        <p:spPr>
          <a:xfrm>
            <a:off x="548640" y="5349240"/>
            <a:ext cx="7086600" cy="457200"/>
          </a:xfrm>
          <a:prstGeom prst="rect">
            <a:avLst/>
          </a:prstGeom>
          <a:noFill/>
          <a:ln/>
        </p:spPr>
        <p:txBody>
          <a:bodyPr wrap="square" lIns="0" tIns="0" rIns="0" bIns="0" rtlCol="0" anchor="t"/>
          <a:lstStyle/>
          <a:p>
            <a:pPr indent="0" marL="0">
              <a:buNone/>
            </a:pPr>
            <a:r>
              <a:rPr lang="en-US" sz="1200" i="1" dirty="0">
                <a:solidFill>
                  <a:schemeClr val="tx2"/>
                </a:solidFill>
              </a:rPr>
              <a:t>Persistence is the bar every model must clear; all errors are in Mbit/s on the held-out test period.</a:t>
            </a:r>
            <a:endParaRPr lang="en-US" sz="1200" dirty="0"/>
          </a:p>
        </p:txBody>
      </p:sp>
      <p:sp>
        <p:nvSpPr>
          <p:cNvPr id="5" name="Shape 2"/>
          <p:cNvSpPr/>
          <p:nvPr/>
        </p:nvSpPr>
        <p:spPr>
          <a:xfrm>
            <a:off x="8001000" y="1234440"/>
            <a:ext cx="3642055" cy="4892040"/>
          </a:xfrm>
          <a:prstGeom prst="roundRect">
            <a:avLst>
              <a:gd name="adj" fmla="val 2009"/>
            </a:avLst>
          </a:prstGeom>
          <a:solidFill>
            <a:schemeClr val="bg2"/>
          </a:solidFill>
          <a:ln w="9525">
            <a:solidFill>
              <a:schemeClr val="bg2"/>
            </a:solidFill>
            <a:prstDash val="solid"/>
          </a:ln>
        </p:spPr>
      </p:sp>
      <p:sp>
        <p:nvSpPr>
          <p:cNvPr id="6" name="Text 3"/>
          <p:cNvSpPr txBox="1"/>
          <p:nvPr/>
        </p:nvSpPr>
        <p:spPr>
          <a:xfrm>
            <a:off x="8229600" y="137160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WHAT IS NEW</a:t>
            </a:r>
            <a:endParaRPr lang="en-US" sz="1200" dirty="0"/>
          </a:p>
        </p:txBody>
      </p:sp>
      <p:sp>
        <p:nvSpPr>
          <p:cNvPr id="7" name="Text 4"/>
          <p:cNvSpPr txBox="1"/>
          <p:nvPr/>
        </p:nvSpPr>
        <p:spPr>
          <a:xfrm>
            <a:off x="8229600" y="1691640"/>
            <a:ext cx="3184855" cy="868680"/>
          </a:xfrm>
          <a:prstGeom prst="rect">
            <a:avLst/>
          </a:prstGeom>
          <a:noFill/>
          <a:ln/>
        </p:spPr>
        <p:txBody>
          <a:bodyPr wrap="square" lIns="0" tIns="0" rIns="0" bIns="0" rtlCol="0" anchor="t"/>
          <a:lstStyle/>
          <a:p>
            <a:pPr indent="0" marL="0">
              <a:buNone/>
            </a:pPr>
            <a:r>
              <a:rPr lang="en-US" sz="1400" dirty="0">
                <a:solidFill>
                  <a:schemeClr val="tx2"/>
                </a:solidFill>
              </a:rPr>
              <a:t>Not a new architecture — CNN-LSTM hybrids already exist. The contribution is in how it is built, evaluated and explained:</a:t>
            </a:r>
            <a:endParaRPr lang="en-US" sz="1400" dirty="0"/>
          </a:p>
        </p:txBody>
      </p:sp>
      <p:sp>
        <p:nvSpPr>
          <p:cNvPr id="8" name="Shape 5"/>
          <p:cNvSpPr/>
          <p:nvPr/>
        </p:nvSpPr>
        <p:spPr>
          <a:xfrm>
            <a:off x="8229600" y="2651760"/>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0" y="26517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 7"/>
          <p:cNvSpPr txBox="1"/>
          <p:nvPr/>
        </p:nvSpPr>
        <p:spPr>
          <a:xfrm>
            <a:off x="8686800" y="2615184"/>
            <a:ext cx="2727655" cy="777240"/>
          </a:xfrm>
          <a:prstGeom prst="rect">
            <a:avLst/>
          </a:prstGeom>
          <a:noFill/>
          <a:ln/>
        </p:spPr>
        <p:txBody>
          <a:bodyPr wrap="square" lIns="0" tIns="0" rIns="0" bIns="0" rtlCol="0" anchor="t"/>
          <a:lstStyle/>
          <a:p>
            <a:pPr indent="0" marL="0">
              <a:buNone/>
            </a:pPr>
            <a:r>
              <a:rPr lang="en-US" sz="1400" dirty="0">
                <a:solidFill>
                  <a:schemeClr val="tx1"/>
                </a:solidFill>
              </a:rPr>
              <a:t>Leak-free evaluation against persistence at every horizon, on 2 networks, with 3 seeds</a:t>
            </a:r>
            <a:endParaRPr lang="en-US" sz="1400" dirty="0"/>
          </a:p>
        </p:txBody>
      </p:sp>
      <p:sp>
        <p:nvSpPr>
          <p:cNvPr id="11" name="Shape 8"/>
          <p:cNvSpPr/>
          <p:nvPr/>
        </p:nvSpPr>
        <p:spPr>
          <a:xfrm>
            <a:off x="8229600" y="3502152"/>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0" y="350215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ext 10"/>
          <p:cNvSpPr txBox="1"/>
          <p:nvPr/>
        </p:nvSpPr>
        <p:spPr>
          <a:xfrm>
            <a:off x="8686800" y="3465576"/>
            <a:ext cx="2727655" cy="777240"/>
          </a:xfrm>
          <a:prstGeom prst="rect">
            <a:avLst/>
          </a:prstGeom>
          <a:noFill/>
          <a:ln/>
        </p:spPr>
        <p:txBody>
          <a:bodyPr wrap="square" lIns="0" tIns="0" rIns="0" bIns="0" rtlCol="0" anchor="t"/>
          <a:lstStyle/>
          <a:p>
            <a:pPr indent="0" marL="0">
              <a:buNone/>
            </a:pPr>
            <a:r>
              <a:rPr lang="en-US" sz="1400" dirty="0">
                <a:solidFill>
                  <a:schemeClr val="tx1"/>
                </a:solidFill>
              </a:rPr>
              <a:t>Evidence that output form and loss matter more than architecture</a:t>
            </a:r>
            <a:endParaRPr lang="en-US" sz="1400" dirty="0"/>
          </a:p>
        </p:txBody>
      </p:sp>
      <p:sp>
        <p:nvSpPr>
          <p:cNvPr id="14" name="Shape 11"/>
          <p:cNvSpPr/>
          <p:nvPr/>
        </p:nvSpPr>
        <p:spPr>
          <a:xfrm>
            <a:off x="8229600" y="4352544"/>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0" y="435254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 13"/>
          <p:cNvSpPr txBox="1"/>
          <p:nvPr/>
        </p:nvSpPr>
        <p:spPr>
          <a:xfrm>
            <a:off x="8686800" y="4315968"/>
            <a:ext cx="2727655" cy="777240"/>
          </a:xfrm>
          <a:prstGeom prst="rect">
            <a:avLst/>
          </a:prstGeom>
          <a:noFill/>
          <a:ln/>
        </p:spPr>
        <p:txBody>
          <a:bodyPr wrap="square" lIns="0" tIns="0" rIns="0" bIns="0" rtlCol="0" anchor="t"/>
          <a:lstStyle/>
          <a:p>
            <a:pPr indent="0" marL="0">
              <a:buNone/>
            </a:pPr>
            <a:r>
              <a:rPr lang="en-US" sz="1400" dirty="0">
                <a:solidFill>
                  <a:schemeClr val="tx1"/>
                </a:solidFill>
              </a:rPr>
              <a:t>End-to-end test: flow forecasts → link loads → warnings</a:t>
            </a:r>
            <a:endParaRPr lang="en-US" sz="1400" dirty="0"/>
          </a:p>
        </p:txBody>
      </p:sp>
      <p:sp>
        <p:nvSpPr>
          <p:cNvPr id="17" name="Shape 14"/>
          <p:cNvSpPr/>
          <p:nvPr/>
        </p:nvSpPr>
        <p:spPr>
          <a:xfrm>
            <a:off x="8229600" y="5202936"/>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0" y="52029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9" name="Text 16"/>
          <p:cNvSpPr txBox="1"/>
          <p:nvPr/>
        </p:nvSpPr>
        <p:spPr>
          <a:xfrm>
            <a:off x="8686800" y="5166360"/>
            <a:ext cx="2727655" cy="777240"/>
          </a:xfrm>
          <a:prstGeom prst="rect">
            <a:avLst/>
          </a:prstGeom>
          <a:noFill/>
          <a:ln/>
        </p:spPr>
        <p:txBody>
          <a:bodyPr wrap="square" lIns="0" tIns="0" rIns="0" bIns="0" rtlCol="0" anchor="t"/>
          <a:lstStyle/>
          <a:p>
            <a:pPr indent="0" marL="0">
              <a:buNone/>
            </a:pPr>
            <a:r>
              <a:rPr lang="en-US" sz="1400" dirty="0">
                <a:solidFill>
                  <a:schemeClr val="tx1"/>
                </a:solidFill>
              </a:rPr>
              <a:t>Diagnosis of why gains stay small</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System Architecture and Workflow</a:t>
            </a:r>
            <a:endParaRPr lang="en-US" sz="3200" dirty="0"/>
          </a:p>
        </p:txBody>
      </p:sp>
      <p:sp>
        <p:nvSpPr>
          <p:cNvPr id="3" name="Text 1"/>
          <p:cNvSpPr txBox="1"/>
          <p:nvPr/>
        </p:nvSpPr>
        <p:spPr>
          <a:xfrm>
            <a:off x="2011680" y="1188720"/>
            <a:ext cx="8229600" cy="246888"/>
          </a:xfrm>
          <a:prstGeom prst="rect">
            <a:avLst/>
          </a:prstGeom>
          <a:noFill/>
          <a:ln/>
        </p:spPr>
        <p:txBody>
          <a:bodyPr wrap="square" lIns="0" tIns="0" rIns="0" bIns="0" rtlCol="0" anchor="t"/>
          <a:lstStyle/>
          <a:p>
            <a:pPr indent="0" marL="0">
              <a:buNone/>
            </a:pPr>
            <a:r>
              <a:rPr lang="en-US" sz="1200" b="1" spc="100" kern="0" dirty="0">
                <a:solidFill>
                  <a:schemeClr val="accent1"/>
                </a:solidFill>
              </a:rPr>
              <a:t>1  DATA PIPELINE   (01_data.py, 03e_geant.py)</a:t>
            </a:r>
            <a:endParaRPr lang="en-US" sz="1200" dirty="0"/>
          </a:p>
        </p:txBody>
      </p:sp>
      <p:sp>
        <p:nvSpPr>
          <p:cNvPr id="4" name="Shape 2"/>
          <p:cNvSpPr/>
          <p:nvPr/>
        </p:nvSpPr>
        <p:spPr>
          <a:xfrm>
            <a:off x="548640" y="1481328"/>
            <a:ext cx="2560320" cy="987552"/>
          </a:xfrm>
          <a:prstGeom prst="roundRect">
            <a:avLst>
              <a:gd name="adj" fmla="val 7407"/>
            </a:avLst>
          </a:prstGeom>
          <a:solidFill>
            <a:schemeClr val="bg2"/>
          </a:solidFill>
          <a:ln w="9525">
            <a:solidFill>
              <a:schemeClr val="bg2"/>
            </a:solidFill>
            <a:prstDash val="solid"/>
          </a:ln>
        </p:spPr>
      </p:sp>
      <p:sp>
        <p:nvSpPr>
          <p:cNvPr id="5" name="Text 3"/>
          <p:cNvSpPr txBox="1"/>
          <p:nvPr/>
        </p:nvSpPr>
        <p:spPr>
          <a:xfrm>
            <a:off x="676656" y="1554480"/>
            <a:ext cx="2304288" cy="274320"/>
          </a:xfrm>
          <a:prstGeom prst="rect">
            <a:avLst/>
          </a:prstGeom>
          <a:noFill/>
          <a:ln/>
        </p:spPr>
        <p:txBody>
          <a:bodyPr wrap="square" lIns="0" tIns="0" rIns="0" bIns="0" rtlCol="0" anchor="t"/>
          <a:lstStyle/>
          <a:p>
            <a:pPr indent="0" marL="0">
              <a:buNone/>
            </a:pPr>
            <a:r>
              <a:rPr lang="en-US" sz="1400" b="1" dirty="0">
                <a:solidFill>
                  <a:schemeClr val="tx1"/>
                </a:solidFill>
              </a:rPr>
              <a:t>Raw measurements</a:t>
            </a:r>
            <a:endParaRPr lang="en-US" sz="1400" dirty="0"/>
          </a:p>
        </p:txBody>
      </p:sp>
      <p:sp>
        <p:nvSpPr>
          <p:cNvPr id="6" name="Text 4"/>
          <p:cNvSpPr txBox="1"/>
          <p:nvPr/>
        </p:nvSpPr>
        <p:spPr>
          <a:xfrm>
            <a:off x="676656" y="1828800"/>
            <a:ext cx="2304288" cy="603504"/>
          </a:xfrm>
          <a:prstGeom prst="rect">
            <a:avLst/>
          </a:prstGeom>
          <a:noFill/>
          <a:ln/>
        </p:spPr>
        <p:txBody>
          <a:bodyPr wrap="square" lIns="0" tIns="0" rIns="0" bIns="0" rtlCol="0" anchor="t"/>
          <a:lstStyle/>
          <a:p>
            <a:pPr indent="0" marL="0">
              <a:buNone/>
            </a:pPr>
            <a:r>
              <a:rPr lang="en-US" sz="1200" dirty="0">
                <a:solidFill>
                  <a:schemeClr val="tx1"/>
                </a:solidFill>
              </a:rPr>
              <a:t>Abilene: 24 weekly files, 5-min, 144 flows  ·  GÉANT: 10,772 XML matrices, 15-min, 529 flows</a:t>
            </a:r>
            <a:endParaRPr lang="en-US" sz="1200" dirty="0"/>
          </a:p>
        </p:txBody>
      </p:sp>
      <p:sp>
        <p:nvSpPr>
          <p:cNvPr id="7" name="Shape 5"/>
          <p:cNvSpPr/>
          <p:nvPr/>
        </p:nvSpPr>
        <p:spPr>
          <a:xfrm>
            <a:off x="3145536" y="1975104"/>
            <a:ext cx="228600" cy="0"/>
          </a:xfrm>
          <a:prstGeom prst="line">
            <a:avLst/>
          </a:prstGeom>
          <a:noFill/>
          <a:ln w="22225">
            <a:solidFill>
              <a:schemeClr val="accent1"/>
            </a:solidFill>
            <a:prstDash val="solid"/>
            <a:tailEnd type="triangle"/>
          </a:ln>
        </p:spPr>
      </p:sp>
      <p:sp>
        <p:nvSpPr>
          <p:cNvPr id="8" name="Shape 6"/>
          <p:cNvSpPr/>
          <p:nvPr/>
        </p:nvSpPr>
        <p:spPr>
          <a:xfrm>
            <a:off x="3410712" y="1481328"/>
            <a:ext cx="2560320" cy="987552"/>
          </a:xfrm>
          <a:prstGeom prst="roundRect">
            <a:avLst>
              <a:gd name="adj" fmla="val 7407"/>
            </a:avLst>
          </a:prstGeom>
          <a:solidFill>
            <a:schemeClr val="bg2"/>
          </a:solidFill>
          <a:ln w="9525">
            <a:solidFill>
              <a:schemeClr val="bg2"/>
            </a:solidFill>
            <a:prstDash val="solid"/>
          </a:ln>
        </p:spPr>
      </p:sp>
      <p:sp>
        <p:nvSpPr>
          <p:cNvPr id="9" name="Text 7"/>
          <p:cNvSpPr txBox="1"/>
          <p:nvPr/>
        </p:nvSpPr>
        <p:spPr>
          <a:xfrm>
            <a:off x="3538728" y="1554480"/>
            <a:ext cx="2304288" cy="274320"/>
          </a:xfrm>
          <a:prstGeom prst="rect">
            <a:avLst/>
          </a:prstGeom>
          <a:noFill/>
          <a:ln/>
        </p:spPr>
        <p:txBody>
          <a:bodyPr wrap="square" lIns="0" tIns="0" rIns="0" bIns="0" rtlCol="0" anchor="t"/>
          <a:lstStyle/>
          <a:p>
            <a:pPr indent="0" marL="0">
              <a:buNone/>
            </a:pPr>
            <a:r>
              <a:rPr lang="en-US" sz="1400" b="1" dirty="0">
                <a:solidFill>
                  <a:schemeClr val="tx1"/>
                </a:solidFill>
              </a:rPr>
              <a:t>Cleaning rules</a:t>
            </a:r>
            <a:endParaRPr lang="en-US" sz="1400" dirty="0"/>
          </a:p>
        </p:txBody>
      </p:sp>
      <p:sp>
        <p:nvSpPr>
          <p:cNvPr id="10" name="Text 8"/>
          <p:cNvSpPr txBox="1"/>
          <p:nvPr/>
        </p:nvSpPr>
        <p:spPr>
          <a:xfrm>
            <a:off x="3538728" y="1828800"/>
            <a:ext cx="2304288" cy="603504"/>
          </a:xfrm>
          <a:prstGeom prst="rect">
            <a:avLst/>
          </a:prstGeom>
          <a:noFill/>
          <a:ln/>
        </p:spPr>
        <p:txBody>
          <a:bodyPr wrap="square" lIns="0" tIns="0" rIns="0" bIns="0" rtlCol="0" anchor="t"/>
          <a:lstStyle/>
          <a:p>
            <a:pPr indent="0" marL="0">
              <a:buNone/>
            </a:pPr>
            <a:r>
              <a:rPr lang="en-US" sz="1200" dirty="0">
                <a:solidFill>
                  <a:schemeClr val="tx1"/>
                </a:solidFill>
              </a:rPr>
              <a:t>Duplicates, outages, impossible values removed — never filled. 84.4% / 94.4% kept</a:t>
            </a:r>
            <a:endParaRPr lang="en-US" sz="1200" dirty="0"/>
          </a:p>
        </p:txBody>
      </p:sp>
      <p:sp>
        <p:nvSpPr>
          <p:cNvPr id="11" name="Shape 9"/>
          <p:cNvSpPr/>
          <p:nvPr/>
        </p:nvSpPr>
        <p:spPr>
          <a:xfrm>
            <a:off x="6007608" y="1975104"/>
            <a:ext cx="228600" cy="0"/>
          </a:xfrm>
          <a:prstGeom prst="line">
            <a:avLst/>
          </a:prstGeom>
          <a:noFill/>
          <a:ln w="22225">
            <a:solidFill>
              <a:schemeClr val="accent1"/>
            </a:solidFill>
            <a:prstDash val="solid"/>
            <a:tailEnd type="triangle"/>
          </a:ln>
        </p:spPr>
      </p:sp>
      <p:sp>
        <p:nvSpPr>
          <p:cNvPr id="12" name="Shape 10"/>
          <p:cNvSpPr/>
          <p:nvPr/>
        </p:nvSpPr>
        <p:spPr>
          <a:xfrm>
            <a:off x="6272784" y="1481328"/>
            <a:ext cx="2560320" cy="987552"/>
          </a:xfrm>
          <a:prstGeom prst="roundRect">
            <a:avLst>
              <a:gd name="adj" fmla="val 7407"/>
            </a:avLst>
          </a:prstGeom>
          <a:solidFill>
            <a:schemeClr val="bg2"/>
          </a:solidFill>
          <a:ln w="9525">
            <a:solidFill>
              <a:schemeClr val="bg2"/>
            </a:solidFill>
            <a:prstDash val="solid"/>
          </a:ln>
        </p:spPr>
      </p:sp>
      <p:sp>
        <p:nvSpPr>
          <p:cNvPr id="13" name="Text 11"/>
          <p:cNvSpPr txBox="1"/>
          <p:nvPr/>
        </p:nvSpPr>
        <p:spPr>
          <a:xfrm>
            <a:off x="6400800" y="1554480"/>
            <a:ext cx="2304288" cy="274320"/>
          </a:xfrm>
          <a:prstGeom prst="rect">
            <a:avLst/>
          </a:prstGeom>
          <a:noFill/>
          <a:ln/>
        </p:spPr>
        <p:txBody>
          <a:bodyPr wrap="square" lIns="0" tIns="0" rIns="0" bIns="0" rtlCol="0" anchor="t"/>
          <a:lstStyle/>
          <a:p>
            <a:pPr indent="0" marL="0">
              <a:buNone/>
            </a:pPr>
            <a:r>
              <a:rPr lang="en-US" sz="1400" b="1" dirty="0">
                <a:solidFill>
                  <a:schemeClr val="tx1"/>
                </a:solidFill>
              </a:rPr>
              <a:t>Segments + windows</a:t>
            </a:r>
            <a:endParaRPr lang="en-US" sz="1400" dirty="0"/>
          </a:p>
        </p:txBody>
      </p:sp>
      <p:sp>
        <p:nvSpPr>
          <p:cNvPr id="14" name="Text 12"/>
          <p:cNvSpPr txBox="1"/>
          <p:nvPr/>
        </p:nvSpPr>
        <p:spPr>
          <a:xfrm>
            <a:off x="6400800" y="1828800"/>
            <a:ext cx="2304288" cy="603504"/>
          </a:xfrm>
          <a:prstGeom prst="rect">
            <a:avLst/>
          </a:prstGeom>
          <a:noFill/>
          <a:ln/>
        </p:spPr>
        <p:txBody>
          <a:bodyPr wrap="square" lIns="0" tIns="0" rIns="0" bIns="0" rtlCol="0" anchor="t"/>
          <a:lstStyle/>
          <a:p>
            <a:pPr indent="0" marL="0">
              <a:buNone/>
            </a:pPr>
            <a:r>
              <a:rPr lang="en-US" sz="1200" dirty="0">
                <a:solidFill>
                  <a:schemeClr val="tx1"/>
                </a:solidFill>
              </a:rPr>
              <a:t>12-step input window, target h steps ahead; no window crosses a data gap</a:t>
            </a:r>
            <a:endParaRPr lang="en-US" sz="1200" dirty="0"/>
          </a:p>
        </p:txBody>
      </p:sp>
      <p:sp>
        <p:nvSpPr>
          <p:cNvPr id="15" name="Shape 13"/>
          <p:cNvSpPr/>
          <p:nvPr/>
        </p:nvSpPr>
        <p:spPr>
          <a:xfrm>
            <a:off x="8869680" y="1975104"/>
            <a:ext cx="228600" cy="0"/>
          </a:xfrm>
          <a:prstGeom prst="line">
            <a:avLst/>
          </a:prstGeom>
          <a:noFill/>
          <a:ln w="22225">
            <a:solidFill>
              <a:schemeClr val="accent1"/>
            </a:solidFill>
            <a:prstDash val="solid"/>
            <a:tailEnd type="triangle"/>
          </a:ln>
        </p:spPr>
      </p:sp>
      <p:sp>
        <p:nvSpPr>
          <p:cNvPr id="16" name="Shape 14"/>
          <p:cNvSpPr/>
          <p:nvPr/>
        </p:nvSpPr>
        <p:spPr>
          <a:xfrm>
            <a:off x="9134856" y="1481328"/>
            <a:ext cx="2560320" cy="987552"/>
          </a:xfrm>
          <a:prstGeom prst="roundRect">
            <a:avLst>
              <a:gd name="adj" fmla="val 7407"/>
            </a:avLst>
          </a:prstGeom>
          <a:solidFill>
            <a:schemeClr val="bg2"/>
          </a:solidFill>
          <a:ln w="9525">
            <a:solidFill>
              <a:schemeClr val="bg2"/>
            </a:solidFill>
            <a:prstDash val="solid"/>
          </a:ln>
        </p:spPr>
      </p:sp>
      <p:sp>
        <p:nvSpPr>
          <p:cNvPr id="17" name="Text 15"/>
          <p:cNvSpPr txBox="1"/>
          <p:nvPr/>
        </p:nvSpPr>
        <p:spPr>
          <a:xfrm>
            <a:off x="9262872" y="1554480"/>
            <a:ext cx="2304288" cy="274320"/>
          </a:xfrm>
          <a:prstGeom prst="rect">
            <a:avLst/>
          </a:prstGeom>
          <a:noFill/>
          <a:ln/>
        </p:spPr>
        <p:txBody>
          <a:bodyPr wrap="square" lIns="0" tIns="0" rIns="0" bIns="0" rtlCol="0" anchor="t"/>
          <a:lstStyle/>
          <a:p>
            <a:pPr indent="0" marL="0">
              <a:buNone/>
            </a:pPr>
            <a:r>
              <a:rPr lang="en-US" sz="1400" b="1" dirty="0">
                <a:solidFill>
                  <a:schemeClr val="tx1"/>
                </a:solidFill>
              </a:rPr>
              <a:t>Split + scale</a:t>
            </a:r>
            <a:endParaRPr lang="en-US" sz="1400" dirty="0"/>
          </a:p>
        </p:txBody>
      </p:sp>
      <p:sp>
        <p:nvSpPr>
          <p:cNvPr id="18" name="Text 16"/>
          <p:cNvSpPr txBox="1"/>
          <p:nvPr/>
        </p:nvSpPr>
        <p:spPr>
          <a:xfrm>
            <a:off x="9262872" y="1828800"/>
            <a:ext cx="2304288" cy="603504"/>
          </a:xfrm>
          <a:prstGeom prst="rect">
            <a:avLst/>
          </a:prstGeom>
          <a:noFill/>
          <a:ln/>
        </p:spPr>
        <p:txBody>
          <a:bodyPr wrap="square" lIns="0" tIns="0" rIns="0" bIns="0" rtlCol="0" anchor="t"/>
          <a:lstStyle/>
          <a:p>
            <a:pPr indent="0" marL="0">
              <a:buNone/>
            </a:pPr>
            <a:r>
              <a:rPr lang="en-US" sz="1200" dirty="0">
                <a:solidFill>
                  <a:schemeClr val="tx1"/>
                </a:solidFill>
              </a:rPr>
              <a:t>Chronological 60/20/20; log1p + per-flow min–max fitted on train only</a:t>
            </a:r>
            <a:endParaRPr lang="en-US" sz="1200" dirty="0"/>
          </a:p>
        </p:txBody>
      </p:sp>
      <p:sp>
        <p:nvSpPr>
          <p:cNvPr id="19" name="Text 17"/>
          <p:cNvSpPr txBox="1"/>
          <p:nvPr/>
        </p:nvSpPr>
        <p:spPr>
          <a:xfrm>
            <a:off x="2011680" y="2697480"/>
            <a:ext cx="8229600" cy="246888"/>
          </a:xfrm>
          <a:prstGeom prst="rect">
            <a:avLst/>
          </a:prstGeom>
          <a:noFill/>
          <a:ln/>
        </p:spPr>
        <p:txBody>
          <a:bodyPr wrap="square" lIns="0" tIns="0" rIns="0" bIns="0" rtlCol="0" anchor="t"/>
          <a:lstStyle/>
          <a:p>
            <a:pPr indent="0" marL="0">
              <a:buNone/>
            </a:pPr>
            <a:r>
              <a:rPr lang="en-US" sz="1200" b="1" spc="100" kern="0" dirty="0">
                <a:solidFill>
                  <a:schemeClr val="accent1"/>
                </a:solidFill>
              </a:rPr>
              <a:t>2  FORECASTING   (02_baselines.py, 03*.py)</a:t>
            </a:r>
            <a:endParaRPr lang="en-US" sz="1200" dirty="0"/>
          </a:p>
        </p:txBody>
      </p:sp>
      <p:sp>
        <p:nvSpPr>
          <p:cNvPr id="20" name="Shape 18"/>
          <p:cNvSpPr/>
          <p:nvPr/>
        </p:nvSpPr>
        <p:spPr>
          <a:xfrm>
            <a:off x="548640" y="2990088"/>
            <a:ext cx="2560320" cy="987552"/>
          </a:xfrm>
          <a:prstGeom prst="roundRect">
            <a:avLst>
              <a:gd name="adj" fmla="val 7407"/>
            </a:avLst>
          </a:prstGeom>
          <a:solidFill>
            <a:schemeClr val="accent5"/>
          </a:solidFill>
          <a:ln w="9525">
            <a:solidFill>
              <a:schemeClr val="accent5"/>
            </a:solidFill>
            <a:prstDash val="solid"/>
          </a:ln>
        </p:spPr>
      </p:sp>
      <p:sp>
        <p:nvSpPr>
          <p:cNvPr id="21" name="Text 19"/>
          <p:cNvSpPr txBox="1"/>
          <p:nvPr/>
        </p:nvSpPr>
        <p:spPr>
          <a:xfrm>
            <a:off x="676656" y="3063240"/>
            <a:ext cx="2304288" cy="274320"/>
          </a:xfrm>
          <a:prstGeom prst="rect">
            <a:avLst/>
          </a:prstGeom>
          <a:noFill/>
          <a:ln/>
        </p:spPr>
        <p:txBody>
          <a:bodyPr wrap="square" lIns="0" tIns="0" rIns="0" bIns="0" rtlCol="0" anchor="t"/>
          <a:lstStyle/>
          <a:p>
            <a:pPr indent="0" marL="0">
              <a:buNone/>
            </a:pPr>
            <a:r>
              <a:rPr lang="en-US" sz="1400" b="1" dirty="0">
                <a:solidFill>
                  <a:schemeClr val="tx1"/>
                </a:solidFill>
              </a:rPr>
              <a:t>Flow forecasts</a:t>
            </a:r>
            <a:endParaRPr lang="en-US" sz="1400" dirty="0"/>
          </a:p>
        </p:txBody>
      </p:sp>
      <p:sp>
        <p:nvSpPr>
          <p:cNvPr id="22" name="Text 20"/>
          <p:cNvSpPr txBox="1"/>
          <p:nvPr/>
        </p:nvSpPr>
        <p:spPr>
          <a:xfrm>
            <a:off x="676656" y="3337560"/>
            <a:ext cx="2304288" cy="603504"/>
          </a:xfrm>
          <a:prstGeom prst="rect">
            <a:avLst/>
          </a:prstGeom>
          <a:noFill/>
          <a:ln/>
        </p:spPr>
        <p:txBody>
          <a:bodyPr wrap="square" lIns="0" tIns="0" rIns="0" bIns="0" rtlCol="0" anchor="t"/>
          <a:lstStyle/>
          <a:p>
            <a:pPr indent="0" marL="0">
              <a:buNone/>
            </a:pPr>
            <a:r>
              <a:rPr lang="en-US" sz="1200" dirty="0">
                <a:solidFill>
                  <a:schemeClr val="tx1"/>
                </a:solidFill>
              </a:rPr>
              <a:t>144 / 529 values per step at h = 1, 6, 12 (Abilene) and 1, 4 (GÉANT)</a:t>
            </a:r>
            <a:endParaRPr lang="en-US" sz="1200" dirty="0"/>
          </a:p>
        </p:txBody>
      </p:sp>
      <p:sp>
        <p:nvSpPr>
          <p:cNvPr id="23" name="Shape 21"/>
          <p:cNvSpPr/>
          <p:nvPr/>
        </p:nvSpPr>
        <p:spPr>
          <a:xfrm flipH="1">
            <a:off x="3145536" y="3483864"/>
            <a:ext cx="228600" cy="0"/>
          </a:xfrm>
          <a:prstGeom prst="line">
            <a:avLst/>
          </a:prstGeom>
          <a:noFill/>
          <a:ln w="22225">
            <a:solidFill>
              <a:schemeClr val="accent1"/>
            </a:solidFill>
            <a:prstDash val="solid"/>
            <a:tailEnd type="triangle"/>
          </a:ln>
        </p:spPr>
      </p:sp>
      <p:sp>
        <p:nvSpPr>
          <p:cNvPr id="24" name="Shape 22"/>
          <p:cNvSpPr/>
          <p:nvPr/>
        </p:nvSpPr>
        <p:spPr>
          <a:xfrm>
            <a:off x="3410712" y="2990088"/>
            <a:ext cx="2560320" cy="987552"/>
          </a:xfrm>
          <a:prstGeom prst="roundRect">
            <a:avLst>
              <a:gd name="adj" fmla="val 7407"/>
            </a:avLst>
          </a:prstGeom>
          <a:solidFill>
            <a:schemeClr val="accent5"/>
          </a:solidFill>
          <a:ln w="9525">
            <a:solidFill>
              <a:schemeClr val="accent5"/>
            </a:solidFill>
            <a:prstDash val="solid"/>
          </a:ln>
        </p:spPr>
      </p:sp>
      <p:sp>
        <p:nvSpPr>
          <p:cNvPr id="25" name="Text 23"/>
          <p:cNvSpPr txBox="1"/>
          <p:nvPr/>
        </p:nvSpPr>
        <p:spPr>
          <a:xfrm>
            <a:off x="3538728" y="3063240"/>
            <a:ext cx="2304288" cy="274320"/>
          </a:xfrm>
          <a:prstGeom prst="rect">
            <a:avLst/>
          </a:prstGeom>
          <a:noFill/>
          <a:ln/>
        </p:spPr>
        <p:txBody>
          <a:bodyPr wrap="square" lIns="0" tIns="0" rIns="0" bIns="0" rtlCol="0" anchor="t"/>
          <a:lstStyle/>
          <a:p>
            <a:pPr indent="0" marL="0">
              <a:buNone/>
            </a:pPr>
            <a:r>
              <a:rPr lang="en-US" sz="1400" b="1" dirty="0">
                <a:solidFill>
                  <a:schemeClr val="tx1"/>
                </a:solidFill>
              </a:rPr>
              <a:t>Predict</a:t>
            </a:r>
            <a:endParaRPr lang="en-US" sz="1400" dirty="0"/>
          </a:p>
        </p:txBody>
      </p:sp>
      <p:sp>
        <p:nvSpPr>
          <p:cNvPr id="26" name="Text 24"/>
          <p:cNvSpPr txBox="1"/>
          <p:nvPr/>
        </p:nvSpPr>
        <p:spPr>
          <a:xfrm>
            <a:off x="3538728" y="3337560"/>
            <a:ext cx="2304288" cy="603504"/>
          </a:xfrm>
          <a:prstGeom prst="rect">
            <a:avLst/>
          </a:prstGeom>
          <a:noFill/>
          <a:ln/>
        </p:spPr>
        <p:txBody>
          <a:bodyPr wrap="square" lIns="0" tIns="0" rIns="0" bIns="0" rtlCol="0" anchor="t"/>
          <a:lstStyle/>
          <a:p>
            <a:pPr indent="0" marL="0">
              <a:buNone/>
            </a:pPr>
            <a:r>
              <a:rPr lang="en-US" sz="1200" dirty="0">
                <a:solidFill>
                  <a:schemeClr val="tx1"/>
                </a:solidFill>
              </a:rPr>
              <a:t>Clip to 0 … fastest link capacity, then undo the scaling</a:t>
            </a:r>
            <a:endParaRPr lang="en-US" sz="1200" dirty="0"/>
          </a:p>
        </p:txBody>
      </p:sp>
      <p:sp>
        <p:nvSpPr>
          <p:cNvPr id="27" name="Shape 25"/>
          <p:cNvSpPr/>
          <p:nvPr/>
        </p:nvSpPr>
        <p:spPr>
          <a:xfrm flipH="1">
            <a:off x="6007608" y="3483864"/>
            <a:ext cx="228600" cy="0"/>
          </a:xfrm>
          <a:prstGeom prst="line">
            <a:avLst/>
          </a:prstGeom>
          <a:noFill/>
          <a:ln w="22225">
            <a:solidFill>
              <a:schemeClr val="accent1"/>
            </a:solidFill>
            <a:prstDash val="solid"/>
            <a:tailEnd type="triangle"/>
          </a:ln>
        </p:spPr>
      </p:sp>
      <p:sp>
        <p:nvSpPr>
          <p:cNvPr id="28" name="Shape 26"/>
          <p:cNvSpPr/>
          <p:nvPr/>
        </p:nvSpPr>
        <p:spPr>
          <a:xfrm>
            <a:off x="6272784" y="2990088"/>
            <a:ext cx="2560320" cy="987552"/>
          </a:xfrm>
          <a:prstGeom prst="roundRect">
            <a:avLst>
              <a:gd name="adj" fmla="val 7407"/>
            </a:avLst>
          </a:prstGeom>
          <a:solidFill>
            <a:schemeClr val="accent5"/>
          </a:solidFill>
          <a:ln w="9525">
            <a:solidFill>
              <a:schemeClr val="accent5"/>
            </a:solidFill>
            <a:prstDash val="solid"/>
          </a:ln>
        </p:spPr>
      </p:sp>
      <p:sp>
        <p:nvSpPr>
          <p:cNvPr id="29" name="Text 27"/>
          <p:cNvSpPr txBox="1"/>
          <p:nvPr/>
        </p:nvSpPr>
        <p:spPr>
          <a:xfrm>
            <a:off x="6400800" y="3063240"/>
            <a:ext cx="2304288" cy="274320"/>
          </a:xfrm>
          <a:prstGeom prst="rect">
            <a:avLst/>
          </a:prstGeom>
          <a:noFill/>
          <a:ln/>
        </p:spPr>
        <p:txBody>
          <a:bodyPr wrap="square" lIns="0" tIns="0" rIns="0" bIns="0" rtlCol="0" anchor="t"/>
          <a:lstStyle/>
          <a:p>
            <a:pPr indent="0" marL="0">
              <a:buNone/>
            </a:pPr>
            <a:r>
              <a:rPr lang="en-US" sz="1400" b="1" dirty="0">
                <a:solidFill>
                  <a:schemeClr val="tx1"/>
                </a:solidFill>
              </a:rPr>
              <a:t>Residual CNN-LSTM</a:t>
            </a:r>
            <a:endParaRPr lang="en-US" sz="1400" dirty="0"/>
          </a:p>
        </p:txBody>
      </p:sp>
      <p:sp>
        <p:nvSpPr>
          <p:cNvPr id="30" name="Text 28"/>
          <p:cNvSpPr txBox="1"/>
          <p:nvPr/>
        </p:nvSpPr>
        <p:spPr>
          <a:xfrm>
            <a:off x="6400800" y="3337560"/>
            <a:ext cx="2304288" cy="603504"/>
          </a:xfrm>
          <a:prstGeom prst="rect">
            <a:avLst/>
          </a:prstGeom>
          <a:noFill/>
          <a:ln/>
        </p:spPr>
        <p:txBody>
          <a:bodyPr wrap="square" lIns="0" tIns="0" rIns="0" bIns="0" rtlCol="0" anchor="t"/>
          <a:lstStyle/>
          <a:p>
            <a:pPr indent="0" marL="0">
              <a:buNone/>
            </a:pPr>
            <a:r>
              <a:rPr lang="en-US" sz="1200" dirty="0">
                <a:solidFill>
                  <a:schemeClr val="tx1"/>
                </a:solidFill>
              </a:rPr>
              <a:t>Last value + learned correction; best checkpoint saved (.keras)</a:t>
            </a:r>
            <a:endParaRPr lang="en-US" sz="1200" dirty="0"/>
          </a:p>
        </p:txBody>
      </p:sp>
      <p:sp>
        <p:nvSpPr>
          <p:cNvPr id="31" name="Shape 29"/>
          <p:cNvSpPr/>
          <p:nvPr/>
        </p:nvSpPr>
        <p:spPr>
          <a:xfrm flipH="1">
            <a:off x="8869680" y="3483864"/>
            <a:ext cx="228600" cy="0"/>
          </a:xfrm>
          <a:prstGeom prst="line">
            <a:avLst/>
          </a:prstGeom>
          <a:noFill/>
          <a:ln w="22225">
            <a:solidFill>
              <a:schemeClr val="accent1"/>
            </a:solidFill>
            <a:prstDash val="solid"/>
            <a:tailEnd type="triangle"/>
          </a:ln>
        </p:spPr>
      </p:sp>
      <p:sp>
        <p:nvSpPr>
          <p:cNvPr id="32" name="Shape 30"/>
          <p:cNvSpPr/>
          <p:nvPr/>
        </p:nvSpPr>
        <p:spPr>
          <a:xfrm>
            <a:off x="9134856" y="2990088"/>
            <a:ext cx="2560320" cy="987552"/>
          </a:xfrm>
          <a:prstGeom prst="roundRect">
            <a:avLst>
              <a:gd name="adj" fmla="val 7407"/>
            </a:avLst>
          </a:prstGeom>
          <a:solidFill>
            <a:schemeClr val="accent5"/>
          </a:solidFill>
          <a:ln w="9525">
            <a:solidFill>
              <a:schemeClr val="accent5"/>
            </a:solidFill>
            <a:prstDash val="solid"/>
          </a:ln>
        </p:spPr>
      </p:sp>
      <p:sp>
        <p:nvSpPr>
          <p:cNvPr id="33" name="Text 31"/>
          <p:cNvSpPr txBox="1"/>
          <p:nvPr/>
        </p:nvSpPr>
        <p:spPr>
          <a:xfrm>
            <a:off x="9262872" y="3063240"/>
            <a:ext cx="2304288" cy="274320"/>
          </a:xfrm>
          <a:prstGeom prst="rect">
            <a:avLst/>
          </a:prstGeom>
          <a:noFill/>
          <a:ln/>
        </p:spPr>
        <p:txBody>
          <a:bodyPr wrap="square" lIns="0" tIns="0" rIns="0" bIns="0" rtlCol="0" anchor="t"/>
          <a:lstStyle/>
          <a:p>
            <a:pPr indent="0" marL="0">
              <a:buNone/>
            </a:pPr>
            <a:r>
              <a:rPr lang="en-US" sz="1400" b="1" dirty="0">
                <a:solidFill>
                  <a:schemeClr val="tx1"/>
                </a:solidFill>
              </a:rPr>
              <a:t>Training</a:t>
            </a:r>
            <a:endParaRPr lang="en-US" sz="1400" dirty="0"/>
          </a:p>
        </p:txBody>
      </p:sp>
      <p:sp>
        <p:nvSpPr>
          <p:cNvPr id="34" name="Text 32"/>
          <p:cNvSpPr txBox="1"/>
          <p:nvPr/>
        </p:nvSpPr>
        <p:spPr>
          <a:xfrm>
            <a:off x="9262872" y="3337560"/>
            <a:ext cx="2304288" cy="603504"/>
          </a:xfrm>
          <a:prstGeom prst="rect">
            <a:avLst/>
          </a:prstGeom>
          <a:noFill/>
          <a:ln/>
        </p:spPr>
        <p:txBody>
          <a:bodyPr wrap="square" lIns="0" tIns="0" rIns="0" bIns="0" rtlCol="0" anchor="t"/>
          <a:lstStyle/>
          <a:p>
            <a:pPr indent="0" marL="0">
              <a:buNone/>
            </a:pPr>
            <a:r>
              <a:rPr lang="en-US" sz="1200" dirty="0">
                <a:solidFill>
                  <a:schemeClr val="tx1"/>
                </a:solidFill>
              </a:rPr>
              <a:t>Adam, MAE-in-Mbit/s loss, early stopping, LR halving, 3 seeds</a:t>
            </a:r>
            <a:endParaRPr lang="en-US" sz="1200" dirty="0"/>
          </a:p>
        </p:txBody>
      </p:sp>
      <p:sp>
        <p:nvSpPr>
          <p:cNvPr id="35" name="Text 33"/>
          <p:cNvSpPr txBox="1"/>
          <p:nvPr/>
        </p:nvSpPr>
        <p:spPr>
          <a:xfrm>
            <a:off x="2011680" y="4206240"/>
            <a:ext cx="8229600" cy="246888"/>
          </a:xfrm>
          <a:prstGeom prst="rect">
            <a:avLst/>
          </a:prstGeom>
          <a:noFill/>
          <a:ln/>
        </p:spPr>
        <p:txBody>
          <a:bodyPr wrap="square" lIns="0" tIns="0" rIns="0" bIns="0" rtlCol="0" anchor="t"/>
          <a:lstStyle/>
          <a:p>
            <a:pPr indent="0" marL="0">
              <a:buNone/>
            </a:pPr>
            <a:r>
              <a:rPr lang="en-US" sz="1200" b="1" spc="100" kern="0" dirty="0">
                <a:solidFill>
                  <a:schemeClr val="accent1"/>
                </a:solidFill>
              </a:rPr>
              <a:t>3  APPLICATION + EVALUATION   (04_analysis.py, 05_errors.py)</a:t>
            </a:r>
            <a:endParaRPr lang="en-US" sz="1200" dirty="0"/>
          </a:p>
        </p:txBody>
      </p:sp>
      <p:sp>
        <p:nvSpPr>
          <p:cNvPr id="36" name="Shape 34"/>
          <p:cNvSpPr/>
          <p:nvPr/>
        </p:nvSpPr>
        <p:spPr>
          <a:xfrm>
            <a:off x="548640" y="4498848"/>
            <a:ext cx="2560320" cy="987552"/>
          </a:xfrm>
          <a:prstGeom prst="roundRect">
            <a:avLst>
              <a:gd name="adj" fmla="val 7407"/>
            </a:avLst>
          </a:prstGeom>
          <a:solidFill>
            <a:schemeClr val="accent6"/>
          </a:solidFill>
          <a:ln w="9525">
            <a:solidFill>
              <a:schemeClr val="accent6"/>
            </a:solidFill>
            <a:prstDash val="solid"/>
          </a:ln>
        </p:spPr>
      </p:sp>
      <p:sp>
        <p:nvSpPr>
          <p:cNvPr id="37" name="Text 35"/>
          <p:cNvSpPr txBox="1"/>
          <p:nvPr/>
        </p:nvSpPr>
        <p:spPr>
          <a:xfrm>
            <a:off x="676656" y="4572000"/>
            <a:ext cx="2304288" cy="274320"/>
          </a:xfrm>
          <a:prstGeom prst="rect">
            <a:avLst/>
          </a:prstGeom>
          <a:noFill/>
          <a:ln/>
        </p:spPr>
        <p:txBody>
          <a:bodyPr wrap="square" lIns="0" tIns="0" rIns="0" bIns="0" rtlCol="0" anchor="t"/>
          <a:lstStyle/>
          <a:p>
            <a:pPr indent="0" marL="0">
              <a:buNone/>
            </a:pPr>
            <a:r>
              <a:rPr lang="en-US" sz="1400" b="1" dirty="0">
                <a:solidFill>
                  <a:schemeClr val="tx1"/>
                </a:solidFill>
              </a:rPr>
              <a:t>Link loads</a:t>
            </a:r>
            <a:endParaRPr lang="en-US" sz="1400" dirty="0"/>
          </a:p>
        </p:txBody>
      </p:sp>
      <p:sp>
        <p:nvSpPr>
          <p:cNvPr id="38" name="Text 36"/>
          <p:cNvSpPr txBox="1"/>
          <p:nvPr/>
        </p:nvSpPr>
        <p:spPr>
          <a:xfrm>
            <a:off x="676656" y="4846320"/>
            <a:ext cx="2304288" cy="603504"/>
          </a:xfrm>
          <a:prstGeom prst="rect">
            <a:avLst/>
          </a:prstGeom>
          <a:noFill/>
          <a:ln/>
        </p:spPr>
        <p:txBody>
          <a:bodyPr wrap="square" lIns="0" tIns="0" rIns="0" bIns="0" rtlCol="0" anchor="t"/>
          <a:lstStyle/>
          <a:p>
            <a:pPr indent="0" marL="0">
              <a:buNone/>
            </a:pPr>
            <a:r>
              <a:rPr lang="en-US" sz="1200" dirty="0">
                <a:solidFill>
                  <a:schemeClr val="tx1"/>
                </a:solidFill>
              </a:rPr>
              <a:t>Utilisation = (A · flows) / capacity; A = 54 links × 144 flows</a:t>
            </a:r>
            <a:endParaRPr lang="en-US" sz="1200" dirty="0"/>
          </a:p>
        </p:txBody>
      </p:sp>
      <p:sp>
        <p:nvSpPr>
          <p:cNvPr id="39" name="Shape 37"/>
          <p:cNvSpPr/>
          <p:nvPr/>
        </p:nvSpPr>
        <p:spPr>
          <a:xfrm>
            <a:off x="3145536" y="4992624"/>
            <a:ext cx="228600" cy="0"/>
          </a:xfrm>
          <a:prstGeom prst="line">
            <a:avLst/>
          </a:prstGeom>
          <a:noFill/>
          <a:ln w="22225">
            <a:solidFill>
              <a:schemeClr val="accent1"/>
            </a:solidFill>
            <a:prstDash val="solid"/>
            <a:tailEnd type="triangle"/>
          </a:ln>
        </p:spPr>
      </p:sp>
      <p:sp>
        <p:nvSpPr>
          <p:cNvPr id="40" name="Shape 38"/>
          <p:cNvSpPr/>
          <p:nvPr/>
        </p:nvSpPr>
        <p:spPr>
          <a:xfrm>
            <a:off x="3410712" y="4498848"/>
            <a:ext cx="2560320" cy="987552"/>
          </a:xfrm>
          <a:prstGeom prst="roundRect">
            <a:avLst>
              <a:gd name="adj" fmla="val 7407"/>
            </a:avLst>
          </a:prstGeom>
          <a:solidFill>
            <a:schemeClr val="accent6"/>
          </a:solidFill>
          <a:ln w="9525">
            <a:solidFill>
              <a:schemeClr val="accent6"/>
            </a:solidFill>
            <a:prstDash val="solid"/>
          </a:ln>
        </p:spPr>
      </p:sp>
      <p:sp>
        <p:nvSpPr>
          <p:cNvPr id="41" name="Text 39"/>
          <p:cNvSpPr txBox="1"/>
          <p:nvPr/>
        </p:nvSpPr>
        <p:spPr>
          <a:xfrm>
            <a:off x="3538728" y="4572000"/>
            <a:ext cx="2304288" cy="274320"/>
          </a:xfrm>
          <a:prstGeom prst="rect">
            <a:avLst/>
          </a:prstGeom>
          <a:noFill/>
          <a:ln/>
        </p:spPr>
        <p:txBody>
          <a:bodyPr wrap="square" lIns="0" tIns="0" rIns="0" bIns="0" rtlCol="0" anchor="t"/>
          <a:lstStyle/>
          <a:p>
            <a:pPr indent="0" marL="0">
              <a:buNone/>
            </a:pPr>
            <a:r>
              <a:rPr lang="en-US" sz="1400" b="1" dirty="0">
                <a:solidFill>
                  <a:schemeClr val="tx1"/>
                </a:solidFill>
              </a:rPr>
              <a:t>Congestion warnings</a:t>
            </a:r>
            <a:endParaRPr lang="en-US" sz="1400" dirty="0"/>
          </a:p>
        </p:txBody>
      </p:sp>
      <p:sp>
        <p:nvSpPr>
          <p:cNvPr id="42" name="Text 40"/>
          <p:cNvSpPr txBox="1"/>
          <p:nvPr/>
        </p:nvSpPr>
        <p:spPr>
          <a:xfrm>
            <a:off x="3538728" y="4846320"/>
            <a:ext cx="2304288" cy="603504"/>
          </a:xfrm>
          <a:prstGeom prst="rect">
            <a:avLst/>
          </a:prstGeom>
          <a:noFill/>
          <a:ln/>
        </p:spPr>
        <p:txBody>
          <a:bodyPr wrap="square" lIns="0" tIns="0" rIns="0" bIns="0" rtlCol="0" anchor="t"/>
          <a:lstStyle/>
          <a:p>
            <a:pPr indent="0" marL="0">
              <a:buNone/>
            </a:pPr>
            <a:r>
              <a:rPr lang="en-US" sz="1200" dirty="0">
                <a:solidFill>
                  <a:schemeClr val="tx1"/>
                </a:solidFill>
              </a:rPr>
              <a:t>Warn when forecast utilisation ≥ 50% (40%, 60% as checks)</a:t>
            </a:r>
            <a:endParaRPr lang="en-US" sz="1200" dirty="0"/>
          </a:p>
        </p:txBody>
      </p:sp>
      <p:sp>
        <p:nvSpPr>
          <p:cNvPr id="43" name="Shape 41"/>
          <p:cNvSpPr/>
          <p:nvPr/>
        </p:nvSpPr>
        <p:spPr>
          <a:xfrm>
            <a:off x="6007608" y="4992624"/>
            <a:ext cx="228600" cy="0"/>
          </a:xfrm>
          <a:prstGeom prst="line">
            <a:avLst/>
          </a:prstGeom>
          <a:noFill/>
          <a:ln w="22225">
            <a:solidFill>
              <a:schemeClr val="accent1"/>
            </a:solidFill>
            <a:prstDash val="solid"/>
            <a:tailEnd type="triangle"/>
          </a:ln>
        </p:spPr>
      </p:sp>
      <p:sp>
        <p:nvSpPr>
          <p:cNvPr id="44" name="Shape 42"/>
          <p:cNvSpPr/>
          <p:nvPr/>
        </p:nvSpPr>
        <p:spPr>
          <a:xfrm>
            <a:off x="6272784" y="4498848"/>
            <a:ext cx="2560320" cy="987552"/>
          </a:xfrm>
          <a:prstGeom prst="roundRect">
            <a:avLst>
              <a:gd name="adj" fmla="val 7407"/>
            </a:avLst>
          </a:prstGeom>
          <a:solidFill>
            <a:schemeClr val="accent6"/>
          </a:solidFill>
          <a:ln w="9525">
            <a:solidFill>
              <a:schemeClr val="accent6"/>
            </a:solidFill>
            <a:prstDash val="solid"/>
          </a:ln>
        </p:spPr>
      </p:sp>
      <p:sp>
        <p:nvSpPr>
          <p:cNvPr id="45" name="Text 43"/>
          <p:cNvSpPr txBox="1"/>
          <p:nvPr/>
        </p:nvSpPr>
        <p:spPr>
          <a:xfrm>
            <a:off x="6400800" y="4572000"/>
            <a:ext cx="2304288" cy="274320"/>
          </a:xfrm>
          <a:prstGeom prst="rect">
            <a:avLst/>
          </a:prstGeom>
          <a:noFill/>
          <a:ln/>
        </p:spPr>
        <p:txBody>
          <a:bodyPr wrap="square" lIns="0" tIns="0" rIns="0" bIns="0" rtlCol="0" anchor="t"/>
          <a:lstStyle/>
          <a:p>
            <a:pPr indent="0" marL="0">
              <a:buNone/>
            </a:pPr>
            <a:r>
              <a:rPr lang="en-US" sz="1400" b="1" dirty="0">
                <a:solidFill>
                  <a:schemeClr val="tx1"/>
                </a:solidFill>
              </a:rPr>
              <a:t>Evaluation</a:t>
            </a:r>
            <a:endParaRPr lang="en-US" sz="1400" dirty="0"/>
          </a:p>
        </p:txBody>
      </p:sp>
      <p:sp>
        <p:nvSpPr>
          <p:cNvPr id="46" name="Text 44"/>
          <p:cNvSpPr txBox="1"/>
          <p:nvPr/>
        </p:nvSpPr>
        <p:spPr>
          <a:xfrm>
            <a:off x="6400800" y="4846320"/>
            <a:ext cx="2304288" cy="603504"/>
          </a:xfrm>
          <a:prstGeom prst="rect">
            <a:avLst/>
          </a:prstGeom>
          <a:noFill/>
          <a:ln/>
        </p:spPr>
        <p:txBody>
          <a:bodyPr wrap="square" lIns="0" tIns="0" rIns="0" bIns="0" rtlCol="0" anchor="t"/>
          <a:lstStyle/>
          <a:p>
            <a:pPr indent="0" marL="0">
              <a:buNone/>
            </a:pPr>
            <a:r>
              <a:rPr lang="en-US" sz="1200" dirty="0">
                <a:solidFill>
                  <a:schemeClr val="tx1"/>
                </a:solidFill>
              </a:rPr>
              <a:t>MAE, RMSE, MAPE vs persistence + ARIMA; precision, recall, F1, onsets</a:t>
            </a:r>
            <a:endParaRPr lang="en-US" sz="1200" dirty="0"/>
          </a:p>
        </p:txBody>
      </p:sp>
      <p:sp>
        <p:nvSpPr>
          <p:cNvPr id="47" name="Shape 45"/>
          <p:cNvSpPr/>
          <p:nvPr/>
        </p:nvSpPr>
        <p:spPr>
          <a:xfrm>
            <a:off x="8869680" y="4992624"/>
            <a:ext cx="228600" cy="0"/>
          </a:xfrm>
          <a:prstGeom prst="line">
            <a:avLst/>
          </a:prstGeom>
          <a:noFill/>
          <a:ln w="22225">
            <a:solidFill>
              <a:schemeClr val="accent1"/>
            </a:solidFill>
            <a:prstDash val="solid"/>
            <a:tailEnd type="triangle"/>
          </a:ln>
        </p:spPr>
      </p:sp>
      <p:sp>
        <p:nvSpPr>
          <p:cNvPr id="48" name="Shape 46"/>
          <p:cNvSpPr/>
          <p:nvPr/>
        </p:nvSpPr>
        <p:spPr>
          <a:xfrm>
            <a:off x="9134856" y="4498848"/>
            <a:ext cx="2560320" cy="987552"/>
          </a:xfrm>
          <a:prstGeom prst="roundRect">
            <a:avLst>
              <a:gd name="adj" fmla="val 7407"/>
            </a:avLst>
          </a:prstGeom>
          <a:solidFill>
            <a:schemeClr val="accent6"/>
          </a:solidFill>
          <a:ln w="9525">
            <a:solidFill>
              <a:schemeClr val="accent6"/>
            </a:solidFill>
            <a:prstDash val="solid"/>
          </a:ln>
        </p:spPr>
      </p:sp>
      <p:sp>
        <p:nvSpPr>
          <p:cNvPr id="49" name="Text 47"/>
          <p:cNvSpPr txBox="1"/>
          <p:nvPr/>
        </p:nvSpPr>
        <p:spPr>
          <a:xfrm>
            <a:off x="9262872" y="4572000"/>
            <a:ext cx="2304288" cy="274320"/>
          </a:xfrm>
          <a:prstGeom prst="rect">
            <a:avLst/>
          </a:prstGeom>
          <a:noFill/>
          <a:ln/>
        </p:spPr>
        <p:txBody>
          <a:bodyPr wrap="square" lIns="0" tIns="0" rIns="0" bIns="0" rtlCol="0" anchor="t"/>
          <a:lstStyle/>
          <a:p>
            <a:pPr indent="0" marL="0">
              <a:buNone/>
            </a:pPr>
            <a:r>
              <a:rPr lang="en-US" sz="1400" b="1" dirty="0">
                <a:solidFill>
                  <a:schemeClr val="tx1"/>
                </a:solidFill>
              </a:rPr>
              <a:t>Outputs</a:t>
            </a:r>
            <a:endParaRPr lang="en-US" sz="1400" dirty="0"/>
          </a:p>
        </p:txBody>
      </p:sp>
      <p:sp>
        <p:nvSpPr>
          <p:cNvPr id="50" name="Text 48"/>
          <p:cNvSpPr txBox="1"/>
          <p:nvPr/>
        </p:nvSpPr>
        <p:spPr>
          <a:xfrm>
            <a:off x="9262872" y="4846320"/>
            <a:ext cx="2304288" cy="603504"/>
          </a:xfrm>
          <a:prstGeom prst="rect">
            <a:avLst/>
          </a:prstGeom>
          <a:noFill/>
          <a:ln/>
        </p:spPr>
        <p:txBody>
          <a:bodyPr wrap="square" lIns="0" tIns="0" rIns="0" bIns="0" rtlCol="0" anchor="t"/>
          <a:lstStyle/>
          <a:p>
            <a:pPr indent="0" marL="0">
              <a:buNone/>
            </a:pPr>
            <a:r>
              <a:rPr lang="en-US" sz="1200" dirty="0">
                <a:solidFill>
                  <a:schemeClr val="tx1"/>
                </a:solidFill>
              </a:rPr>
              <a:t>metrics.csv log, 21 figures, single results page report.html</a:t>
            </a:r>
            <a:endParaRPr lang="en-US" sz="1200" dirty="0"/>
          </a:p>
        </p:txBody>
      </p:sp>
      <p:sp>
        <p:nvSpPr>
          <p:cNvPr id="51" name="Shape 49"/>
          <p:cNvSpPr/>
          <p:nvPr/>
        </p:nvSpPr>
        <p:spPr>
          <a:xfrm>
            <a:off x="10415016" y="2487168"/>
            <a:ext cx="0" cy="484632"/>
          </a:xfrm>
          <a:prstGeom prst="line">
            <a:avLst/>
          </a:prstGeom>
          <a:noFill/>
          <a:ln w="22225">
            <a:solidFill>
              <a:schemeClr val="accent1"/>
            </a:solidFill>
            <a:prstDash val="solid"/>
            <a:tailEnd type="triangle"/>
          </a:ln>
        </p:spPr>
      </p:sp>
      <p:sp>
        <p:nvSpPr>
          <p:cNvPr id="52" name="Shape 50"/>
          <p:cNvSpPr/>
          <p:nvPr/>
        </p:nvSpPr>
        <p:spPr>
          <a:xfrm>
            <a:off x="1828800" y="3995928"/>
            <a:ext cx="0" cy="484632"/>
          </a:xfrm>
          <a:prstGeom prst="line">
            <a:avLst/>
          </a:prstGeom>
          <a:noFill/>
          <a:ln w="22225">
            <a:solidFill>
              <a:schemeClr val="accent1"/>
            </a:solidFill>
            <a:prstDash val="solid"/>
            <a:tailEnd type="triangle"/>
          </a:ln>
        </p:spPr>
      </p:sp>
      <p:sp>
        <p:nvSpPr>
          <p:cNvPr id="53" name="Text 51"/>
          <p:cNvSpPr txBox="1"/>
          <p:nvPr/>
        </p:nvSpPr>
        <p:spPr>
          <a:xfrm>
            <a:off x="548640" y="5669280"/>
            <a:ext cx="11094415" cy="502920"/>
          </a:xfrm>
          <a:prstGeom prst="rect">
            <a:avLst/>
          </a:prstGeom>
          <a:noFill/>
          <a:ln/>
        </p:spPr>
        <p:txBody>
          <a:bodyPr wrap="square" lIns="0" tIns="0" rIns="0" bIns="0" rtlCol="0" anchor="t"/>
          <a:lstStyle/>
          <a:p>
            <a:pPr indent="0" marL="0">
              <a:buNone/>
            </a:pPr>
            <a:r>
              <a:rPr lang="en-US" sz="1200" b="1" dirty="0">
                <a:solidFill>
                  <a:schemeClr val="accent3"/>
                </a:solidFill>
              </a:rPr>
              <a:t>Implemented and run end to end on both networks.  </a:t>
            </a:r>
            <a:pPr indent="0" marL="0">
              <a:buNone/>
            </a:pPr>
            <a:r>
              <a:rPr lang="en-US" sz="1200" dirty="0">
                <a:solidFill>
                  <a:schemeClr val="tx2"/>
                </a:solidFill>
              </a:rPr>
              <a:t>Not implemented: acting on warnings (rerouting), live streaming input. GÉANT link loads use approximate min-hop routing (no capacities published).</a:t>
            </a:r>
            <a:endParaRPr lang="en-US" sz="12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Methodology, Model and Core Logic</a:t>
            </a:r>
            <a:endParaRPr lang="en-US" sz="3200" dirty="0"/>
          </a:p>
        </p:txBody>
      </p:sp>
      <p:sp>
        <p:nvSpPr>
          <p:cNvPr id="3" name="Shape 1"/>
          <p:cNvSpPr/>
          <p:nvPr/>
        </p:nvSpPr>
        <p:spPr>
          <a:xfrm>
            <a:off x="548640" y="1261872"/>
            <a:ext cx="3794760" cy="393192"/>
          </a:xfrm>
          <a:prstGeom prst="roundRect">
            <a:avLst>
              <a:gd name="adj" fmla="val 18605"/>
            </a:avLst>
          </a:prstGeom>
          <a:solidFill>
            <a:schemeClr val="bg2"/>
          </a:solidFill>
          <a:ln w="9525">
            <a:solidFill>
              <a:schemeClr val="bg2"/>
            </a:solidFill>
            <a:prstDash val="solid"/>
          </a:ln>
        </p:spPr>
      </p:sp>
      <p:sp>
        <p:nvSpPr>
          <p:cNvPr id="4" name="Text 2"/>
          <p:cNvSpPr txBox="1"/>
          <p:nvPr/>
        </p:nvSpPr>
        <p:spPr>
          <a:xfrm>
            <a:off x="676656" y="1261872"/>
            <a:ext cx="2514600" cy="393192"/>
          </a:xfrm>
          <a:prstGeom prst="rect">
            <a:avLst/>
          </a:prstGeom>
          <a:noFill/>
          <a:ln/>
        </p:spPr>
        <p:txBody>
          <a:bodyPr wrap="square" lIns="0" tIns="0" rIns="0" bIns="0" rtlCol="0" anchor="ctr"/>
          <a:lstStyle/>
          <a:p>
            <a:pPr indent="0" marL="0">
              <a:buNone/>
            </a:pPr>
            <a:r>
              <a:rPr lang="en-US" sz="1300" b="1" dirty="0">
                <a:solidFill>
                  <a:schemeClr val="tx1"/>
                </a:solidFill>
              </a:rPr>
              <a:t>Input window  12 × 144</a:t>
            </a:r>
            <a:endParaRPr lang="en-US" sz="1300" dirty="0"/>
          </a:p>
        </p:txBody>
      </p:sp>
      <p:sp>
        <p:nvSpPr>
          <p:cNvPr id="5" name="Text 3"/>
          <p:cNvSpPr txBox="1"/>
          <p:nvPr/>
        </p:nvSpPr>
        <p:spPr>
          <a:xfrm>
            <a:off x="2971800" y="1261872"/>
            <a:ext cx="1298448" cy="393192"/>
          </a:xfrm>
          <a:prstGeom prst="rect">
            <a:avLst/>
          </a:prstGeom>
          <a:noFill/>
          <a:ln/>
        </p:spPr>
        <p:txBody>
          <a:bodyPr wrap="square" lIns="0" tIns="0" rIns="0" bIns="0" rtlCol="0" anchor="ctr"/>
          <a:lstStyle/>
          <a:p>
            <a:pPr algn="r" indent="0" marL="0">
              <a:buNone/>
            </a:pPr>
            <a:r>
              <a:rPr lang="en-US" sz="1100" i="1" dirty="0">
                <a:solidFill>
                  <a:schemeClr val="tx2"/>
                </a:solidFill>
              </a:rPr>
              <a:t>last hour, scaled</a:t>
            </a:r>
            <a:endParaRPr lang="en-US" sz="1100" dirty="0"/>
          </a:p>
        </p:txBody>
      </p:sp>
      <p:sp>
        <p:nvSpPr>
          <p:cNvPr id="6" name="Shape 4"/>
          <p:cNvSpPr/>
          <p:nvPr/>
        </p:nvSpPr>
        <p:spPr>
          <a:xfrm>
            <a:off x="2446020" y="1655064"/>
            <a:ext cx="0" cy="91440"/>
          </a:xfrm>
          <a:prstGeom prst="line">
            <a:avLst/>
          </a:prstGeom>
          <a:noFill/>
          <a:ln w="12700">
            <a:solidFill>
              <a:schemeClr val="tx2"/>
            </a:solidFill>
            <a:prstDash val="solid"/>
            <a:tailEnd type="triangle"/>
          </a:ln>
        </p:spPr>
      </p:sp>
      <p:sp>
        <p:nvSpPr>
          <p:cNvPr id="7" name="Shape 5"/>
          <p:cNvSpPr/>
          <p:nvPr/>
        </p:nvSpPr>
        <p:spPr>
          <a:xfrm>
            <a:off x="548640" y="1746504"/>
            <a:ext cx="3794760" cy="393192"/>
          </a:xfrm>
          <a:prstGeom prst="roundRect">
            <a:avLst>
              <a:gd name="adj" fmla="val 18605"/>
            </a:avLst>
          </a:prstGeom>
          <a:solidFill>
            <a:schemeClr val="accent5"/>
          </a:solidFill>
          <a:ln w="9525">
            <a:solidFill>
              <a:schemeClr val="accent5"/>
            </a:solidFill>
            <a:prstDash val="solid"/>
          </a:ln>
        </p:spPr>
      </p:sp>
      <p:sp>
        <p:nvSpPr>
          <p:cNvPr id="8" name="Text 6"/>
          <p:cNvSpPr txBox="1"/>
          <p:nvPr/>
        </p:nvSpPr>
        <p:spPr>
          <a:xfrm>
            <a:off x="676656" y="1746504"/>
            <a:ext cx="2514600" cy="393192"/>
          </a:xfrm>
          <a:prstGeom prst="rect">
            <a:avLst/>
          </a:prstGeom>
          <a:noFill/>
          <a:ln/>
        </p:spPr>
        <p:txBody>
          <a:bodyPr wrap="square" lIns="0" tIns="0" rIns="0" bIns="0" rtlCol="0" anchor="ctr"/>
          <a:lstStyle/>
          <a:p>
            <a:pPr indent="0" marL="0">
              <a:buNone/>
            </a:pPr>
            <a:r>
              <a:rPr lang="en-US" sz="1300" b="1" dirty="0">
                <a:solidFill>
                  <a:schemeClr val="tx1"/>
                </a:solidFill>
              </a:rPr>
              <a:t>Conv1D  64 filters, k = 3, causal</a:t>
            </a:r>
            <a:endParaRPr lang="en-US" sz="1300" dirty="0"/>
          </a:p>
        </p:txBody>
      </p:sp>
      <p:sp>
        <p:nvSpPr>
          <p:cNvPr id="9" name="Text 7"/>
          <p:cNvSpPr txBox="1"/>
          <p:nvPr/>
        </p:nvSpPr>
        <p:spPr>
          <a:xfrm>
            <a:off x="2971800" y="1746504"/>
            <a:ext cx="1298448" cy="393192"/>
          </a:xfrm>
          <a:prstGeom prst="rect">
            <a:avLst/>
          </a:prstGeom>
          <a:noFill/>
          <a:ln/>
        </p:spPr>
        <p:txBody>
          <a:bodyPr wrap="square" lIns="0" tIns="0" rIns="0" bIns="0" rtlCol="0" anchor="ctr"/>
          <a:lstStyle/>
          <a:p>
            <a:pPr algn="r" indent="0" marL="0">
              <a:buNone/>
            </a:pPr>
            <a:r>
              <a:rPr lang="en-US" sz="1100" i="1" dirty="0">
                <a:solidFill>
                  <a:schemeClr val="tx2"/>
                </a:solidFill>
              </a:rPr>
              <a:t>short patterns</a:t>
            </a:r>
            <a:endParaRPr lang="en-US" sz="1100" dirty="0"/>
          </a:p>
        </p:txBody>
      </p:sp>
      <p:sp>
        <p:nvSpPr>
          <p:cNvPr id="10" name="Shape 8"/>
          <p:cNvSpPr/>
          <p:nvPr/>
        </p:nvSpPr>
        <p:spPr>
          <a:xfrm>
            <a:off x="2446020" y="2139696"/>
            <a:ext cx="0" cy="91440"/>
          </a:xfrm>
          <a:prstGeom prst="line">
            <a:avLst/>
          </a:prstGeom>
          <a:noFill/>
          <a:ln w="12700">
            <a:solidFill>
              <a:schemeClr val="tx2"/>
            </a:solidFill>
            <a:prstDash val="solid"/>
            <a:tailEnd type="triangle"/>
          </a:ln>
        </p:spPr>
      </p:sp>
      <p:sp>
        <p:nvSpPr>
          <p:cNvPr id="11" name="Shape 9"/>
          <p:cNvSpPr/>
          <p:nvPr/>
        </p:nvSpPr>
        <p:spPr>
          <a:xfrm>
            <a:off x="548640" y="2231136"/>
            <a:ext cx="3794760" cy="393192"/>
          </a:xfrm>
          <a:prstGeom prst="roundRect">
            <a:avLst>
              <a:gd name="adj" fmla="val 18605"/>
            </a:avLst>
          </a:prstGeom>
          <a:solidFill>
            <a:schemeClr val="accent5"/>
          </a:solidFill>
          <a:ln w="9525">
            <a:solidFill>
              <a:schemeClr val="accent5"/>
            </a:solidFill>
            <a:prstDash val="solid"/>
          </a:ln>
        </p:spPr>
      </p:sp>
      <p:sp>
        <p:nvSpPr>
          <p:cNvPr id="12" name="Text 10"/>
          <p:cNvSpPr txBox="1"/>
          <p:nvPr/>
        </p:nvSpPr>
        <p:spPr>
          <a:xfrm>
            <a:off x="676656" y="2231136"/>
            <a:ext cx="2514600" cy="393192"/>
          </a:xfrm>
          <a:prstGeom prst="rect">
            <a:avLst/>
          </a:prstGeom>
          <a:noFill/>
          <a:ln/>
        </p:spPr>
        <p:txBody>
          <a:bodyPr wrap="square" lIns="0" tIns="0" rIns="0" bIns="0" rtlCol="0" anchor="ctr"/>
          <a:lstStyle/>
          <a:p>
            <a:pPr indent="0" marL="0">
              <a:buNone/>
            </a:pPr>
            <a:r>
              <a:rPr lang="en-US" sz="1300" b="1" dirty="0">
                <a:solidFill>
                  <a:schemeClr val="tx1"/>
                </a:solidFill>
              </a:rPr>
              <a:t>Conv1D  64 filters, k = 3, causal</a:t>
            </a:r>
            <a:endParaRPr lang="en-US" sz="1300" dirty="0"/>
          </a:p>
        </p:txBody>
      </p:sp>
      <p:sp>
        <p:nvSpPr>
          <p:cNvPr id="13" name="Shape 11"/>
          <p:cNvSpPr/>
          <p:nvPr/>
        </p:nvSpPr>
        <p:spPr>
          <a:xfrm>
            <a:off x="2446020" y="2624328"/>
            <a:ext cx="0" cy="91440"/>
          </a:xfrm>
          <a:prstGeom prst="line">
            <a:avLst/>
          </a:prstGeom>
          <a:noFill/>
          <a:ln w="12700">
            <a:solidFill>
              <a:schemeClr val="tx2"/>
            </a:solidFill>
            <a:prstDash val="solid"/>
            <a:tailEnd type="triangle"/>
          </a:ln>
        </p:spPr>
      </p:sp>
      <p:sp>
        <p:nvSpPr>
          <p:cNvPr id="14" name="Shape 12"/>
          <p:cNvSpPr/>
          <p:nvPr/>
        </p:nvSpPr>
        <p:spPr>
          <a:xfrm>
            <a:off x="548640" y="2715768"/>
            <a:ext cx="3794760" cy="393192"/>
          </a:xfrm>
          <a:prstGeom prst="roundRect">
            <a:avLst>
              <a:gd name="adj" fmla="val 18605"/>
            </a:avLst>
          </a:prstGeom>
          <a:solidFill>
            <a:schemeClr val="accent5"/>
          </a:solidFill>
          <a:ln w="9525">
            <a:solidFill>
              <a:schemeClr val="accent5"/>
            </a:solidFill>
            <a:prstDash val="solid"/>
          </a:ln>
        </p:spPr>
      </p:sp>
      <p:sp>
        <p:nvSpPr>
          <p:cNvPr id="15" name="Text 13"/>
          <p:cNvSpPr txBox="1"/>
          <p:nvPr/>
        </p:nvSpPr>
        <p:spPr>
          <a:xfrm>
            <a:off x="676656" y="2715768"/>
            <a:ext cx="2514600" cy="393192"/>
          </a:xfrm>
          <a:prstGeom prst="rect">
            <a:avLst/>
          </a:prstGeom>
          <a:noFill/>
          <a:ln/>
        </p:spPr>
        <p:txBody>
          <a:bodyPr wrap="square" lIns="0" tIns="0" rIns="0" bIns="0" rtlCol="0" anchor="ctr"/>
          <a:lstStyle/>
          <a:p>
            <a:pPr indent="0" marL="0">
              <a:buNone/>
            </a:pPr>
            <a:r>
              <a:rPr lang="en-US" sz="1300" b="1" dirty="0">
                <a:solidFill>
                  <a:schemeClr val="tx1"/>
                </a:solidFill>
              </a:rPr>
              <a:t>MaxPooling1D(2)  → 6 × 64</a:t>
            </a:r>
            <a:endParaRPr lang="en-US" sz="1300" dirty="0"/>
          </a:p>
        </p:txBody>
      </p:sp>
      <p:sp>
        <p:nvSpPr>
          <p:cNvPr id="16" name="Shape 14"/>
          <p:cNvSpPr/>
          <p:nvPr/>
        </p:nvSpPr>
        <p:spPr>
          <a:xfrm>
            <a:off x="2446020" y="3108960"/>
            <a:ext cx="0" cy="91440"/>
          </a:xfrm>
          <a:prstGeom prst="line">
            <a:avLst/>
          </a:prstGeom>
          <a:noFill/>
          <a:ln w="12700">
            <a:solidFill>
              <a:schemeClr val="tx2"/>
            </a:solidFill>
            <a:prstDash val="solid"/>
            <a:tailEnd type="triangle"/>
          </a:ln>
        </p:spPr>
      </p:sp>
      <p:sp>
        <p:nvSpPr>
          <p:cNvPr id="17" name="Shape 15"/>
          <p:cNvSpPr/>
          <p:nvPr/>
        </p:nvSpPr>
        <p:spPr>
          <a:xfrm>
            <a:off x="548640" y="3200400"/>
            <a:ext cx="3794760" cy="393192"/>
          </a:xfrm>
          <a:prstGeom prst="roundRect">
            <a:avLst>
              <a:gd name="adj" fmla="val 18605"/>
            </a:avLst>
          </a:prstGeom>
          <a:solidFill>
            <a:schemeClr val="accent5"/>
          </a:solidFill>
          <a:ln w="9525">
            <a:solidFill>
              <a:schemeClr val="accent5"/>
            </a:solidFill>
            <a:prstDash val="solid"/>
          </a:ln>
        </p:spPr>
      </p:sp>
      <p:sp>
        <p:nvSpPr>
          <p:cNvPr id="18" name="Text 16"/>
          <p:cNvSpPr txBox="1"/>
          <p:nvPr/>
        </p:nvSpPr>
        <p:spPr>
          <a:xfrm>
            <a:off x="676656" y="3200400"/>
            <a:ext cx="2514600" cy="393192"/>
          </a:xfrm>
          <a:prstGeom prst="rect">
            <a:avLst/>
          </a:prstGeom>
          <a:noFill/>
          <a:ln/>
        </p:spPr>
        <p:txBody>
          <a:bodyPr wrap="square" lIns="0" tIns="0" rIns="0" bIns="0" rtlCol="0" anchor="ctr"/>
          <a:lstStyle/>
          <a:p>
            <a:pPr indent="0" marL="0">
              <a:buNone/>
            </a:pPr>
            <a:r>
              <a:rPr lang="en-US" sz="1300" b="1" dirty="0">
                <a:solidFill>
                  <a:schemeClr val="tx1"/>
                </a:solidFill>
              </a:rPr>
              <a:t>LSTM  100 units</a:t>
            </a:r>
            <a:endParaRPr lang="en-US" sz="1300" dirty="0"/>
          </a:p>
        </p:txBody>
      </p:sp>
      <p:sp>
        <p:nvSpPr>
          <p:cNvPr id="19" name="Text 17"/>
          <p:cNvSpPr txBox="1"/>
          <p:nvPr/>
        </p:nvSpPr>
        <p:spPr>
          <a:xfrm>
            <a:off x="2971800" y="3200400"/>
            <a:ext cx="1298448" cy="393192"/>
          </a:xfrm>
          <a:prstGeom prst="rect">
            <a:avLst/>
          </a:prstGeom>
          <a:noFill/>
          <a:ln/>
        </p:spPr>
        <p:txBody>
          <a:bodyPr wrap="square" lIns="0" tIns="0" rIns="0" bIns="0" rtlCol="0" anchor="ctr"/>
          <a:lstStyle/>
          <a:p>
            <a:pPr algn="r" indent="0" marL="0">
              <a:buNone/>
            </a:pPr>
            <a:r>
              <a:rPr lang="en-US" sz="1100" i="1" dirty="0">
                <a:solidFill>
                  <a:schemeClr val="tx2"/>
                </a:solidFill>
              </a:rPr>
              <a:t>how patterns evolve</a:t>
            </a:r>
            <a:endParaRPr lang="en-US" sz="1100" dirty="0"/>
          </a:p>
        </p:txBody>
      </p:sp>
      <p:sp>
        <p:nvSpPr>
          <p:cNvPr id="20" name="Shape 18"/>
          <p:cNvSpPr/>
          <p:nvPr/>
        </p:nvSpPr>
        <p:spPr>
          <a:xfrm>
            <a:off x="2446020" y="3593592"/>
            <a:ext cx="0" cy="91440"/>
          </a:xfrm>
          <a:prstGeom prst="line">
            <a:avLst/>
          </a:prstGeom>
          <a:noFill/>
          <a:ln w="12700">
            <a:solidFill>
              <a:schemeClr val="tx2"/>
            </a:solidFill>
            <a:prstDash val="solid"/>
            <a:tailEnd type="triangle"/>
          </a:ln>
        </p:spPr>
      </p:sp>
      <p:sp>
        <p:nvSpPr>
          <p:cNvPr id="21" name="Shape 19"/>
          <p:cNvSpPr/>
          <p:nvPr/>
        </p:nvSpPr>
        <p:spPr>
          <a:xfrm>
            <a:off x="548640" y="3685032"/>
            <a:ext cx="3794760" cy="393192"/>
          </a:xfrm>
          <a:prstGeom prst="roundRect">
            <a:avLst>
              <a:gd name="adj" fmla="val 18605"/>
            </a:avLst>
          </a:prstGeom>
          <a:solidFill>
            <a:schemeClr val="accent5"/>
          </a:solidFill>
          <a:ln w="9525">
            <a:solidFill>
              <a:schemeClr val="accent5"/>
            </a:solidFill>
            <a:prstDash val="solid"/>
          </a:ln>
        </p:spPr>
      </p:sp>
      <p:sp>
        <p:nvSpPr>
          <p:cNvPr id="22" name="Text 20"/>
          <p:cNvSpPr txBox="1"/>
          <p:nvPr/>
        </p:nvSpPr>
        <p:spPr>
          <a:xfrm>
            <a:off x="676656" y="3685032"/>
            <a:ext cx="2514600" cy="393192"/>
          </a:xfrm>
          <a:prstGeom prst="rect">
            <a:avLst/>
          </a:prstGeom>
          <a:noFill/>
          <a:ln/>
        </p:spPr>
        <p:txBody>
          <a:bodyPr wrap="square" lIns="0" tIns="0" rIns="0" bIns="0" rtlCol="0" anchor="ctr"/>
          <a:lstStyle/>
          <a:p>
            <a:pPr indent="0" marL="0">
              <a:buNone/>
            </a:pPr>
            <a:r>
              <a:rPr lang="en-US" sz="1300" b="1" dirty="0">
                <a:solidFill>
                  <a:schemeClr val="tx1"/>
                </a:solidFill>
              </a:rPr>
              <a:t>LSTM  50 units</a:t>
            </a:r>
            <a:endParaRPr lang="en-US" sz="1300" dirty="0"/>
          </a:p>
        </p:txBody>
      </p:sp>
      <p:sp>
        <p:nvSpPr>
          <p:cNvPr id="23" name="Text 21"/>
          <p:cNvSpPr txBox="1"/>
          <p:nvPr/>
        </p:nvSpPr>
        <p:spPr>
          <a:xfrm>
            <a:off x="2971800" y="3685032"/>
            <a:ext cx="1298448" cy="393192"/>
          </a:xfrm>
          <a:prstGeom prst="rect">
            <a:avLst/>
          </a:prstGeom>
          <a:noFill/>
          <a:ln/>
        </p:spPr>
        <p:txBody>
          <a:bodyPr wrap="square" lIns="0" tIns="0" rIns="0" bIns="0" rtlCol="0" anchor="ctr"/>
          <a:lstStyle/>
          <a:p>
            <a:pPr algn="r" indent="0" marL="0">
              <a:buNone/>
            </a:pPr>
            <a:r>
              <a:rPr lang="en-US" sz="1100" i="1" dirty="0">
                <a:solidFill>
                  <a:schemeClr val="tx2"/>
                </a:solidFill>
              </a:rPr>
              <a:t>one summary vector</a:t>
            </a:r>
            <a:endParaRPr lang="en-US" sz="1100" dirty="0"/>
          </a:p>
        </p:txBody>
      </p:sp>
      <p:sp>
        <p:nvSpPr>
          <p:cNvPr id="24" name="Shape 22"/>
          <p:cNvSpPr/>
          <p:nvPr/>
        </p:nvSpPr>
        <p:spPr>
          <a:xfrm>
            <a:off x="2446020" y="4078224"/>
            <a:ext cx="0" cy="91440"/>
          </a:xfrm>
          <a:prstGeom prst="line">
            <a:avLst/>
          </a:prstGeom>
          <a:noFill/>
          <a:ln w="12700">
            <a:solidFill>
              <a:schemeClr val="tx2"/>
            </a:solidFill>
            <a:prstDash val="solid"/>
            <a:tailEnd type="triangle"/>
          </a:ln>
        </p:spPr>
      </p:sp>
      <p:sp>
        <p:nvSpPr>
          <p:cNvPr id="25" name="Shape 23"/>
          <p:cNvSpPr/>
          <p:nvPr/>
        </p:nvSpPr>
        <p:spPr>
          <a:xfrm>
            <a:off x="548640" y="4169664"/>
            <a:ext cx="3794760" cy="393192"/>
          </a:xfrm>
          <a:prstGeom prst="roundRect">
            <a:avLst>
              <a:gd name="adj" fmla="val 18605"/>
            </a:avLst>
          </a:prstGeom>
          <a:solidFill>
            <a:schemeClr val="accent5"/>
          </a:solidFill>
          <a:ln w="9525">
            <a:solidFill>
              <a:schemeClr val="accent5"/>
            </a:solidFill>
            <a:prstDash val="solid"/>
          </a:ln>
        </p:spPr>
      </p:sp>
      <p:sp>
        <p:nvSpPr>
          <p:cNvPr id="26" name="Text 24"/>
          <p:cNvSpPr txBox="1"/>
          <p:nvPr/>
        </p:nvSpPr>
        <p:spPr>
          <a:xfrm>
            <a:off x="676656" y="4169664"/>
            <a:ext cx="2514600" cy="393192"/>
          </a:xfrm>
          <a:prstGeom prst="rect">
            <a:avLst/>
          </a:prstGeom>
          <a:noFill/>
          <a:ln/>
        </p:spPr>
        <p:txBody>
          <a:bodyPr wrap="square" lIns="0" tIns="0" rIns="0" bIns="0" rtlCol="0" anchor="ctr"/>
          <a:lstStyle/>
          <a:p>
            <a:pPr indent="0" marL="0">
              <a:buNone/>
            </a:pPr>
            <a:r>
              <a:rPr lang="en-US" sz="1300" b="1" dirty="0">
                <a:solidFill>
                  <a:schemeClr val="tx1"/>
                </a:solidFill>
              </a:rPr>
              <a:t>Dropout 0.2</a:t>
            </a:r>
            <a:endParaRPr lang="en-US" sz="1300" dirty="0"/>
          </a:p>
        </p:txBody>
      </p:sp>
      <p:sp>
        <p:nvSpPr>
          <p:cNvPr id="27" name="Shape 25"/>
          <p:cNvSpPr/>
          <p:nvPr/>
        </p:nvSpPr>
        <p:spPr>
          <a:xfrm>
            <a:off x="2446020" y="4562856"/>
            <a:ext cx="0" cy="91440"/>
          </a:xfrm>
          <a:prstGeom prst="line">
            <a:avLst/>
          </a:prstGeom>
          <a:noFill/>
          <a:ln w="12700">
            <a:solidFill>
              <a:schemeClr val="tx2"/>
            </a:solidFill>
            <a:prstDash val="solid"/>
            <a:tailEnd type="triangle"/>
          </a:ln>
        </p:spPr>
      </p:sp>
      <p:sp>
        <p:nvSpPr>
          <p:cNvPr id="28" name="Shape 26"/>
          <p:cNvSpPr/>
          <p:nvPr/>
        </p:nvSpPr>
        <p:spPr>
          <a:xfrm>
            <a:off x="548640" y="4654296"/>
            <a:ext cx="3794760" cy="393192"/>
          </a:xfrm>
          <a:prstGeom prst="roundRect">
            <a:avLst>
              <a:gd name="adj" fmla="val 18605"/>
            </a:avLst>
          </a:prstGeom>
          <a:solidFill>
            <a:schemeClr val="accent5"/>
          </a:solidFill>
          <a:ln w="9525">
            <a:solidFill>
              <a:schemeClr val="accent5"/>
            </a:solidFill>
            <a:prstDash val="solid"/>
          </a:ln>
        </p:spPr>
      </p:sp>
      <p:sp>
        <p:nvSpPr>
          <p:cNvPr id="29" name="Text 27"/>
          <p:cNvSpPr txBox="1"/>
          <p:nvPr/>
        </p:nvSpPr>
        <p:spPr>
          <a:xfrm>
            <a:off x="676656" y="4654296"/>
            <a:ext cx="2514600" cy="393192"/>
          </a:xfrm>
          <a:prstGeom prst="rect">
            <a:avLst/>
          </a:prstGeom>
          <a:noFill/>
          <a:ln/>
        </p:spPr>
        <p:txBody>
          <a:bodyPr wrap="square" lIns="0" tIns="0" rIns="0" bIns="0" rtlCol="0" anchor="ctr"/>
          <a:lstStyle/>
          <a:p>
            <a:pPr indent="0" marL="0">
              <a:buNone/>
            </a:pPr>
            <a:r>
              <a:rPr lang="en-US" sz="1300" b="1" dirty="0">
                <a:solidFill>
                  <a:schemeClr val="tx1"/>
                </a:solidFill>
              </a:rPr>
              <a:t>Dense 144  “correction”</a:t>
            </a:r>
            <a:endParaRPr lang="en-US" sz="1300" dirty="0"/>
          </a:p>
        </p:txBody>
      </p:sp>
      <p:sp>
        <p:nvSpPr>
          <p:cNvPr id="30" name="Text 28"/>
          <p:cNvSpPr txBox="1"/>
          <p:nvPr/>
        </p:nvSpPr>
        <p:spPr>
          <a:xfrm>
            <a:off x="2971800" y="4654296"/>
            <a:ext cx="1298448" cy="393192"/>
          </a:xfrm>
          <a:prstGeom prst="rect">
            <a:avLst/>
          </a:prstGeom>
          <a:noFill/>
          <a:ln/>
        </p:spPr>
        <p:txBody>
          <a:bodyPr wrap="square" lIns="0" tIns="0" rIns="0" bIns="0" rtlCol="0" anchor="ctr"/>
          <a:lstStyle/>
          <a:p>
            <a:pPr algn="r" indent="0" marL="0">
              <a:buNone/>
            </a:pPr>
            <a:r>
              <a:rPr lang="en-US" sz="1100" i="1" dirty="0">
                <a:solidFill>
                  <a:schemeClr val="tx2"/>
                </a:solidFill>
              </a:rPr>
              <a:t>weights start at 0</a:t>
            </a:r>
            <a:endParaRPr lang="en-US" sz="1100" dirty="0"/>
          </a:p>
        </p:txBody>
      </p:sp>
      <p:sp>
        <p:nvSpPr>
          <p:cNvPr id="31" name="Shape 29"/>
          <p:cNvSpPr/>
          <p:nvPr/>
        </p:nvSpPr>
        <p:spPr>
          <a:xfrm>
            <a:off x="2446020" y="5047488"/>
            <a:ext cx="0" cy="91440"/>
          </a:xfrm>
          <a:prstGeom prst="line">
            <a:avLst/>
          </a:prstGeom>
          <a:noFill/>
          <a:ln w="12700">
            <a:solidFill>
              <a:schemeClr val="tx2"/>
            </a:solidFill>
            <a:prstDash val="solid"/>
            <a:tailEnd type="triangle"/>
          </a:ln>
        </p:spPr>
      </p:sp>
      <p:sp>
        <p:nvSpPr>
          <p:cNvPr id="32" name="Shape 30"/>
          <p:cNvSpPr/>
          <p:nvPr/>
        </p:nvSpPr>
        <p:spPr>
          <a:xfrm>
            <a:off x="548640" y="5138928"/>
            <a:ext cx="3794760" cy="393192"/>
          </a:xfrm>
          <a:prstGeom prst="roundRect">
            <a:avLst>
              <a:gd name="adj" fmla="val 18605"/>
            </a:avLst>
          </a:prstGeom>
          <a:solidFill>
            <a:schemeClr val="tx1"/>
          </a:solidFill>
          <a:ln w="9525">
            <a:solidFill>
              <a:schemeClr val="tx1"/>
            </a:solidFill>
            <a:prstDash val="solid"/>
          </a:ln>
        </p:spPr>
      </p:sp>
      <p:sp>
        <p:nvSpPr>
          <p:cNvPr id="33" name="Text 31"/>
          <p:cNvSpPr txBox="1"/>
          <p:nvPr/>
        </p:nvSpPr>
        <p:spPr>
          <a:xfrm>
            <a:off x="676656" y="5138928"/>
            <a:ext cx="2514600" cy="393192"/>
          </a:xfrm>
          <a:prstGeom prst="rect">
            <a:avLst/>
          </a:prstGeom>
          <a:noFill/>
          <a:ln/>
        </p:spPr>
        <p:txBody>
          <a:bodyPr wrap="square" lIns="0" tIns="0" rIns="0" bIns="0" rtlCol="0" anchor="ctr"/>
          <a:lstStyle/>
          <a:p>
            <a:pPr indent="0" marL="0">
              <a:buNone/>
            </a:pPr>
            <a:r>
              <a:rPr lang="en-US" sz="1300" b="1" dirty="0">
                <a:solidFill>
                  <a:schemeClr val="bg1"/>
                </a:solidFill>
              </a:rPr>
              <a:t>Add  →  forecast, 144 flows</a:t>
            </a:r>
            <a:endParaRPr lang="en-US" sz="1300" dirty="0"/>
          </a:p>
        </p:txBody>
      </p:sp>
      <p:sp>
        <p:nvSpPr>
          <p:cNvPr id="34" name="Shape 32"/>
          <p:cNvSpPr/>
          <p:nvPr/>
        </p:nvSpPr>
        <p:spPr>
          <a:xfrm>
            <a:off x="4343400" y="1458468"/>
            <a:ext cx="292608" cy="0"/>
          </a:xfrm>
          <a:prstGeom prst="line">
            <a:avLst/>
          </a:prstGeom>
          <a:noFill/>
          <a:ln w="25400">
            <a:solidFill>
              <a:schemeClr val="accent2"/>
            </a:solidFill>
            <a:prstDash val="solid"/>
          </a:ln>
        </p:spPr>
      </p:sp>
      <p:sp>
        <p:nvSpPr>
          <p:cNvPr id="35" name="Shape 33"/>
          <p:cNvSpPr/>
          <p:nvPr/>
        </p:nvSpPr>
        <p:spPr>
          <a:xfrm>
            <a:off x="4636008" y="1458468"/>
            <a:ext cx="0" cy="3877056"/>
          </a:xfrm>
          <a:prstGeom prst="line">
            <a:avLst/>
          </a:prstGeom>
          <a:noFill/>
          <a:ln w="25400">
            <a:solidFill>
              <a:schemeClr val="accent2"/>
            </a:solidFill>
            <a:prstDash val="solid"/>
          </a:ln>
        </p:spPr>
      </p:sp>
      <p:sp>
        <p:nvSpPr>
          <p:cNvPr id="36" name="Shape 34"/>
          <p:cNvSpPr/>
          <p:nvPr/>
        </p:nvSpPr>
        <p:spPr>
          <a:xfrm flipH="1">
            <a:off x="4361688" y="5335524"/>
            <a:ext cx="274320" cy="0"/>
          </a:xfrm>
          <a:prstGeom prst="line">
            <a:avLst/>
          </a:prstGeom>
          <a:noFill/>
          <a:ln w="25400">
            <a:solidFill>
              <a:schemeClr val="accent2"/>
            </a:solidFill>
            <a:prstDash val="solid"/>
            <a:tailEnd type="triangle"/>
          </a:ln>
        </p:spPr>
      </p:sp>
      <p:sp>
        <p:nvSpPr>
          <p:cNvPr id="37" name="Text 35"/>
          <p:cNvSpPr txBox="1"/>
          <p:nvPr/>
        </p:nvSpPr>
        <p:spPr>
          <a:xfrm>
            <a:off x="4672584" y="2743200"/>
            <a:ext cx="274320" cy="1737360"/>
          </a:xfrm>
          <a:prstGeom prst="rect">
            <a:avLst/>
          </a:prstGeom>
          <a:noFill/>
          <a:ln/>
        </p:spPr>
        <p:txBody>
          <a:bodyPr wrap="square" lIns="0" tIns="0" rIns="0" bIns="0" rtlCol="0" anchor="ctr" vert="vert270"/>
          <a:lstStyle/>
          <a:p>
            <a:pPr algn="ctr" indent="0" marL="0">
              <a:buNone/>
            </a:pPr>
            <a:r>
              <a:rPr lang="en-US" sz="1100" b="1" dirty="0">
                <a:solidFill>
                  <a:schemeClr val="accent2"/>
                </a:solidFill>
              </a:rPr>
              <a:t>skip: last value xₜ</a:t>
            </a:r>
            <a:endParaRPr lang="en-US" sz="1100" dirty="0"/>
          </a:p>
        </p:txBody>
      </p:sp>
      <p:sp>
        <p:nvSpPr>
          <p:cNvPr id="38" name="Text 36"/>
          <p:cNvSpPr txBox="1"/>
          <p:nvPr/>
        </p:nvSpPr>
        <p:spPr>
          <a:xfrm>
            <a:off x="548640" y="5760720"/>
            <a:ext cx="4572000" cy="457200"/>
          </a:xfrm>
          <a:prstGeom prst="rect">
            <a:avLst/>
          </a:prstGeom>
          <a:noFill/>
          <a:ln/>
        </p:spPr>
        <p:txBody>
          <a:bodyPr wrap="square" lIns="0" tIns="0" rIns="0" bIns="0" rtlCol="0" anchor="t"/>
          <a:lstStyle/>
          <a:p>
            <a:pPr indent="0" marL="0">
              <a:buNone/>
            </a:pPr>
            <a:r>
              <a:rPr lang="en-US" sz="1200" dirty="0">
                <a:solidFill>
                  <a:schemeClr val="tx2"/>
                </a:solidFill>
              </a:rPr>
              <a:t>143,608 parameters (Abilene)  ·  237,163 (GÉANT)  ·  laptop CPU</a:t>
            </a:r>
            <a:endParaRPr lang="en-US" sz="1200" dirty="0"/>
          </a:p>
        </p:txBody>
      </p:sp>
      <p:sp>
        <p:nvSpPr>
          <p:cNvPr id="39" name="Shape 37"/>
          <p:cNvSpPr/>
          <p:nvPr/>
        </p:nvSpPr>
        <p:spPr>
          <a:xfrm>
            <a:off x="5257800" y="1261872"/>
            <a:ext cx="6385255" cy="896112"/>
          </a:xfrm>
          <a:prstGeom prst="roundRect">
            <a:avLst>
              <a:gd name="adj" fmla="val 8163"/>
            </a:avLst>
          </a:prstGeom>
          <a:solidFill>
            <a:schemeClr val="bg2"/>
          </a:solidFill>
          <a:ln w="9525">
            <a:solidFill>
              <a:schemeClr val="bg2"/>
            </a:solidFill>
            <a:prstDash val="solid"/>
          </a:ln>
        </p:spPr>
      </p:sp>
      <p:sp>
        <p:nvSpPr>
          <p:cNvPr id="40" name="Text 38"/>
          <p:cNvSpPr txBox="1"/>
          <p:nvPr/>
        </p:nvSpPr>
        <p:spPr>
          <a:xfrm>
            <a:off x="5440680" y="1353312"/>
            <a:ext cx="1828800" cy="320040"/>
          </a:xfrm>
          <a:prstGeom prst="rect">
            <a:avLst/>
          </a:prstGeom>
          <a:noFill/>
          <a:ln/>
        </p:spPr>
        <p:txBody>
          <a:bodyPr wrap="square" lIns="0" tIns="0" rIns="0" bIns="0" rtlCol="0" anchor="t"/>
          <a:lstStyle/>
          <a:p>
            <a:pPr indent="0" marL="0">
              <a:buNone/>
            </a:pPr>
            <a:r>
              <a:rPr lang="en-US" sz="1500" b="1" dirty="0">
                <a:solidFill>
                  <a:schemeClr val="accent1"/>
                </a:solidFill>
              </a:rPr>
              <a:t>Residual output</a:t>
            </a:r>
            <a:endParaRPr lang="en-US" sz="1500" dirty="0"/>
          </a:p>
        </p:txBody>
      </p:sp>
      <p:sp>
        <p:nvSpPr>
          <p:cNvPr id="41" name="Text 39"/>
          <p:cNvSpPr txBox="1"/>
          <p:nvPr/>
        </p:nvSpPr>
        <p:spPr>
          <a:xfrm>
            <a:off x="7269480" y="1353312"/>
            <a:ext cx="4236415" cy="320040"/>
          </a:xfrm>
          <a:prstGeom prst="rect">
            <a:avLst/>
          </a:prstGeom>
          <a:noFill/>
          <a:ln/>
        </p:spPr>
        <p:txBody>
          <a:bodyPr wrap="square" lIns="0" tIns="0" rIns="0" bIns="0" rtlCol="0" anchor="t"/>
          <a:lstStyle/>
          <a:p>
            <a:pPr indent="0" marL="0">
              <a:buNone/>
            </a:pPr>
            <a:r>
              <a:rPr lang="en-US" sz="1300" i="1" dirty="0">
                <a:solidFill>
                  <a:schemeClr val="tx1"/>
                </a:solidFill>
                <a:latin typeface="Cambria" pitchFamily="34" charset="0"/>
                <a:ea typeface="Cambria" pitchFamily="34" charset="-122"/>
                <a:cs typeface="Cambria" pitchFamily="34" charset="-120"/>
              </a:rPr>
              <a:t>ŷₜ₊ₕ = xₜ + fθ(xₜ₋₁₁ … xₜ)</a:t>
            </a:r>
            <a:endParaRPr lang="en-US" sz="1300" dirty="0"/>
          </a:p>
        </p:txBody>
      </p:sp>
      <p:sp>
        <p:nvSpPr>
          <p:cNvPr id="42" name="Text 40"/>
          <p:cNvSpPr txBox="1"/>
          <p:nvPr/>
        </p:nvSpPr>
        <p:spPr>
          <a:xfrm>
            <a:off x="5440680" y="1691640"/>
            <a:ext cx="6019495" cy="438912"/>
          </a:xfrm>
          <a:prstGeom prst="rect">
            <a:avLst/>
          </a:prstGeom>
          <a:noFill/>
          <a:ln/>
        </p:spPr>
        <p:txBody>
          <a:bodyPr wrap="square" lIns="0" tIns="0" rIns="0" bIns="0" rtlCol="0" anchor="t"/>
          <a:lstStyle/>
          <a:p>
            <a:pPr indent="0" marL="0">
              <a:buNone/>
            </a:pPr>
            <a:r>
              <a:rPr lang="en-US" sz="1300" dirty="0">
                <a:solidFill>
                  <a:schemeClr val="tx2"/>
                </a:solidFill>
              </a:rPr>
              <a:t>An untrained model equals persistence; training only moves away where that lowers the error.</a:t>
            </a:r>
            <a:endParaRPr lang="en-US" sz="1300" dirty="0"/>
          </a:p>
        </p:txBody>
      </p:sp>
      <p:sp>
        <p:nvSpPr>
          <p:cNvPr id="43" name="Shape 41"/>
          <p:cNvSpPr/>
          <p:nvPr/>
        </p:nvSpPr>
        <p:spPr>
          <a:xfrm>
            <a:off x="5257800" y="2249424"/>
            <a:ext cx="6385255" cy="896112"/>
          </a:xfrm>
          <a:prstGeom prst="roundRect">
            <a:avLst>
              <a:gd name="adj" fmla="val 8163"/>
            </a:avLst>
          </a:prstGeom>
          <a:solidFill>
            <a:schemeClr val="bg2"/>
          </a:solidFill>
          <a:ln w="9525">
            <a:solidFill>
              <a:schemeClr val="bg2"/>
            </a:solidFill>
            <a:prstDash val="solid"/>
          </a:ln>
        </p:spPr>
      </p:sp>
      <p:sp>
        <p:nvSpPr>
          <p:cNvPr id="44" name="Text 42"/>
          <p:cNvSpPr txBox="1"/>
          <p:nvPr/>
        </p:nvSpPr>
        <p:spPr>
          <a:xfrm>
            <a:off x="5440680" y="2340864"/>
            <a:ext cx="1828800" cy="320040"/>
          </a:xfrm>
          <a:prstGeom prst="rect">
            <a:avLst/>
          </a:prstGeom>
          <a:noFill/>
          <a:ln/>
        </p:spPr>
        <p:txBody>
          <a:bodyPr wrap="square" lIns="0" tIns="0" rIns="0" bIns="0" rtlCol="0" anchor="t"/>
          <a:lstStyle/>
          <a:p>
            <a:pPr indent="0" marL="0">
              <a:buNone/>
            </a:pPr>
            <a:r>
              <a:rPr lang="en-US" sz="1500" b="1" dirty="0">
                <a:solidFill>
                  <a:schemeClr val="accent1"/>
                </a:solidFill>
              </a:rPr>
              <a:t>Loss in real units</a:t>
            </a:r>
            <a:endParaRPr lang="en-US" sz="1500" dirty="0"/>
          </a:p>
        </p:txBody>
      </p:sp>
      <p:sp>
        <p:nvSpPr>
          <p:cNvPr id="45" name="Text 43"/>
          <p:cNvSpPr txBox="1"/>
          <p:nvPr/>
        </p:nvSpPr>
        <p:spPr>
          <a:xfrm>
            <a:off x="7269480" y="2340864"/>
            <a:ext cx="4236415" cy="320040"/>
          </a:xfrm>
          <a:prstGeom prst="rect">
            <a:avLst/>
          </a:prstGeom>
          <a:noFill/>
          <a:ln/>
        </p:spPr>
        <p:txBody>
          <a:bodyPr wrap="square" lIns="0" tIns="0" rIns="0" bIns="0" rtlCol="0" anchor="t"/>
          <a:lstStyle/>
          <a:p>
            <a:pPr indent="0" marL="0">
              <a:buNone/>
            </a:pPr>
            <a:r>
              <a:rPr lang="en-US" sz="1300" i="1" dirty="0">
                <a:solidFill>
                  <a:schemeClr val="tx1"/>
                </a:solidFill>
                <a:latin typeface="Cambria" pitchFamily="34" charset="0"/>
                <a:ea typeface="Cambria" pitchFamily="34" charset="-122"/>
                <a:cs typeface="Cambria" pitchFamily="34" charset="-120"/>
              </a:rPr>
              <a:t>L = mean | g(y) − g(ŷ) | / ref,   g(z) = exp(z·range + min) − 1</a:t>
            </a:r>
            <a:endParaRPr lang="en-US" sz="1300" dirty="0"/>
          </a:p>
        </p:txBody>
      </p:sp>
      <p:sp>
        <p:nvSpPr>
          <p:cNvPr id="46" name="Text 44"/>
          <p:cNvSpPr txBox="1"/>
          <p:nvPr/>
        </p:nvSpPr>
        <p:spPr>
          <a:xfrm>
            <a:off x="5440680" y="2679192"/>
            <a:ext cx="6019495" cy="438912"/>
          </a:xfrm>
          <a:prstGeom prst="rect">
            <a:avLst/>
          </a:prstGeom>
          <a:noFill/>
          <a:ln/>
        </p:spPr>
        <p:txBody>
          <a:bodyPr wrap="square" lIns="0" tIns="0" rIns="0" bIns="0" rtlCol="0" anchor="t"/>
          <a:lstStyle/>
          <a:p>
            <a:pPr indent="0" marL="0">
              <a:buNone/>
            </a:pPr>
            <a:r>
              <a:rPr lang="en-US" sz="1300" dirty="0">
                <a:solidFill>
                  <a:schemeClr val="tx2"/>
                </a:solidFill>
              </a:rPr>
              <a:t>Undoes the scaling inside TensorFlow, so the model optimises MAE in Mbit/s — what is reported.</a:t>
            </a:r>
            <a:endParaRPr lang="en-US" sz="1300" dirty="0"/>
          </a:p>
        </p:txBody>
      </p:sp>
      <p:sp>
        <p:nvSpPr>
          <p:cNvPr id="47" name="Shape 45"/>
          <p:cNvSpPr/>
          <p:nvPr/>
        </p:nvSpPr>
        <p:spPr>
          <a:xfrm>
            <a:off x="5257800" y="3236976"/>
            <a:ext cx="6385255" cy="896112"/>
          </a:xfrm>
          <a:prstGeom prst="roundRect">
            <a:avLst>
              <a:gd name="adj" fmla="val 8163"/>
            </a:avLst>
          </a:prstGeom>
          <a:solidFill>
            <a:schemeClr val="bg2"/>
          </a:solidFill>
          <a:ln w="9525">
            <a:solidFill>
              <a:schemeClr val="bg2"/>
            </a:solidFill>
            <a:prstDash val="solid"/>
          </a:ln>
        </p:spPr>
      </p:sp>
      <p:sp>
        <p:nvSpPr>
          <p:cNvPr id="48" name="Text 46"/>
          <p:cNvSpPr txBox="1"/>
          <p:nvPr/>
        </p:nvSpPr>
        <p:spPr>
          <a:xfrm>
            <a:off x="5440680" y="3328416"/>
            <a:ext cx="1828800" cy="320040"/>
          </a:xfrm>
          <a:prstGeom prst="rect">
            <a:avLst/>
          </a:prstGeom>
          <a:noFill/>
          <a:ln/>
        </p:spPr>
        <p:txBody>
          <a:bodyPr wrap="square" lIns="0" tIns="0" rIns="0" bIns="0" rtlCol="0" anchor="t"/>
          <a:lstStyle/>
          <a:p>
            <a:pPr indent="0" marL="0">
              <a:buNone/>
            </a:pPr>
            <a:r>
              <a:rPr lang="en-US" sz="1500" b="1" dirty="0">
                <a:solidFill>
                  <a:schemeClr val="accent1"/>
                </a:solidFill>
              </a:rPr>
              <a:t>Leak-free by design</a:t>
            </a:r>
            <a:endParaRPr lang="en-US" sz="1500" dirty="0"/>
          </a:p>
        </p:txBody>
      </p:sp>
      <p:sp>
        <p:nvSpPr>
          <p:cNvPr id="49" name="Text 47"/>
          <p:cNvSpPr txBox="1"/>
          <p:nvPr/>
        </p:nvSpPr>
        <p:spPr>
          <a:xfrm>
            <a:off x="7269480" y="3328416"/>
            <a:ext cx="4236415" cy="320040"/>
          </a:xfrm>
          <a:prstGeom prst="rect">
            <a:avLst/>
          </a:prstGeom>
          <a:noFill/>
          <a:ln/>
        </p:spPr>
        <p:txBody>
          <a:bodyPr wrap="square" lIns="0" tIns="0" rIns="0" bIns="0" rtlCol="0" anchor="t"/>
          <a:lstStyle/>
          <a:p>
            <a:pPr indent="0" marL="0">
              <a:buNone/>
            </a:pPr>
            <a:r>
              <a:rPr lang="en-US" sz="1300" i="1" dirty="0">
                <a:solidFill>
                  <a:schemeClr val="tx1"/>
                </a:solidFill>
                <a:latin typeface="Cambria" pitchFamily="34" charset="0"/>
                <a:ea typeface="Cambria" pitchFamily="34" charset="-122"/>
                <a:cs typeface="Cambria" pitchFamily="34" charset="-120"/>
              </a:rPr>
              <a:t>z = (log(1 + x) − min) / (max − min), fitted on train only</a:t>
            </a:r>
            <a:endParaRPr lang="en-US" sz="1300" dirty="0"/>
          </a:p>
        </p:txBody>
      </p:sp>
      <p:sp>
        <p:nvSpPr>
          <p:cNvPr id="50" name="Text 48"/>
          <p:cNvSpPr txBox="1"/>
          <p:nvPr/>
        </p:nvSpPr>
        <p:spPr>
          <a:xfrm>
            <a:off x="5440680" y="3666744"/>
            <a:ext cx="6019495" cy="438912"/>
          </a:xfrm>
          <a:prstGeom prst="rect">
            <a:avLst/>
          </a:prstGeom>
          <a:noFill/>
          <a:ln/>
        </p:spPr>
        <p:txBody>
          <a:bodyPr wrap="square" lIns="0" tIns="0" rIns="0" bIns="0" rtlCol="0" anchor="t"/>
          <a:lstStyle/>
          <a:p>
            <a:pPr indent="0" marL="0">
              <a:buNone/>
            </a:pPr>
            <a:r>
              <a:rPr lang="en-US" sz="1300" dirty="0">
                <a:solidFill>
                  <a:schemeClr val="tx2"/>
                </a:solidFill>
              </a:rPr>
              <a:t>Chronological split; causal convolutions see only the past; forecasts clipped to 0 … link capacity.</a:t>
            </a:r>
            <a:endParaRPr lang="en-US" sz="1300" dirty="0"/>
          </a:p>
        </p:txBody>
      </p:sp>
      <p:sp>
        <p:nvSpPr>
          <p:cNvPr id="51" name="Text 49"/>
          <p:cNvSpPr txBox="1"/>
          <p:nvPr/>
        </p:nvSpPr>
        <p:spPr>
          <a:xfrm>
            <a:off x="5257800" y="4297680"/>
            <a:ext cx="6385255" cy="256032"/>
          </a:xfrm>
          <a:prstGeom prst="rect">
            <a:avLst/>
          </a:prstGeom>
          <a:noFill/>
          <a:ln/>
        </p:spPr>
        <p:txBody>
          <a:bodyPr wrap="square" lIns="0" tIns="0" rIns="0" bIns="0" rtlCol="0" anchor="t"/>
          <a:lstStyle/>
          <a:p>
            <a:pPr indent="0" marL="0">
              <a:buNone/>
            </a:pPr>
            <a:r>
              <a:rPr lang="en-US" sz="1200" b="1" spc="100" kern="0" dirty="0">
                <a:solidFill>
                  <a:schemeClr val="accent1"/>
                </a:solidFill>
              </a:rPr>
              <a:t>WHY THIS DESIGN — VALIDATION MAE, ABILENE, 5 MIN AHEAD</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257800" y="4599432"/>
          <a:ext cx="6385255" cy="914400"/>
        </p:xfrm>
        <a:graphic>
          <a:graphicData uri="http://schemas.openxmlformats.org/drawingml/2006/table">
            <a:tbl>
              <a:tblPr/>
              <a:tblGrid>
                <a:gridCol w="3566160"/>
                <a:gridCol w="914400"/>
                <a:gridCol w="1904695"/>
              </a:tblGrid>
              <a:tr h="310896">
                <a:tc>
                  <a:txBody>
                    <a:bodyPr/>
                    <a:lstStyle/>
                    <a:p>
                      <a:pPr algn="l" indent="0" marL="0">
                        <a:buNone/>
                      </a:pPr>
                      <a:r>
                        <a:rPr lang="en-US" sz="1300" b="1" dirty="0">
                          <a:solidFill>
                            <a:schemeClr val="bg1"/>
                          </a:solidFill>
                        </a:rPr>
                        <a:t>CNN-LSTM variant</a:t>
                      </a:r>
                      <a:endParaRPr lang="en-US" sz="1300" dirty="0"/>
                    </a:p>
                  </a:txBody>
                  <a:tcPr marL="91440" marR="91440" marT="27432" marB="27432"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tx1"/>
                    </a:solidFill>
                  </a:tcPr>
                </a:tc>
                <a:tc>
                  <a:txBody>
                    <a:bodyPr/>
                    <a:lstStyle/>
                    <a:p>
                      <a:pPr algn="r" indent="0" marL="0">
                        <a:buNone/>
                      </a:pPr>
                      <a:r>
                        <a:rPr lang="en-US" sz="1300" b="1" dirty="0">
                          <a:solidFill>
                            <a:schemeClr val="bg1"/>
                          </a:solidFill>
                        </a:rPr>
                        <a:t>Mbit/s</a:t>
                      </a:r>
                      <a:endParaRPr lang="en-US" sz="1300" dirty="0"/>
                    </a:p>
                  </a:txBody>
                  <a:tcPr marL="91440" marR="91440" marT="27432" marB="27432"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tx1"/>
                    </a:solidFill>
                  </a:tcPr>
                </a:tc>
                <a:tc>
                  <a:txBody>
                    <a:bodyPr/>
                    <a:lstStyle/>
                    <a:p>
                      <a:pPr algn="r" indent="0" marL="0">
                        <a:buNone/>
                      </a:pPr>
                      <a:r>
                        <a:rPr lang="en-US" sz="1300" b="1" dirty="0">
                          <a:solidFill>
                            <a:schemeClr val="bg1"/>
                          </a:solidFill>
                        </a:rPr>
                        <a:t>vs persistence 2.742</a:t>
                      </a:r>
                      <a:endParaRPr lang="en-US" sz="1300" dirty="0"/>
                    </a:p>
                  </a:txBody>
                  <a:tcPr marL="91440" marR="91440" marT="27432" marB="27432"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tx1"/>
                    </a:solidFill>
                  </a:tcPr>
                </a:tc>
              </a:tr>
              <a:tr h="310896">
                <a:tc>
                  <a:txBody>
                    <a:bodyPr/>
                    <a:lstStyle/>
                    <a:p>
                      <a:pPr indent="0" marL="0">
                        <a:buNone/>
                      </a:pPr>
                      <a:r>
                        <a:rPr lang="en-US" sz="1300" dirty="0">
                          <a:solidFill>
                            <a:schemeClr val="tx1"/>
                          </a:solidFill>
                        </a:rPr>
                        <a:t>Plain output, MSE loss (as planned)</a:t>
                      </a:r>
                      <a:endParaRPr lang="en-US" sz="1300" dirty="0"/>
                    </a:p>
                  </a:txBody>
                  <a:tcPr marL="91440" marR="91440" marT="27432" marB="27432"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tx1"/>
                          </a:solidFill>
                        </a:rPr>
                        <a:t>5.833</a:t>
                      </a:r>
                      <a:endParaRPr lang="en-US" sz="1300" dirty="0"/>
                    </a:p>
                  </a:txBody>
                  <a:tcPr marL="91440" marR="91440" marT="27432" marB="27432"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accent4"/>
                          </a:solidFill>
                        </a:rPr>
                        <a:t>2.1× worse</a:t>
                      </a:r>
                      <a:endParaRPr lang="en-US" sz="1300" dirty="0"/>
                    </a:p>
                  </a:txBody>
                  <a:tcPr marL="91440" marR="91440" marT="27432" marB="27432"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10896">
                <a:tc>
                  <a:txBody>
                    <a:bodyPr/>
                    <a:lstStyle/>
                    <a:p>
                      <a:pPr indent="0" marL="0">
                        <a:buNone/>
                      </a:pPr>
                      <a:r>
                        <a:rPr lang="en-US" sz="1300" dirty="0">
                          <a:solidFill>
                            <a:schemeClr val="tx1"/>
                          </a:solidFill>
                        </a:rPr>
                        <a:t>Residual, MSE on scaled data*</a:t>
                      </a:r>
                      <a:endParaRPr lang="en-US" sz="1300" dirty="0"/>
                    </a:p>
                  </a:txBody>
                  <a:tcPr marL="91440" marR="91440" marT="27432" marB="27432"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tx1"/>
                          </a:solidFill>
                        </a:rPr>
                        <a:t>2.777</a:t>
                      </a:r>
                      <a:endParaRPr lang="en-US" sz="1300" dirty="0"/>
                    </a:p>
                  </a:txBody>
                  <a:tcPr marL="91440" marR="91440" marT="27432" marB="27432"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accent4"/>
                          </a:solidFill>
                        </a:rPr>
                        <a:t>1.3% worse</a:t>
                      </a:r>
                      <a:endParaRPr lang="en-US" sz="1300" dirty="0"/>
                    </a:p>
                  </a:txBody>
                  <a:tcPr marL="91440" marR="91440" marT="27432" marB="27432"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10896">
                <a:tc>
                  <a:txBody>
                    <a:bodyPr/>
                    <a:lstStyle/>
                    <a:p>
                      <a:pPr indent="0" marL="0">
                        <a:buNone/>
                      </a:pPr>
                      <a:r>
                        <a:rPr lang="en-US" sz="1300" b="1" dirty="0">
                          <a:solidFill>
                            <a:schemeClr val="tx1"/>
                          </a:solidFill>
                        </a:rPr>
                        <a:t>Residual, MAE in Mbit/s (final)</a:t>
                      </a:r>
                      <a:endParaRPr lang="en-US" sz="1300" dirty="0"/>
                    </a:p>
                  </a:txBody>
                  <a:tcPr marL="91440" marR="91440" marT="27432" marB="27432"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accent5"/>
                    </a:solidFill>
                  </a:tcPr>
                </a:tc>
                <a:tc>
                  <a:txBody>
                    <a:bodyPr/>
                    <a:lstStyle/>
                    <a:p>
                      <a:pPr algn="r" indent="0" marL="0">
                        <a:buNone/>
                      </a:pPr>
                      <a:r>
                        <a:rPr lang="en-US" sz="1300" b="1" dirty="0">
                          <a:solidFill>
                            <a:schemeClr val="tx1"/>
                          </a:solidFill>
                        </a:rPr>
                        <a:t>2.693</a:t>
                      </a:r>
                      <a:endParaRPr lang="en-US" sz="1300" dirty="0"/>
                    </a:p>
                  </a:txBody>
                  <a:tcPr marL="91440" marR="91440" marT="27432" marB="27432"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accent5"/>
                    </a:solidFill>
                  </a:tcPr>
                </a:tc>
                <a:tc>
                  <a:txBody>
                    <a:bodyPr/>
                    <a:lstStyle/>
                    <a:p>
                      <a:pPr algn="r" indent="0" marL="0">
                        <a:buNone/>
                      </a:pPr>
                      <a:r>
                        <a:rPr lang="en-US" sz="1300" b="1" dirty="0">
                          <a:solidFill>
                            <a:schemeClr val="accent3"/>
                          </a:solidFill>
                        </a:rPr>
                        <a:t>1.8% better</a:t>
                      </a:r>
                      <a:endParaRPr lang="en-US" sz="1300" dirty="0"/>
                    </a:p>
                  </a:txBody>
                  <a:tcPr marL="91440" marR="91440" marT="27432" marB="27432"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accent5"/>
                    </a:solidFill>
                  </a:tcPr>
                </a:tc>
              </a:tr>
            </a:tbl>
          </a:graphicData>
        </a:graphic>
      </p:graphicFrame>
      <p:sp>
        <p:nvSpPr>
          <p:cNvPr id="53" name="Text 50"/>
          <p:cNvSpPr txBox="1"/>
          <p:nvPr/>
        </p:nvSpPr>
        <p:spPr>
          <a:xfrm>
            <a:off x="5257800" y="5870448"/>
            <a:ext cx="6385255" cy="457200"/>
          </a:xfrm>
          <a:prstGeom prst="rect">
            <a:avLst/>
          </a:prstGeom>
          <a:noFill/>
          <a:ln/>
        </p:spPr>
        <p:txBody>
          <a:bodyPr wrap="square" lIns="0" tIns="0" rIns="0" bIns="0" rtlCol="0" anchor="t"/>
          <a:lstStyle/>
          <a:p>
            <a:pPr indent="0" marL="0">
              <a:buNone/>
            </a:pPr>
            <a:r>
              <a:rPr lang="en-US" sz="1100" dirty="0">
                <a:solidFill>
                  <a:schemeClr val="tx2"/>
                </a:solidFill>
              </a:rPr>
              <a:t>*with forecast clipping. One-at-a-time tuning (filters, kernel, units, dropout, learning rate) found no change better by &gt;0.5%, so the planned settings were kept.</a:t>
            </a:r>
            <a:endParaRPr lang="en-US" sz="11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Implementation, Technology Stack and Modules</a:t>
            </a:r>
            <a:endParaRPr lang="en-US" sz="3200" dirty="0"/>
          </a:p>
        </p:txBody>
      </p:sp>
      <p:sp>
        <p:nvSpPr>
          <p:cNvPr id="3" name="Shape 1"/>
          <p:cNvSpPr/>
          <p:nvPr/>
        </p:nvSpPr>
        <p:spPr>
          <a:xfrm>
            <a:off x="548640" y="1234440"/>
            <a:ext cx="1737360" cy="658368"/>
          </a:xfrm>
          <a:prstGeom prst="roundRect">
            <a:avLst>
              <a:gd name="adj" fmla="val 11111"/>
            </a:avLst>
          </a:prstGeom>
          <a:solidFill>
            <a:schemeClr val="bg2"/>
          </a:solidFill>
          <a:ln w="9525">
            <a:solidFill>
              <a:schemeClr val="bg2"/>
            </a:solidFill>
            <a:prstDash val="solid"/>
          </a:ln>
        </p:spPr>
      </p:sp>
      <p:sp>
        <p:nvSpPr>
          <p:cNvPr id="4" name="Text 2"/>
          <p:cNvSpPr txBox="1"/>
          <p:nvPr/>
        </p:nvSpPr>
        <p:spPr>
          <a:xfrm>
            <a:off x="548640" y="1280160"/>
            <a:ext cx="1737360" cy="310896"/>
          </a:xfrm>
          <a:prstGeom prst="rect">
            <a:avLst/>
          </a:prstGeom>
          <a:noFill/>
          <a:ln/>
        </p:spPr>
        <p:txBody>
          <a:bodyPr wrap="square" lIns="0" tIns="0" rIns="0" bIns="0" rtlCol="0" anchor="t"/>
          <a:lstStyle/>
          <a:p>
            <a:pPr algn="ctr" indent="0" marL="0">
              <a:buNone/>
            </a:pPr>
            <a:r>
              <a:rPr lang="en-US" sz="1500" b="1" dirty="0">
                <a:solidFill>
                  <a:schemeClr val="tx1"/>
                </a:solidFill>
              </a:rPr>
              <a:t>Python</a:t>
            </a:r>
            <a:endParaRPr lang="en-US" sz="1500" dirty="0"/>
          </a:p>
        </p:txBody>
      </p:sp>
      <p:sp>
        <p:nvSpPr>
          <p:cNvPr id="5" name="Text 3"/>
          <p:cNvSpPr txBox="1"/>
          <p:nvPr/>
        </p:nvSpPr>
        <p:spPr>
          <a:xfrm>
            <a:off x="548640" y="1581912"/>
            <a:ext cx="1737360" cy="256032"/>
          </a:xfrm>
          <a:prstGeom prst="rect">
            <a:avLst/>
          </a:prstGeom>
          <a:noFill/>
          <a:ln/>
        </p:spPr>
        <p:txBody>
          <a:bodyPr wrap="square" lIns="0" tIns="0" rIns="0" bIns="0" rtlCol="0" anchor="t"/>
          <a:lstStyle/>
          <a:p>
            <a:pPr algn="ctr" indent="0" marL="0">
              <a:buNone/>
            </a:pPr>
            <a:r>
              <a:rPr lang="en-US" sz="1200" dirty="0">
                <a:solidFill>
                  <a:schemeClr val="tx2"/>
                </a:solidFill>
              </a:rPr>
              <a:t>3.13.5</a:t>
            </a:r>
            <a:endParaRPr lang="en-US" sz="1200" dirty="0"/>
          </a:p>
        </p:txBody>
      </p:sp>
      <p:sp>
        <p:nvSpPr>
          <p:cNvPr id="6" name="Shape 4"/>
          <p:cNvSpPr/>
          <p:nvPr/>
        </p:nvSpPr>
        <p:spPr>
          <a:xfrm>
            <a:off x="2420051" y="1234440"/>
            <a:ext cx="1737360" cy="658368"/>
          </a:xfrm>
          <a:prstGeom prst="roundRect">
            <a:avLst>
              <a:gd name="adj" fmla="val 11111"/>
            </a:avLst>
          </a:prstGeom>
          <a:solidFill>
            <a:schemeClr val="accent1"/>
          </a:solidFill>
          <a:ln w="9525">
            <a:solidFill>
              <a:schemeClr val="accent1"/>
            </a:solidFill>
            <a:prstDash val="solid"/>
          </a:ln>
        </p:spPr>
      </p:sp>
      <p:sp>
        <p:nvSpPr>
          <p:cNvPr id="7" name="Text 5"/>
          <p:cNvSpPr txBox="1"/>
          <p:nvPr/>
        </p:nvSpPr>
        <p:spPr>
          <a:xfrm>
            <a:off x="2420051" y="128016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TensorFlow / Keras</a:t>
            </a:r>
            <a:endParaRPr lang="en-US" sz="1500" dirty="0"/>
          </a:p>
        </p:txBody>
      </p:sp>
      <p:sp>
        <p:nvSpPr>
          <p:cNvPr id="8" name="Text 6"/>
          <p:cNvSpPr txBox="1"/>
          <p:nvPr/>
        </p:nvSpPr>
        <p:spPr>
          <a:xfrm>
            <a:off x="2420051" y="1581912"/>
            <a:ext cx="1737360" cy="256032"/>
          </a:xfrm>
          <a:prstGeom prst="rect">
            <a:avLst/>
          </a:prstGeom>
          <a:noFill/>
          <a:ln/>
        </p:spPr>
        <p:txBody>
          <a:bodyPr wrap="square" lIns="0" tIns="0" rIns="0" bIns="0" rtlCol="0" anchor="t"/>
          <a:lstStyle/>
          <a:p>
            <a:pPr algn="ctr" indent="0" marL="0">
              <a:buNone/>
            </a:pPr>
            <a:r>
              <a:rPr lang="en-US" sz="1200" dirty="0">
                <a:solidFill>
                  <a:schemeClr val="accent5"/>
                </a:solidFill>
              </a:rPr>
              <a:t>2.21.0</a:t>
            </a:r>
            <a:endParaRPr lang="en-US" sz="1200" dirty="0"/>
          </a:p>
        </p:txBody>
      </p:sp>
      <p:sp>
        <p:nvSpPr>
          <p:cNvPr id="9" name="Shape 7"/>
          <p:cNvSpPr/>
          <p:nvPr/>
        </p:nvSpPr>
        <p:spPr>
          <a:xfrm>
            <a:off x="4291462" y="1234440"/>
            <a:ext cx="1737360" cy="658368"/>
          </a:xfrm>
          <a:prstGeom prst="roundRect">
            <a:avLst>
              <a:gd name="adj" fmla="val 11111"/>
            </a:avLst>
          </a:prstGeom>
          <a:solidFill>
            <a:schemeClr val="bg2"/>
          </a:solidFill>
          <a:ln w="9525">
            <a:solidFill>
              <a:schemeClr val="bg2"/>
            </a:solidFill>
            <a:prstDash val="solid"/>
          </a:ln>
        </p:spPr>
      </p:sp>
      <p:sp>
        <p:nvSpPr>
          <p:cNvPr id="10" name="Text 8"/>
          <p:cNvSpPr txBox="1"/>
          <p:nvPr/>
        </p:nvSpPr>
        <p:spPr>
          <a:xfrm>
            <a:off x="4291462" y="1280160"/>
            <a:ext cx="1737360" cy="310896"/>
          </a:xfrm>
          <a:prstGeom prst="rect">
            <a:avLst/>
          </a:prstGeom>
          <a:noFill/>
          <a:ln/>
        </p:spPr>
        <p:txBody>
          <a:bodyPr wrap="square" lIns="0" tIns="0" rIns="0" bIns="0" rtlCol="0" anchor="t"/>
          <a:lstStyle/>
          <a:p>
            <a:pPr algn="ctr" indent="0" marL="0">
              <a:buNone/>
            </a:pPr>
            <a:r>
              <a:rPr lang="en-US" sz="1500" b="1" dirty="0">
                <a:solidFill>
                  <a:schemeClr val="tx1"/>
                </a:solidFill>
              </a:rPr>
              <a:t>NumPy</a:t>
            </a:r>
            <a:endParaRPr lang="en-US" sz="1500" dirty="0"/>
          </a:p>
        </p:txBody>
      </p:sp>
      <p:sp>
        <p:nvSpPr>
          <p:cNvPr id="11" name="Text 9"/>
          <p:cNvSpPr txBox="1"/>
          <p:nvPr/>
        </p:nvSpPr>
        <p:spPr>
          <a:xfrm>
            <a:off x="4291462" y="1581912"/>
            <a:ext cx="1737360" cy="256032"/>
          </a:xfrm>
          <a:prstGeom prst="rect">
            <a:avLst/>
          </a:prstGeom>
          <a:noFill/>
          <a:ln/>
        </p:spPr>
        <p:txBody>
          <a:bodyPr wrap="square" lIns="0" tIns="0" rIns="0" bIns="0" rtlCol="0" anchor="t"/>
          <a:lstStyle/>
          <a:p>
            <a:pPr algn="ctr" indent="0" marL="0">
              <a:buNone/>
            </a:pPr>
            <a:r>
              <a:rPr lang="en-US" sz="1200" dirty="0">
                <a:solidFill>
                  <a:schemeClr val="tx2"/>
                </a:solidFill>
              </a:rPr>
              <a:t>2.5.3</a:t>
            </a:r>
            <a:endParaRPr lang="en-US" sz="1200" dirty="0"/>
          </a:p>
        </p:txBody>
      </p:sp>
      <p:sp>
        <p:nvSpPr>
          <p:cNvPr id="12" name="Shape 10"/>
          <p:cNvSpPr/>
          <p:nvPr/>
        </p:nvSpPr>
        <p:spPr>
          <a:xfrm>
            <a:off x="6162873" y="1234440"/>
            <a:ext cx="1737360" cy="658368"/>
          </a:xfrm>
          <a:prstGeom prst="roundRect">
            <a:avLst>
              <a:gd name="adj" fmla="val 11111"/>
            </a:avLst>
          </a:prstGeom>
          <a:solidFill>
            <a:schemeClr val="bg2"/>
          </a:solidFill>
          <a:ln w="9525">
            <a:solidFill>
              <a:schemeClr val="bg2"/>
            </a:solidFill>
            <a:prstDash val="solid"/>
          </a:ln>
        </p:spPr>
      </p:sp>
      <p:sp>
        <p:nvSpPr>
          <p:cNvPr id="13" name="Text 11"/>
          <p:cNvSpPr txBox="1"/>
          <p:nvPr/>
        </p:nvSpPr>
        <p:spPr>
          <a:xfrm>
            <a:off x="6162873" y="1280160"/>
            <a:ext cx="1737360" cy="310896"/>
          </a:xfrm>
          <a:prstGeom prst="rect">
            <a:avLst/>
          </a:prstGeom>
          <a:noFill/>
          <a:ln/>
        </p:spPr>
        <p:txBody>
          <a:bodyPr wrap="square" lIns="0" tIns="0" rIns="0" bIns="0" rtlCol="0" anchor="t"/>
          <a:lstStyle/>
          <a:p>
            <a:pPr algn="ctr" indent="0" marL="0">
              <a:buNone/>
            </a:pPr>
            <a:r>
              <a:rPr lang="en-US" sz="1500" b="1" dirty="0">
                <a:solidFill>
                  <a:schemeClr val="tx1"/>
                </a:solidFill>
              </a:rPr>
              <a:t>pandas</a:t>
            </a:r>
            <a:endParaRPr lang="en-US" sz="1500" dirty="0"/>
          </a:p>
        </p:txBody>
      </p:sp>
      <p:sp>
        <p:nvSpPr>
          <p:cNvPr id="14" name="Text 12"/>
          <p:cNvSpPr txBox="1"/>
          <p:nvPr/>
        </p:nvSpPr>
        <p:spPr>
          <a:xfrm>
            <a:off x="6162873" y="1581912"/>
            <a:ext cx="1737360" cy="256032"/>
          </a:xfrm>
          <a:prstGeom prst="rect">
            <a:avLst/>
          </a:prstGeom>
          <a:noFill/>
          <a:ln/>
        </p:spPr>
        <p:txBody>
          <a:bodyPr wrap="square" lIns="0" tIns="0" rIns="0" bIns="0" rtlCol="0" anchor="t"/>
          <a:lstStyle/>
          <a:p>
            <a:pPr algn="ctr" indent="0" marL="0">
              <a:buNone/>
            </a:pPr>
            <a:r>
              <a:rPr lang="en-US" sz="1200" dirty="0">
                <a:solidFill>
                  <a:schemeClr val="tx2"/>
                </a:solidFill>
              </a:rPr>
              <a:t>3.0.6</a:t>
            </a:r>
            <a:endParaRPr lang="en-US" sz="1200" dirty="0"/>
          </a:p>
        </p:txBody>
      </p:sp>
      <p:sp>
        <p:nvSpPr>
          <p:cNvPr id="15" name="Shape 13"/>
          <p:cNvSpPr/>
          <p:nvPr/>
        </p:nvSpPr>
        <p:spPr>
          <a:xfrm>
            <a:off x="8034284" y="1234440"/>
            <a:ext cx="1737360" cy="658368"/>
          </a:xfrm>
          <a:prstGeom prst="roundRect">
            <a:avLst>
              <a:gd name="adj" fmla="val 11111"/>
            </a:avLst>
          </a:prstGeom>
          <a:solidFill>
            <a:schemeClr val="bg2"/>
          </a:solidFill>
          <a:ln w="9525">
            <a:solidFill>
              <a:schemeClr val="bg2"/>
            </a:solidFill>
            <a:prstDash val="solid"/>
          </a:ln>
        </p:spPr>
      </p:sp>
      <p:sp>
        <p:nvSpPr>
          <p:cNvPr id="16" name="Text 14"/>
          <p:cNvSpPr txBox="1"/>
          <p:nvPr/>
        </p:nvSpPr>
        <p:spPr>
          <a:xfrm>
            <a:off x="8034284" y="1280160"/>
            <a:ext cx="1737360" cy="310896"/>
          </a:xfrm>
          <a:prstGeom prst="rect">
            <a:avLst/>
          </a:prstGeom>
          <a:noFill/>
          <a:ln/>
        </p:spPr>
        <p:txBody>
          <a:bodyPr wrap="square" lIns="0" tIns="0" rIns="0" bIns="0" rtlCol="0" anchor="t"/>
          <a:lstStyle/>
          <a:p>
            <a:pPr algn="ctr" indent="0" marL="0">
              <a:buNone/>
            </a:pPr>
            <a:r>
              <a:rPr lang="en-US" sz="1500" b="1" dirty="0">
                <a:solidFill>
                  <a:schemeClr val="tx1"/>
                </a:solidFill>
              </a:rPr>
              <a:t>statsmodels</a:t>
            </a:r>
            <a:endParaRPr lang="en-US" sz="1500" dirty="0"/>
          </a:p>
        </p:txBody>
      </p:sp>
      <p:sp>
        <p:nvSpPr>
          <p:cNvPr id="17" name="Text 15"/>
          <p:cNvSpPr txBox="1"/>
          <p:nvPr/>
        </p:nvSpPr>
        <p:spPr>
          <a:xfrm>
            <a:off x="8034284" y="1581912"/>
            <a:ext cx="1737360" cy="256032"/>
          </a:xfrm>
          <a:prstGeom prst="rect">
            <a:avLst/>
          </a:prstGeom>
          <a:noFill/>
          <a:ln/>
        </p:spPr>
        <p:txBody>
          <a:bodyPr wrap="square" lIns="0" tIns="0" rIns="0" bIns="0" rtlCol="0" anchor="t"/>
          <a:lstStyle/>
          <a:p>
            <a:pPr algn="ctr" indent="0" marL="0">
              <a:buNone/>
            </a:pPr>
            <a:r>
              <a:rPr lang="en-US" sz="1200" dirty="0">
                <a:solidFill>
                  <a:schemeClr val="tx2"/>
                </a:solidFill>
              </a:rPr>
              <a:t>0.15.0 · ARIMA</a:t>
            </a:r>
            <a:endParaRPr lang="en-US" sz="1200" dirty="0"/>
          </a:p>
        </p:txBody>
      </p:sp>
      <p:sp>
        <p:nvSpPr>
          <p:cNvPr id="18" name="Shape 16"/>
          <p:cNvSpPr/>
          <p:nvPr/>
        </p:nvSpPr>
        <p:spPr>
          <a:xfrm>
            <a:off x="9905695" y="1234440"/>
            <a:ext cx="1737360" cy="658368"/>
          </a:xfrm>
          <a:prstGeom prst="roundRect">
            <a:avLst>
              <a:gd name="adj" fmla="val 11111"/>
            </a:avLst>
          </a:prstGeom>
          <a:solidFill>
            <a:schemeClr val="bg2"/>
          </a:solidFill>
          <a:ln w="9525">
            <a:solidFill>
              <a:schemeClr val="bg2"/>
            </a:solidFill>
            <a:prstDash val="solid"/>
          </a:ln>
        </p:spPr>
      </p:sp>
      <p:sp>
        <p:nvSpPr>
          <p:cNvPr id="19" name="Text 17"/>
          <p:cNvSpPr txBox="1"/>
          <p:nvPr/>
        </p:nvSpPr>
        <p:spPr>
          <a:xfrm>
            <a:off x="9905695" y="1280160"/>
            <a:ext cx="1737360" cy="310896"/>
          </a:xfrm>
          <a:prstGeom prst="rect">
            <a:avLst/>
          </a:prstGeom>
          <a:noFill/>
          <a:ln/>
        </p:spPr>
        <p:txBody>
          <a:bodyPr wrap="square" lIns="0" tIns="0" rIns="0" bIns="0" rtlCol="0" anchor="t"/>
          <a:lstStyle/>
          <a:p>
            <a:pPr algn="ctr" indent="0" marL="0">
              <a:buNone/>
            </a:pPr>
            <a:r>
              <a:rPr lang="en-US" sz="1500" b="1" dirty="0">
                <a:solidFill>
                  <a:schemeClr val="tx1"/>
                </a:solidFill>
              </a:rPr>
              <a:t>matplotlib</a:t>
            </a:r>
            <a:endParaRPr lang="en-US" sz="1500" dirty="0"/>
          </a:p>
        </p:txBody>
      </p:sp>
      <p:sp>
        <p:nvSpPr>
          <p:cNvPr id="20" name="Text 18"/>
          <p:cNvSpPr txBox="1"/>
          <p:nvPr/>
        </p:nvSpPr>
        <p:spPr>
          <a:xfrm>
            <a:off x="9905695" y="1581912"/>
            <a:ext cx="1737360" cy="256032"/>
          </a:xfrm>
          <a:prstGeom prst="rect">
            <a:avLst/>
          </a:prstGeom>
          <a:noFill/>
          <a:ln/>
        </p:spPr>
        <p:txBody>
          <a:bodyPr wrap="square" lIns="0" tIns="0" rIns="0" bIns="0" rtlCol="0" anchor="t"/>
          <a:lstStyle/>
          <a:p>
            <a:pPr algn="ctr" indent="0" marL="0">
              <a:buNone/>
            </a:pPr>
            <a:r>
              <a:rPr lang="en-US" sz="1200" dirty="0">
                <a:solidFill>
                  <a:schemeClr val="tx2"/>
                </a:solidFill>
              </a:rPr>
              <a:t>3.11.2</a:t>
            </a:r>
            <a:endParaRPr lang="en-US" sz="1200" dirty="0"/>
          </a:p>
        </p:txBody>
      </p:sp>
      <p:sp>
        <p:nvSpPr>
          <p:cNvPr id="21" name="Text 19"/>
          <p:cNvSpPr txBox="1"/>
          <p:nvPr/>
        </p:nvSpPr>
        <p:spPr>
          <a:xfrm>
            <a:off x="548640" y="1984248"/>
            <a:ext cx="11094415" cy="274320"/>
          </a:xfrm>
          <a:prstGeom prst="rect">
            <a:avLst/>
          </a:prstGeom>
          <a:noFill/>
          <a:ln/>
        </p:spPr>
        <p:txBody>
          <a:bodyPr wrap="square" lIns="0" tIns="0" rIns="0" bIns="0" rtlCol="0" anchor="t"/>
          <a:lstStyle/>
          <a:p>
            <a:pPr algn="ctr" indent="0" marL="0">
              <a:buNone/>
            </a:pPr>
            <a:r>
              <a:rPr lang="en-US" sz="1200" dirty="0">
                <a:solidFill>
                  <a:schemeClr val="tx2"/>
                </a:solidFill>
              </a:rPr>
              <a:t>VS Code with # %% cells + ipykernel  ·  CPU only, no GPU  ·  Data: Abilene TM (Y. Zhang, UT Austin) and GÉANT (TOTEM project)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7223760" cy="914400"/>
        </p:xfrm>
        <a:graphic>
          <a:graphicData uri="http://schemas.openxmlformats.org/drawingml/2006/table">
            <a:tbl>
              <a:tblPr/>
              <a:tblGrid>
                <a:gridCol w="1691640"/>
                <a:gridCol w="4709160"/>
                <a:gridCol w="822960"/>
              </a:tblGrid>
              <a:tr h="352044">
                <a:tc>
                  <a:txBody>
                    <a:bodyPr/>
                    <a:lstStyle/>
                    <a:p>
                      <a:pPr indent="0" marL="0">
                        <a:buNone/>
                      </a:pPr>
                      <a:r>
                        <a:rPr lang="en-US" sz="1300" b="1" dirty="0">
                          <a:solidFill>
                            <a:schemeClr val="bg1"/>
                          </a:solidFill>
                        </a:rPr>
                        <a:t>Module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Responsibility</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Status</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tx1"/>
                    </a:solidFill>
                  </a:tcPr>
                </a:tc>
              </a:tr>
              <a:tr h="352044">
                <a:tc>
                  <a:txBody>
                    <a:bodyPr/>
                    <a:lstStyle/>
                    <a:p>
                      <a:pPr indent="0" marL="0">
                        <a:buNone/>
                      </a:pPr>
                      <a:r>
                        <a:rPr lang="en-US" sz="1200" b="1" dirty="0">
                          <a:solidFill>
                            <a:schemeClr val="tx1"/>
                          </a:solidFill>
                          <a:latin typeface="Consolas" pitchFamily="34" charset="0"/>
                          <a:ea typeface="Consolas" pitchFamily="34" charset="-122"/>
                          <a:cs typeface="Consolas" pitchFamily="34" charset="-120"/>
                        </a:rPr>
                        <a:t>common.py</a:t>
                      </a:r>
                      <a:endParaRPr lang="en-US" sz="1200" dirty="0">
                        <a:latin typeface="Consolas" charset="0"/>
                        <a:ea typeface="Consolas" charset="0"/>
                        <a:cs typeface="Consolas" charset="0"/>
                      </a:endParaRPr>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300" dirty="0">
                          <a:solidFill>
                            <a:schemeClr val="tx1"/>
                          </a:solidFill>
                        </a:rPr>
                        <a:t>Shared logic: scaler, windows, split, models, loss, metrics, report page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ctr" indent="0" marL="0">
                        <a:buNone/>
                      </a:pPr>
                      <a:r>
                        <a:rPr lang="en-US" sz="1300" b="1" dirty="0">
                          <a:solidFill>
                            <a:schemeClr val="accent3"/>
                          </a:solidFill>
                        </a:rPr>
                        <a:t>Done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52044">
                <a:tc>
                  <a:txBody>
                    <a:bodyPr/>
                    <a:lstStyle/>
                    <a:p>
                      <a:pPr indent="0" marL="0">
                        <a:buNone/>
                      </a:pPr>
                      <a:r>
                        <a:rPr lang="en-US" sz="1200" b="1" dirty="0">
                          <a:solidFill>
                            <a:schemeClr val="tx1"/>
                          </a:solidFill>
                          <a:latin typeface="Consolas" pitchFamily="34" charset="0"/>
                          <a:ea typeface="Consolas" pitchFamily="34" charset="-122"/>
                          <a:cs typeface="Consolas" pitchFamily="34" charset="-120"/>
                        </a:rPr>
                        <a:t>01_data.py</a:t>
                      </a:r>
                      <a:endParaRPr lang="en-US" sz="1200" dirty="0">
                        <a:latin typeface="Consolas" charset="0"/>
                        <a:ea typeface="Consolas" charset="0"/>
                        <a:cs typeface="Consolas" charset="0"/>
                      </a:endParaRPr>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300" dirty="0">
                          <a:solidFill>
                            <a:schemeClr val="tx1"/>
                          </a:solidFill>
                        </a:rPr>
                        <a:t>Parse Abilene, apply cleaning rules, window, split, scale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ctr" indent="0" marL="0">
                        <a:buNone/>
                      </a:pPr>
                      <a:r>
                        <a:rPr lang="en-US" sz="1300" b="1" dirty="0">
                          <a:solidFill>
                            <a:schemeClr val="accent3"/>
                          </a:solidFill>
                        </a:rPr>
                        <a:t>Done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52044">
                <a:tc>
                  <a:txBody>
                    <a:bodyPr/>
                    <a:lstStyle/>
                    <a:p>
                      <a:pPr indent="0" marL="0">
                        <a:buNone/>
                      </a:pPr>
                      <a:r>
                        <a:rPr lang="en-US" sz="1200" b="1" dirty="0">
                          <a:solidFill>
                            <a:schemeClr val="tx1"/>
                          </a:solidFill>
                          <a:latin typeface="Consolas" pitchFamily="34" charset="0"/>
                          <a:ea typeface="Consolas" pitchFamily="34" charset="-122"/>
                          <a:cs typeface="Consolas" pitchFamily="34" charset="-120"/>
                        </a:rPr>
                        <a:t>02_baselines.py</a:t>
                      </a:r>
                      <a:endParaRPr lang="en-US" sz="1200" dirty="0">
                        <a:latin typeface="Consolas" charset="0"/>
                        <a:ea typeface="Consolas" charset="0"/>
                        <a:cs typeface="Consolas" charset="0"/>
                      </a:endParaRPr>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300" dirty="0">
                          <a:solidFill>
                            <a:schemeClr val="tx1"/>
                          </a:solidFill>
                        </a:rPr>
                        <a:t>Persistence and ARIMA baselines</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ctr" indent="0" marL="0">
                        <a:buNone/>
                      </a:pPr>
                      <a:r>
                        <a:rPr lang="en-US" sz="1300" b="1" dirty="0">
                          <a:solidFill>
                            <a:schemeClr val="accent3"/>
                          </a:solidFill>
                        </a:rPr>
                        <a:t>Done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52044">
                <a:tc>
                  <a:txBody>
                    <a:bodyPr/>
                    <a:lstStyle/>
                    <a:p>
                      <a:pPr indent="0" marL="0">
                        <a:buNone/>
                      </a:pPr>
                      <a:r>
                        <a:rPr lang="en-US" sz="1200" b="1" dirty="0">
                          <a:solidFill>
                            <a:schemeClr val="tx1"/>
                          </a:solidFill>
                          <a:latin typeface="Consolas" pitchFamily="34" charset="0"/>
                          <a:ea typeface="Consolas" pitchFamily="34" charset="-122"/>
                          <a:cs typeface="Consolas" pitchFamily="34" charset="-120"/>
                        </a:rPr>
                        <a:t>03_models.py</a:t>
                      </a:r>
                      <a:endParaRPr lang="en-US" sz="1200" dirty="0">
                        <a:latin typeface="Consolas" charset="0"/>
                        <a:ea typeface="Consolas" charset="0"/>
                        <a:cs typeface="Consolas" charset="0"/>
                      </a:endParaRPr>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300" dirty="0">
                          <a:solidFill>
                            <a:schemeClr val="tx1"/>
                          </a:solidFill>
                        </a:rPr>
                        <a:t>LSTM-only and CNN-only, plain and residual</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ctr" indent="0" marL="0">
                        <a:buNone/>
                      </a:pPr>
                      <a:r>
                        <a:rPr lang="en-US" sz="1300" b="1" dirty="0">
                          <a:solidFill>
                            <a:schemeClr val="accent3"/>
                          </a:solidFill>
                        </a:rPr>
                        <a:t>Done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52044">
                <a:tc>
                  <a:txBody>
                    <a:bodyPr/>
                    <a:lstStyle/>
                    <a:p>
                      <a:pPr indent="0" marL="0">
                        <a:buNone/>
                      </a:pPr>
                      <a:r>
                        <a:rPr lang="en-US" sz="1200" b="1" dirty="0">
                          <a:solidFill>
                            <a:schemeClr val="tx1"/>
                          </a:solidFill>
                          <a:latin typeface="Consolas" pitchFamily="34" charset="0"/>
                          <a:ea typeface="Consolas" pitchFamily="34" charset="-122"/>
                          <a:cs typeface="Consolas" pitchFamily="34" charset="-120"/>
                        </a:rPr>
                        <a:t>03b / 03c</a:t>
                      </a:r>
                      <a:endParaRPr lang="en-US" sz="1200" dirty="0">
                        <a:latin typeface="Consolas" charset="0"/>
                        <a:ea typeface="Consolas" charset="0"/>
                        <a:cs typeface="Consolas" charset="0"/>
                      </a:endParaRPr>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300" dirty="0">
                          <a:solidFill>
                            <a:schemeClr val="tx1"/>
                          </a:solidFill>
                        </a:rPr>
                        <a:t>CNN-LSTM, loss comparison, tuning, 3 seeds</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ctr" indent="0" marL="0">
                        <a:buNone/>
                      </a:pPr>
                      <a:r>
                        <a:rPr lang="en-US" sz="1300" b="1" dirty="0">
                          <a:solidFill>
                            <a:schemeClr val="accent3"/>
                          </a:solidFill>
                        </a:rPr>
                        <a:t>Done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52044">
                <a:tc>
                  <a:txBody>
                    <a:bodyPr/>
                    <a:lstStyle/>
                    <a:p>
                      <a:pPr indent="0" marL="0">
                        <a:buNone/>
                      </a:pPr>
                      <a:r>
                        <a:rPr lang="en-US" sz="1200" b="1" dirty="0">
                          <a:solidFill>
                            <a:schemeClr val="tx1"/>
                          </a:solidFill>
                          <a:latin typeface="Consolas" pitchFamily="34" charset="0"/>
                          <a:ea typeface="Consolas" pitchFamily="34" charset="-122"/>
                          <a:cs typeface="Consolas" pitchFamily="34" charset="-120"/>
                        </a:rPr>
                        <a:t>03d_horizons.py</a:t>
                      </a:r>
                      <a:endParaRPr lang="en-US" sz="1200" dirty="0">
                        <a:latin typeface="Consolas" charset="0"/>
                        <a:ea typeface="Consolas" charset="0"/>
                        <a:cs typeface="Consolas" charset="0"/>
                      </a:endParaRPr>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300" dirty="0">
                          <a:solidFill>
                            <a:schemeClr val="tx1"/>
                          </a:solidFill>
                        </a:rPr>
                        <a:t>30 and 60 min horizons, ablations</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ctr" indent="0" marL="0">
                        <a:buNone/>
                      </a:pPr>
                      <a:r>
                        <a:rPr lang="en-US" sz="1300" b="1" dirty="0">
                          <a:solidFill>
                            <a:schemeClr val="accent3"/>
                          </a:solidFill>
                        </a:rPr>
                        <a:t>Done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52044">
                <a:tc>
                  <a:txBody>
                    <a:bodyPr/>
                    <a:lstStyle/>
                    <a:p>
                      <a:pPr indent="0" marL="0">
                        <a:buNone/>
                      </a:pPr>
                      <a:r>
                        <a:rPr lang="en-US" sz="1200" b="1" dirty="0">
                          <a:solidFill>
                            <a:schemeClr val="tx1"/>
                          </a:solidFill>
                          <a:latin typeface="Consolas" pitchFamily="34" charset="0"/>
                          <a:ea typeface="Consolas" pitchFamily="34" charset="-122"/>
                          <a:cs typeface="Consolas" pitchFamily="34" charset="-120"/>
                        </a:rPr>
                        <a:t>03e_geant.py</a:t>
                      </a:r>
                      <a:endParaRPr lang="en-US" sz="1200" dirty="0">
                        <a:latin typeface="Consolas" charset="0"/>
                        <a:ea typeface="Consolas" charset="0"/>
                        <a:cs typeface="Consolas" charset="0"/>
                      </a:endParaRPr>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300" dirty="0">
                          <a:solidFill>
                            <a:schemeClr val="tx1"/>
                          </a:solidFill>
                        </a:rPr>
                        <a:t>GÉANT data, retraining, link-level check</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ctr" indent="0" marL="0">
                        <a:buNone/>
                      </a:pPr>
                      <a:r>
                        <a:rPr lang="en-US" sz="1300" b="1" dirty="0">
                          <a:solidFill>
                            <a:schemeClr val="accent3"/>
                          </a:solidFill>
                        </a:rPr>
                        <a:t>Done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52044">
                <a:tc>
                  <a:txBody>
                    <a:bodyPr/>
                    <a:lstStyle/>
                    <a:p>
                      <a:pPr indent="0" marL="0">
                        <a:buNone/>
                      </a:pPr>
                      <a:r>
                        <a:rPr lang="en-US" sz="1200" b="1" dirty="0">
                          <a:solidFill>
                            <a:schemeClr val="tx1"/>
                          </a:solidFill>
                          <a:latin typeface="Consolas" pitchFamily="34" charset="0"/>
                          <a:ea typeface="Consolas" pitchFamily="34" charset="-122"/>
                          <a:cs typeface="Consolas" pitchFamily="34" charset="-120"/>
                        </a:rPr>
                        <a:t>04_analysis.py</a:t>
                      </a:r>
                      <a:endParaRPr lang="en-US" sz="1200" dirty="0">
                        <a:latin typeface="Consolas" charset="0"/>
                        <a:ea typeface="Consolas" charset="0"/>
                        <a:cs typeface="Consolas" charset="0"/>
                      </a:endParaRPr>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300" dirty="0">
                          <a:solidFill>
                            <a:schemeClr val="tx1"/>
                          </a:solidFill>
                        </a:rPr>
                        <a:t>Link loads and congestion warnings</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ctr" indent="0" marL="0">
                        <a:buNone/>
                      </a:pPr>
                      <a:r>
                        <a:rPr lang="en-US" sz="1300" b="1" dirty="0">
                          <a:solidFill>
                            <a:schemeClr val="accent3"/>
                          </a:solidFill>
                        </a:rPr>
                        <a:t>Done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52044">
                <a:tc>
                  <a:txBody>
                    <a:bodyPr/>
                    <a:lstStyle/>
                    <a:p>
                      <a:pPr indent="0" marL="0">
                        <a:buNone/>
                      </a:pPr>
                      <a:r>
                        <a:rPr lang="en-US" sz="1200" b="1" dirty="0">
                          <a:solidFill>
                            <a:schemeClr val="tx1"/>
                          </a:solidFill>
                          <a:latin typeface="Consolas" pitchFamily="34" charset="0"/>
                          <a:ea typeface="Consolas" pitchFamily="34" charset="-122"/>
                          <a:cs typeface="Consolas" pitchFamily="34" charset="-120"/>
                        </a:rPr>
                        <a:t>05_errors.py</a:t>
                      </a:r>
                      <a:endParaRPr lang="en-US" sz="1200" dirty="0">
                        <a:latin typeface="Consolas" charset="0"/>
                        <a:ea typeface="Consolas" charset="0"/>
                        <a:cs typeface="Consolas" charset="0"/>
                      </a:endParaRPr>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indent="0" marL="0">
                        <a:buNone/>
                      </a:pPr>
                      <a:r>
                        <a:rPr lang="en-US" sz="1300" dirty="0">
                          <a:solidFill>
                            <a:schemeClr val="tx1"/>
                          </a:solidFill>
                        </a:rPr>
                        <a:t>Error analysis: move size, damping, peaks</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ctr" indent="0" marL="0">
                        <a:buNone/>
                      </a:pPr>
                      <a:r>
                        <a:rPr lang="en-US" sz="1300" b="1" dirty="0">
                          <a:solidFill>
                            <a:schemeClr val="accent3"/>
                          </a:solidFill>
                        </a:rPr>
                        <a:t>Done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bl>
          </a:graphicData>
        </a:graphic>
      </p:graphicFrame>
      <p:sp>
        <p:nvSpPr>
          <p:cNvPr id="23" name="Shape 20"/>
          <p:cNvSpPr/>
          <p:nvPr/>
        </p:nvSpPr>
        <p:spPr>
          <a:xfrm>
            <a:off x="8092440" y="2423160"/>
            <a:ext cx="3550615" cy="3749040"/>
          </a:xfrm>
          <a:prstGeom prst="roundRect">
            <a:avLst>
              <a:gd name="adj" fmla="val 2060"/>
            </a:avLst>
          </a:prstGeom>
          <a:solidFill>
            <a:schemeClr val="bg2"/>
          </a:solidFill>
          <a:ln w="9525">
            <a:solidFill>
              <a:schemeClr val="bg2"/>
            </a:solidFill>
            <a:prstDash val="solid"/>
          </a:ln>
        </p:spPr>
      </p:sp>
      <p:sp>
        <p:nvSpPr>
          <p:cNvPr id="24" name="Text 21"/>
          <p:cNvSpPr txBox="1"/>
          <p:nvPr/>
        </p:nvSpPr>
        <p:spPr>
          <a:xfrm>
            <a:off x="8293608" y="2560320"/>
            <a:ext cx="318485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KEY IMPLEMENTATION DECISIONS</a:t>
            </a:r>
            <a:endParaRPr lang="en-US" sz="1200" dirty="0"/>
          </a:p>
        </p:txBody>
      </p:sp>
      <p:sp>
        <p:nvSpPr>
          <p:cNvPr id="25" name="Text 22"/>
          <p:cNvSpPr txBox="1"/>
          <p:nvPr/>
        </p:nvSpPr>
        <p:spPr>
          <a:xfrm>
            <a:off x="8293608" y="2907792"/>
            <a:ext cx="3184855"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Remove bad data, never fill it</a:t>
            </a:r>
            <a:endParaRPr lang="en-US" sz="1400" dirty="0"/>
          </a:p>
          <a:p>
            <a:pPr marL="342900" indent="-342900">
              <a:spcAft>
                <a:spcPts val="600"/>
              </a:spcAft>
              <a:buSzPct val="100000"/>
              <a:buChar char="•"/>
            </a:pPr>
            <a:r>
              <a:rPr lang="en-US" sz="1400" dirty="0">
                <a:solidFill>
                  <a:schemeClr val="tx1"/>
                </a:solidFill>
              </a:rPr>
              <a:t>Scaler fitted on the training split only</a:t>
            </a:r>
            <a:endParaRPr lang="en-US" sz="1400" dirty="0"/>
          </a:p>
          <a:p>
            <a:pPr marL="342900" indent="-342900">
              <a:spcAft>
                <a:spcPts val="600"/>
              </a:spcAft>
              <a:buSzPct val="100000"/>
              <a:buChar char="•"/>
            </a:pPr>
            <a:r>
              <a:rPr lang="en-US" sz="1400" dirty="0">
                <a:solidFill>
                  <a:schemeClr val="tx1"/>
                </a:solidFill>
              </a:rPr>
              <a:t>Forecasts clipped to 0 … link capacity</a:t>
            </a:r>
            <a:endParaRPr lang="en-US" sz="1400" dirty="0"/>
          </a:p>
          <a:p>
            <a:pPr marL="342900" indent="-342900">
              <a:spcAft>
                <a:spcPts val="600"/>
              </a:spcAft>
              <a:buSzPct val="100000"/>
              <a:buChar char="•"/>
            </a:pPr>
            <a:r>
              <a:rPr lang="en-US" sz="1400" dirty="0">
                <a:solidFill>
                  <a:schemeClr val="tx1"/>
                </a:solidFill>
              </a:rPr>
              <a:t>Fixed seeds; trained models cached and reused</a:t>
            </a:r>
            <a:endParaRPr lang="en-US" sz="1400" dirty="0"/>
          </a:p>
          <a:p>
            <a:pPr marL="342900" indent="-342900">
              <a:spcAft>
                <a:spcPts val="600"/>
              </a:spcAft>
              <a:buSzPct val="100000"/>
              <a:buChar char="•"/>
            </a:pPr>
            <a:r>
              <a:rPr lang="en-US" sz="1400" dirty="0">
                <a:solidFill>
                  <a:schemeClr val="tx1"/>
                </a:solidFill>
              </a:rPr>
              <a:t>Every run logged to metrics.csv and one HTML page</a:t>
            </a:r>
            <a:endParaRPr lang="en-US" sz="1400" dirty="0"/>
          </a:p>
        </p:txBody>
      </p:sp>
      <p:sp>
        <p:nvSpPr>
          <p:cNvPr id="26" name="Text 23"/>
          <p:cNvSpPr txBox="1"/>
          <p:nvPr/>
        </p:nvSpPr>
        <p:spPr>
          <a:xfrm>
            <a:off x="8293608" y="5029200"/>
            <a:ext cx="3184855" cy="1051560"/>
          </a:xfrm>
          <a:prstGeom prst="rect">
            <a:avLst/>
          </a:prstGeom>
          <a:noFill/>
          <a:ln/>
        </p:spPr>
        <p:txBody>
          <a:bodyPr wrap="square" lIns="0" tIns="0" rIns="0" bIns="0" rtlCol="0" anchor="t"/>
          <a:lstStyle/>
          <a:p>
            <a:pPr indent="0" marL="0">
              <a:buNone/>
            </a:pPr>
            <a:r>
              <a:rPr lang="en-US" sz="1300" b="1" dirty="0">
                <a:solidFill>
                  <a:schemeClr val="tx1"/>
                </a:solidFill>
              </a:rPr>
              <a:t>How modules interact: </a:t>
            </a:r>
            <a:pPr indent="0" marL="0">
              <a:buNone/>
            </a:pPr>
            <a:r>
              <a:rPr lang="en-US" sz="1300" dirty="0">
                <a:solidFill>
                  <a:schemeClr val="tx2"/>
                </a:solidFill>
              </a:rPr>
              <a:t>scripts share code only through common.py and exchange files with a fixed contract (.npy, scaler.npz, .keras, metrics.csv).</a:t>
            </a:r>
            <a:endParaRPr lang="en-US" sz="13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Actual Working: Evidence from the Running System</a:t>
            </a:r>
            <a:endParaRPr lang="en-US" sz="3200" dirty="0"/>
          </a:p>
        </p:txBody>
      </p:sp>
      <p:pic>
        <p:nvPicPr>
          <p:cNvPr id="3" name="Image 0" descr="Excerpt of results/report.html: Abilene 5-minute test rows for persistence and the CNN-LSTM models">    </p:cNvPr>
          <p:cNvPicPr>
            <a:picLocks noChangeAspect="1"/>
          </p:cNvPicPr>
          <p:nvPr/>
        </p:nvPicPr>
        <p:blipFill>
          <a:blip r:embed="rId1"/>
          <a:stretch>
            <a:fillRect/>
          </a:stretch>
        </p:blipFill>
        <p:spPr>
          <a:xfrm>
            <a:off x="548640" y="1234440"/>
            <a:ext cx="4371975" cy="2880360"/>
          </a:xfrm>
          <a:prstGeom prst="rect">
            <a:avLst/>
          </a:prstGeom>
        </p:spPr>
      </p:pic>
      <p:sp>
        <p:nvSpPr>
          <p:cNvPr id="4" name="Text 1"/>
          <p:cNvSpPr txBox="1"/>
          <p:nvPr/>
        </p:nvSpPr>
        <p:spPr>
          <a:xfrm>
            <a:off x="548640" y="4178808"/>
            <a:ext cx="4371975" cy="457200"/>
          </a:xfrm>
          <a:prstGeom prst="rect">
            <a:avLst/>
          </a:prstGeom>
          <a:noFill/>
          <a:ln/>
        </p:spPr>
        <p:txBody>
          <a:bodyPr wrap="square" lIns="0" tIns="0" rIns="0" bIns="0" rtlCol="0" anchor="t"/>
          <a:lstStyle/>
          <a:p>
            <a:pPr indent="0" marL="0">
              <a:buNone/>
            </a:pPr>
            <a:r>
              <a:rPr lang="en-US" sz="1200" b="1" dirty="0">
                <a:solidFill>
                  <a:schemeClr val="accent1"/>
                </a:solidFill>
              </a:rPr>
              <a:t>A  results/report.html  </a:t>
            </a:r>
            <a:pPr indent="0" marL="0">
              <a:buNone/>
            </a:pPr>
            <a:r>
              <a:rPr lang="en-US" sz="1200" dirty="0">
                <a:solidFill>
                  <a:schemeClr val="tx2"/>
                </a:solidFill>
              </a:rPr>
              <a:t>— excerpt: Abilene 5-min test rows. Proves: every final CNN-LSTM seed beats persistence.</a:t>
            </a:r>
            <a:endParaRPr lang="en-US" sz="1200" dirty="0"/>
          </a:p>
        </p:txBody>
      </p:sp>
      <p:sp>
        <p:nvSpPr>
          <p:cNvPr id="5" name="Shape 2"/>
          <p:cNvSpPr/>
          <p:nvPr/>
        </p:nvSpPr>
        <p:spPr>
          <a:xfrm>
            <a:off x="9970597" y="1234440"/>
            <a:ext cx="1672458" cy="2880360"/>
          </a:xfrm>
          <a:prstGeom prst="roundRect">
            <a:avLst>
              <a:gd name="adj" fmla="val 4374"/>
            </a:avLst>
          </a:prstGeom>
          <a:solidFill>
            <a:schemeClr val="bg2"/>
          </a:solidFill>
          <a:ln w="9525">
            <a:solidFill>
              <a:schemeClr val="bg2"/>
            </a:solidFill>
            <a:prstDash val="solid"/>
          </a:ln>
        </p:spPr>
      </p:sp>
      <p:sp>
        <p:nvSpPr>
          <p:cNvPr id="6" name="Text 3"/>
          <p:cNvSpPr txBox="1"/>
          <p:nvPr/>
        </p:nvSpPr>
        <p:spPr>
          <a:xfrm>
            <a:off x="10107757" y="1371600"/>
            <a:ext cx="1398138"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READING A</a:t>
            </a:r>
            <a:endParaRPr lang="en-US" sz="1100" dirty="0"/>
          </a:p>
        </p:txBody>
      </p:sp>
      <p:sp>
        <p:nvSpPr>
          <p:cNvPr id="7" name="Text 4"/>
          <p:cNvSpPr txBox="1"/>
          <p:nvPr/>
        </p:nvSpPr>
        <p:spPr>
          <a:xfrm>
            <a:off x="10107757" y="1691640"/>
            <a:ext cx="1398138" cy="182880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persistence </a:t>
            </a:r>
            <a:pPr indent="0" marL="0">
              <a:spcAft>
                <a:spcPts val="600"/>
              </a:spcAft>
              <a:buNone/>
            </a:pPr>
            <a:r>
              <a:rPr lang="en-US" sz="1300" b="1" dirty="0">
                <a:solidFill>
                  <a:schemeClr val="tx1"/>
                </a:solidFill>
              </a:rPr>
              <a:t>3.212</a:t>
            </a:r>
            <a:endParaRPr lang="en-US" sz="1300" dirty="0"/>
          </a:p>
          <a:p>
            <a:pPr indent="0" marL="0">
              <a:spcAft>
                <a:spcPts val="600"/>
              </a:spcAft>
              <a:buNone/>
            </a:pPr>
            <a:r>
              <a:rPr lang="en-US" sz="1300" dirty="0">
                <a:solidFill>
                  <a:schemeClr val="tx2"/>
                </a:solidFill>
              </a:rPr>
              <a:t>plain CNN-LSTM </a:t>
            </a:r>
            <a:pPr indent="0" marL="0">
              <a:spcAft>
                <a:spcPts val="600"/>
              </a:spcAft>
              <a:buNone/>
            </a:pPr>
            <a:r>
              <a:rPr lang="en-US" sz="1300" b="1" dirty="0">
                <a:solidFill>
                  <a:schemeClr val="accent4"/>
                </a:solidFill>
              </a:rPr>
              <a:t>9.241</a:t>
            </a:r>
            <a:endParaRPr lang="en-US" sz="1300" dirty="0"/>
          </a:p>
          <a:p>
            <a:pPr indent="0" marL="0">
              <a:spcAft>
                <a:spcPts val="600"/>
              </a:spcAft>
              <a:buNone/>
            </a:pPr>
            <a:r>
              <a:rPr lang="en-US" sz="1300" dirty="0">
                <a:solidFill>
                  <a:schemeClr val="tx2"/>
                </a:solidFill>
              </a:rPr>
              <a:t>residual, MSE </a:t>
            </a:r>
            <a:pPr indent="0" marL="0">
              <a:spcAft>
                <a:spcPts val="600"/>
              </a:spcAft>
              <a:buNone/>
            </a:pPr>
            <a:r>
              <a:rPr lang="en-US" sz="1300" b="1" dirty="0">
                <a:solidFill>
                  <a:schemeClr val="accent4"/>
                </a:solidFill>
              </a:rPr>
              <a:t>3.227</a:t>
            </a:r>
            <a:endParaRPr lang="en-US" sz="1300" dirty="0"/>
          </a:p>
          <a:p>
            <a:pPr indent="0" marL="0">
              <a:spcAft>
                <a:spcPts val="600"/>
              </a:spcAft>
              <a:buNone/>
            </a:pPr>
            <a:r>
              <a:rPr lang="en-US" sz="1300" dirty="0">
                <a:solidFill>
                  <a:schemeClr val="tx2"/>
                </a:solidFill>
              </a:rPr>
              <a:t>final, 3 seeds </a:t>
            </a:r>
            <a:endParaRPr lang="en-US" sz="1300" dirty="0"/>
          </a:p>
          <a:p>
            <a:pPr indent="0" marL="0">
              <a:spcAft>
                <a:spcPts val="600"/>
              </a:spcAft>
              <a:buNone/>
            </a:pPr>
            <a:r>
              <a:rPr lang="en-US" sz="1300" b="1" dirty="0">
                <a:solidFill>
                  <a:schemeClr val="accent3"/>
                </a:solidFill>
              </a:rPr>
              <a:t>3.201  3.207  3.194</a:t>
            </a:r>
            <a:endParaRPr lang="en-US" sz="1300" dirty="0"/>
          </a:p>
        </p:txBody>
      </p:sp>
      <p:sp>
        <p:nvSpPr>
          <p:cNvPr id="8" name="Text 5"/>
          <p:cNvSpPr txBox="1"/>
          <p:nvPr/>
        </p:nvSpPr>
        <p:spPr>
          <a:xfrm>
            <a:off x="10107757" y="3749040"/>
            <a:ext cx="1398138" cy="228600"/>
          </a:xfrm>
          <a:prstGeom prst="rect">
            <a:avLst/>
          </a:prstGeom>
          <a:noFill/>
          <a:ln/>
        </p:spPr>
        <p:txBody>
          <a:bodyPr wrap="square" lIns="0" tIns="0" rIns="0" bIns="0" rtlCol="0" anchor="t"/>
          <a:lstStyle/>
          <a:p>
            <a:pPr indent="0" marL="0">
              <a:buNone/>
            </a:pPr>
            <a:r>
              <a:rPr lang="en-US" sz="1100" i="1" dirty="0">
                <a:solidFill>
                  <a:schemeClr val="tx2"/>
                </a:solidFill>
              </a:rPr>
              <a:t>MAE, Mbit/s</a:t>
            </a:r>
            <a:endParaRPr lang="en-US" sz="1100" dirty="0"/>
          </a:p>
        </p:txBody>
      </p:sp>
      <p:pic>
        <p:nvPicPr>
          <p:cNvPr id="9" name="Image 1" descr="Program output of 04_analysis.py: routing matrix and link utilisation errors">    </p:cNvPr>
          <p:cNvPicPr>
            <a:picLocks noChangeAspect="1"/>
          </p:cNvPicPr>
          <p:nvPr/>
        </p:nvPicPr>
        <p:blipFill>
          <a:blip r:embed="rId2"/>
          <a:stretch>
            <a:fillRect/>
          </a:stretch>
        </p:blipFill>
        <p:spPr>
          <a:xfrm>
            <a:off x="5286375" y="1234440"/>
            <a:ext cx="4364182" cy="2880360"/>
          </a:xfrm>
          <a:prstGeom prst="rect">
            <a:avLst/>
          </a:prstGeom>
        </p:spPr>
      </p:pic>
      <p:sp>
        <p:nvSpPr>
          <p:cNvPr id="10" name="Text 6"/>
          <p:cNvSpPr txBox="1"/>
          <p:nvPr/>
        </p:nvSpPr>
        <p:spPr>
          <a:xfrm>
            <a:off x="5286375" y="4178808"/>
            <a:ext cx="4364182" cy="457200"/>
          </a:xfrm>
          <a:prstGeom prst="rect">
            <a:avLst/>
          </a:prstGeom>
          <a:noFill/>
          <a:ln/>
        </p:spPr>
        <p:txBody>
          <a:bodyPr wrap="square" lIns="0" tIns="0" rIns="0" bIns="0" rtlCol="0" anchor="t"/>
          <a:lstStyle/>
          <a:p>
            <a:pPr indent="0" marL="0">
              <a:buNone/>
            </a:pPr>
            <a:r>
              <a:rPr lang="en-US" sz="1200" b="1" dirty="0">
                <a:solidFill>
                  <a:schemeClr val="accent1"/>
                </a:solidFill>
              </a:rPr>
              <a:t>B  04_analysis.py output  </a:t>
            </a:r>
            <a:pPr indent="0" marL="0">
              <a:buNone/>
            </a:pPr>
            <a:r>
              <a:rPr lang="en-US" sz="1200" dirty="0">
                <a:solidFill>
                  <a:schemeClr val="tx2"/>
                </a:solidFill>
              </a:rPr>
              <a:t>— forecasts mapped onto 30 backbone links. Proves: flow → link pipeline runs end to end.</a:t>
            </a:r>
            <a:endParaRPr lang="en-US" sz="1200" dirty="0"/>
          </a:p>
        </p:txBody>
      </p:sp>
      <p:sp>
        <p:nvSpPr>
          <p:cNvPr id="11" name="Text 7"/>
          <p:cNvSpPr txBox="1"/>
          <p:nvPr/>
        </p:nvSpPr>
        <p:spPr>
          <a:xfrm>
            <a:off x="548640" y="4709160"/>
            <a:ext cx="9144000" cy="256032"/>
          </a:xfrm>
          <a:prstGeom prst="rect">
            <a:avLst/>
          </a:prstGeom>
          <a:noFill/>
          <a:ln/>
        </p:spPr>
        <p:txBody>
          <a:bodyPr wrap="square" lIns="0" tIns="0" rIns="0" bIns="0" rtlCol="0" anchor="t"/>
          <a:lstStyle/>
          <a:p>
            <a:pPr indent="0" marL="0">
              <a:buNone/>
            </a:pPr>
            <a:r>
              <a:rPr lang="en-US" sz="1200" b="1" dirty="0">
                <a:solidFill>
                  <a:schemeClr val="accent1"/>
                </a:solidFill>
              </a:rPr>
              <a:t>C  ONE REAL FORECAST, END TO END  (test sample #3691, flow WASH→WASH, 5 min ahead)</a:t>
            </a:r>
            <a:endParaRPr lang="en-US" sz="1200" dirty="0"/>
          </a:p>
        </p:txBody>
      </p:sp>
      <p:sp>
        <p:nvSpPr>
          <p:cNvPr id="12" name="Shape 8"/>
          <p:cNvSpPr/>
          <p:nvPr/>
        </p:nvSpPr>
        <p:spPr>
          <a:xfrm>
            <a:off x="548640" y="5029200"/>
            <a:ext cx="3520440" cy="914400"/>
          </a:xfrm>
          <a:prstGeom prst="roundRect">
            <a:avLst>
              <a:gd name="adj" fmla="val 8000"/>
            </a:avLst>
          </a:prstGeom>
          <a:solidFill>
            <a:schemeClr val="bg2"/>
          </a:solidFill>
          <a:ln w="9525">
            <a:solidFill>
              <a:schemeClr val="bg2"/>
            </a:solidFill>
            <a:prstDash val="solid"/>
          </a:ln>
        </p:spPr>
      </p:sp>
      <p:sp>
        <p:nvSpPr>
          <p:cNvPr id="13" name="Text 9"/>
          <p:cNvSpPr txBox="1"/>
          <p:nvPr/>
        </p:nvSpPr>
        <p:spPr>
          <a:xfrm>
            <a:off x="685800" y="5084064"/>
            <a:ext cx="3246120" cy="256032"/>
          </a:xfrm>
          <a:prstGeom prst="rect">
            <a:avLst/>
          </a:prstGeom>
          <a:noFill/>
          <a:ln/>
        </p:spPr>
        <p:txBody>
          <a:bodyPr wrap="square" lIns="0" tIns="0" rIns="0" bIns="0" rtlCol="0" anchor="t"/>
          <a:lstStyle/>
          <a:p>
            <a:pPr indent="0" marL="0">
              <a:buNone/>
            </a:pPr>
            <a:r>
              <a:rPr lang="en-US" sz="1200" b="1" dirty="0">
                <a:solidFill>
                  <a:schemeClr val="accent1"/>
                </a:solidFill>
              </a:rPr>
              <a:t>INPUT — last hour, Mbit/s</a:t>
            </a:r>
            <a:endParaRPr lang="en-US" sz="1200" dirty="0"/>
          </a:p>
        </p:txBody>
      </p:sp>
      <p:sp>
        <p:nvSpPr>
          <p:cNvPr id="14" name="Text 10"/>
          <p:cNvSpPr txBox="1"/>
          <p:nvPr/>
        </p:nvSpPr>
        <p:spPr>
          <a:xfrm>
            <a:off x="685800" y="5340096"/>
            <a:ext cx="3246120" cy="566928"/>
          </a:xfrm>
          <a:prstGeom prst="rect">
            <a:avLst/>
          </a:prstGeom>
          <a:noFill/>
          <a:ln/>
        </p:spPr>
        <p:txBody>
          <a:bodyPr wrap="square" lIns="0" tIns="0" rIns="0" bIns="0" rtlCol="0" anchor="t"/>
          <a:lstStyle/>
          <a:p>
            <a:pPr indent="0" marL="0">
              <a:buNone/>
            </a:pPr>
            <a:r>
              <a:rPr lang="en-US" sz="1300" dirty="0">
                <a:solidFill>
                  <a:schemeClr val="tx1"/>
                </a:solidFill>
              </a:rPr>
              <a:t>292  413  330  387  368  290  274  298  273  281  273  335</a:t>
            </a:r>
            <a:endParaRPr lang="en-US" sz="1300" dirty="0"/>
          </a:p>
        </p:txBody>
      </p:sp>
      <p:sp>
        <p:nvSpPr>
          <p:cNvPr id="15" name="Shape 11"/>
          <p:cNvSpPr/>
          <p:nvPr/>
        </p:nvSpPr>
        <p:spPr>
          <a:xfrm>
            <a:off x="4105656" y="5486400"/>
            <a:ext cx="193396" cy="0"/>
          </a:xfrm>
          <a:prstGeom prst="line">
            <a:avLst/>
          </a:prstGeom>
          <a:noFill/>
          <a:ln w="22225">
            <a:solidFill>
              <a:schemeClr val="accent1"/>
            </a:solidFill>
            <a:prstDash val="solid"/>
            <a:tailEnd type="triangle"/>
          </a:ln>
        </p:spPr>
      </p:sp>
      <p:sp>
        <p:nvSpPr>
          <p:cNvPr id="16" name="Shape 12"/>
          <p:cNvSpPr/>
          <p:nvPr/>
        </p:nvSpPr>
        <p:spPr>
          <a:xfrm>
            <a:off x="4335628" y="5029200"/>
            <a:ext cx="3520440" cy="914400"/>
          </a:xfrm>
          <a:prstGeom prst="roundRect">
            <a:avLst>
              <a:gd name="adj" fmla="val 8000"/>
            </a:avLst>
          </a:prstGeom>
          <a:solidFill>
            <a:schemeClr val="accent5"/>
          </a:solidFill>
          <a:ln w="9525">
            <a:solidFill>
              <a:schemeClr val="accent5"/>
            </a:solidFill>
            <a:prstDash val="solid"/>
          </a:ln>
        </p:spPr>
      </p:sp>
      <p:sp>
        <p:nvSpPr>
          <p:cNvPr id="17" name="Text 13"/>
          <p:cNvSpPr txBox="1"/>
          <p:nvPr/>
        </p:nvSpPr>
        <p:spPr>
          <a:xfrm>
            <a:off x="4472788" y="5084064"/>
            <a:ext cx="3246120" cy="256032"/>
          </a:xfrm>
          <a:prstGeom prst="rect">
            <a:avLst/>
          </a:prstGeom>
          <a:noFill/>
          <a:ln/>
        </p:spPr>
        <p:txBody>
          <a:bodyPr wrap="square" lIns="0" tIns="0" rIns="0" bIns="0" rtlCol="0" anchor="t"/>
          <a:lstStyle/>
          <a:p>
            <a:pPr indent="0" marL="0">
              <a:buNone/>
            </a:pPr>
            <a:r>
              <a:rPr lang="en-US" sz="1200" b="1" dirty="0">
                <a:solidFill>
                  <a:schemeClr val="accent1"/>
                </a:solidFill>
              </a:rPr>
              <a:t>PROCESSING</a:t>
            </a:r>
            <a:endParaRPr lang="en-US" sz="1200" dirty="0"/>
          </a:p>
        </p:txBody>
      </p:sp>
      <p:sp>
        <p:nvSpPr>
          <p:cNvPr id="18" name="Text 14"/>
          <p:cNvSpPr txBox="1"/>
          <p:nvPr/>
        </p:nvSpPr>
        <p:spPr>
          <a:xfrm>
            <a:off x="4472788" y="5340096"/>
            <a:ext cx="3246120" cy="566928"/>
          </a:xfrm>
          <a:prstGeom prst="rect">
            <a:avLst/>
          </a:prstGeom>
          <a:noFill/>
          <a:ln/>
        </p:spPr>
        <p:txBody>
          <a:bodyPr wrap="square" lIns="0" tIns="0" rIns="0" bIns="0" rtlCol="0" anchor="t"/>
          <a:lstStyle/>
          <a:p>
            <a:pPr indent="0" marL="0">
              <a:buNone/>
            </a:pPr>
            <a:r>
              <a:rPr lang="en-US" sz="1300" dirty="0">
                <a:solidFill>
                  <a:schemeClr val="tx1"/>
                </a:solidFill>
              </a:rPr>
              <a:t>Scale → CNN-LSTM → correction −0.0037 added to last value 0.9397 → clip check → undo scaling</a:t>
            </a:r>
            <a:endParaRPr lang="en-US" sz="1300" dirty="0"/>
          </a:p>
        </p:txBody>
      </p:sp>
      <p:sp>
        <p:nvSpPr>
          <p:cNvPr id="19" name="Shape 15"/>
          <p:cNvSpPr/>
          <p:nvPr/>
        </p:nvSpPr>
        <p:spPr>
          <a:xfrm>
            <a:off x="7892644" y="5486400"/>
            <a:ext cx="193396" cy="0"/>
          </a:xfrm>
          <a:prstGeom prst="line">
            <a:avLst/>
          </a:prstGeom>
          <a:noFill/>
          <a:ln w="22225">
            <a:solidFill>
              <a:schemeClr val="accent1"/>
            </a:solidFill>
            <a:prstDash val="solid"/>
            <a:tailEnd type="triangle"/>
          </a:ln>
        </p:spPr>
      </p:sp>
      <p:sp>
        <p:nvSpPr>
          <p:cNvPr id="20" name="Shape 16"/>
          <p:cNvSpPr/>
          <p:nvPr/>
        </p:nvSpPr>
        <p:spPr>
          <a:xfrm>
            <a:off x="8122615" y="5029200"/>
            <a:ext cx="3520440" cy="914400"/>
          </a:xfrm>
          <a:prstGeom prst="roundRect">
            <a:avLst>
              <a:gd name="adj" fmla="val 8000"/>
            </a:avLst>
          </a:prstGeom>
          <a:solidFill>
            <a:schemeClr val="accent6"/>
          </a:solidFill>
          <a:ln w="9525">
            <a:solidFill>
              <a:schemeClr val="accent6"/>
            </a:solidFill>
            <a:prstDash val="solid"/>
          </a:ln>
        </p:spPr>
      </p:sp>
      <p:sp>
        <p:nvSpPr>
          <p:cNvPr id="21" name="Text 17"/>
          <p:cNvSpPr txBox="1"/>
          <p:nvPr/>
        </p:nvSpPr>
        <p:spPr>
          <a:xfrm>
            <a:off x="8259775" y="5084064"/>
            <a:ext cx="3246120" cy="256032"/>
          </a:xfrm>
          <a:prstGeom prst="rect">
            <a:avLst/>
          </a:prstGeom>
          <a:noFill/>
          <a:ln/>
        </p:spPr>
        <p:txBody>
          <a:bodyPr wrap="square" lIns="0" tIns="0" rIns="0" bIns="0" rtlCol="0" anchor="t"/>
          <a:lstStyle/>
          <a:p>
            <a:pPr indent="0" marL="0">
              <a:buNone/>
            </a:pPr>
            <a:r>
              <a:rPr lang="en-US" sz="1200" b="1" dirty="0">
                <a:solidFill>
                  <a:schemeClr val="accent1"/>
                </a:solidFill>
              </a:rPr>
              <a:t>OUTPUT vs TRUE 286.7</a:t>
            </a:r>
            <a:endParaRPr lang="en-US" sz="1200" dirty="0"/>
          </a:p>
        </p:txBody>
      </p:sp>
      <p:sp>
        <p:nvSpPr>
          <p:cNvPr id="22" name="Text 18"/>
          <p:cNvSpPr txBox="1"/>
          <p:nvPr/>
        </p:nvSpPr>
        <p:spPr>
          <a:xfrm>
            <a:off x="8259775" y="5340096"/>
            <a:ext cx="3246120" cy="566928"/>
          </a:xfrm>
          <a:prstGeom prst="rect">
            <a:avLst/>
          </a:prstGeom>
          <a:noFill/>
          <a:ln/>
        </p:spPr>
        <p:txBody>
          <a:bodyPr wrap="square" lIns="0" tIns="0" rIns="0" bIns="0" rtlCol="0" anchor="t"/>
          <a:lstStyle/>
          <a:p>
            <a:pPr indent="0" marL="0">
              <a:buNone/>
            </a:pPr>
            <a:r>
              <a:rPr lang="en-US" sz="1300" dirty="0">
                <a:solidFill>
                  <a:schemeClr val="tx1"/>
                </a:solidFill>
              </a:rPr>
              <a:t>CNN-LSTM 311.6 (error 24.8)  ·  persistence 334.9 (error 48.2)</a:t>
            </a:r>
            <a:endParaRPr lang="en-US" sz="1300" dirty="0"/>
          </a:p>
        </p:txBody>
      </p:sp>
      <p:sp>
        <p:nvSpPr>
          <p:cNvPr id="23" name="Text 19"/>
          <p:cNvSpPr txBox="1"/>
          <p:nvPr/>
        </p:nvSpPr>
        <p:spPr>
          <a:xfrm>
            <a:off x="548640" y="5998464"/>
            <a:ext cx="11094415" cy="256032"/>
          </a:xfrm>
          <a:prstGeom prst="rect">
            <a:avLst/>
          </a:prstGeom>
          <a:noFill/>
          <a:ln/>
        </p:spPr>
        <p:txBody>
          <a:bodyPr wrap="square" lIns="0" tIns="0" rIns="0" bIns="0" rtlCol="0" anchor="t"/>
          <a:lstStyle/>
          <a:p>
            <a:pPr indent="0" marL="0">
              <a:buNone/>
            </a:pPr>
            <a:r>
              <a:rPr lang="en-US" sz="1100" i="1" dirty="0">
                <a:solidFill>
                  <a:schemeClr val="tx2"/>
                </a:solidFill>
              </a:rPr>
              <a:t>Sample chosen to show a gain; typical corrections are far smaller (median 0.0012 in scaled units). Output = mean of 3 seeds.</a:t>
            </a:r>
            <a:endParaRPr lang="en-US" sz="11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Results, Testing and Performance Evaluation</a:t>
            </a:r>
            <a:endParaRPr lang="en-US" sz="3200" dirty="0"/>
          </a:p>
        </p:txBody>
      </p:sp>
      <p:graphicFrame>
        <p:nvGraphicFramePr>
          <p:cNvPr id="3" name="Chart 0" descr=""/>
          <p:cNvGraphicFramePr/>
          <p:nvPr/>
        </p:nvGraphicFramePr>
        <p:xfrm>
          <a:off x="548640" y="1188720"/>
          <a:ext cx="4937760" cy="28803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4224528"/>
            <a:ext cx="5212080" cy="256032"/>
          </a:xfrm>
          <a:prstGeom prst="rect">
            <a:avLst/>
          </a:prstGeom>
          <a:noFill/>
          <a:ln/>
        </p:spPr>
        <p:txBody>
          <a:bodyPr wrap="square" lIns="0" tIns="0" rIns="0" bIns="0" rtlCol="0" anchor="t"/>
          <a:lstStyle/>
          <a:p>
            <a:pPr indent="0" marL="0">
              <a:buNone/>
            </a:pPr>
            <a:r>
              <a:rPr lang="en-US" sz="1200" b="1" spc="100" kern="0" dirty="0">
                <a:solidFill>
                  <a:schemeClr val="accent1"/>
                </a:solidFill>
              </a:rPr>
              <a:t>HOW IT WAS TESTED</a:t>
            </a:r>
            <a:endParaRPr lang="en-US" sz="1200" dirty="0"/>
          </a:p>
        </p:txBody>
      </p:sp>
      <p:sp>
        <p:nvSpPr>
          <p:cNvPr id="5" name="Text 2"/>
          <p:cNvSpPr txBox="1"/>
          <p:nvPr/>
        </p:nvSpPr>
        <p:spPr>
          <a:xfrm>
            <a:off x="548640" y="4526280"/>
            <a:ext cx="5212080" cy="16916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self_test(): whole data pipeline on synthetic data, with assertions</a:t>
            </a:r>
            <a:endParaRPr lang="en-US" sz="1400" dirty="0"/>
          </a:p>
          <a:p>
            <a:pPr marL="342900" indent="-342900">
              <a:spcAft>
                <a:spcPts val="400"/>
              </a:spcAft>
              <a:buSzPct val="100000"/>
              <a:buChar char="•"/>
            </a:pPr>
            <a:r>
              <a:rPr lang="en-US" sz="1400" dirty="0">
                <a:solidFill>
                  <a:schemeClr val="tx1"/>
                </a:solidFill>
              </a:rPr>
              <a:t>Scaling round trip reproduces the raw test data exactly</a:t>
            </a:r>
            <a:endParaRPr lang="en-US" sz="1400" dirty="0"/>
          </a:p>
          <a:p>
            <a:pPr marL="342900" indent="-342900">
              <a:spcAft>
                <a:spcPts val="400"/>
              </a:spcAft>
              <a:buSzPct val="100000"/>
              <a:buChar char="•"/>
            </a:pPr>
            <a:r>
              <a:rPr lang="en-US" sz="1400" dirty="0">
                <a:solidFill>
                  <a:schemeClr val="tx1"/>
                </a:solidFill>
              </a:rPr>
              <a:t>Untrained residual model = persistence (checked in code)</a:t>
            </a:r>
            <a:endParaRPr lang="en-US" sz="1400" dirty="0"/>
          </a:p>
          <a:p>
            <a:pPr marL="342900" indent="-342900">
              <a:spcAft>
                <a:spcPts val="400"/>
              </a:spcAft>
              <a:buSzPct val="100000"/>
              <a:buChar char="•"/>
            </a:pPr>
            <a:r>
              <a:rPr lang="en-US" sz="1400" dirty="0">
                <a:solidFill>
                  <a:schemeClr val="tx1"/>
                </a:solidFill>
              </a:rPr>
              <a:t>3 seeds per final model; no choice ever made on the test split</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852160" y="1234440"/>
          <a:ext cx="5790895" cy="914400"/>
        </p:xfrm>
        <a:graphic>
          <a:graphicData uri="http://schemas.openxmlformats.org/drawingml/2006/table">
            <a:tbl>
              <a:tblPr/>
              <a:tblGrid>
                <a:gridCol w="2880360"/>
                <a:gridCol w="1417320"/>
                <a:gridCol w="1493215"/>
              </a:tblGrid>
              <a:tr h="365760">
                <a:tc>
                  <a:txBody>
                    <a:bodyPr/>
                    <a:lstStyle/>
                    <a:p>
                      <a:pPr algn="l" indent="0" marL="0">
                        <a:buNone/>
                      </a:pPr>
                      <a:r>
                        <a:rPr lang="en-US" sz="1300" b="1" dirty="0">
                          <a:solidFill>
                            <a:schemeClr val="bg1"/>
                          </a:solidFill>
                        </a:rPr>
                        <a:t>Test split (MAE in Mbit/s)</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tx1"/>
                    </a:solidFill>
                  </a:tcPr>
                </a:tc>
                <a:tc>
                  <a:txBody>
                    <a:bodyPr/>
                    <a:lstStyle/>
                    <a:p>
                      <a:pPr algn="r" indent="0" marL="0">
                        <a:buNone/>
                      </a:pPr>
                      <a:r>
                        <a:rPr lang="en-US" sz="1300" b="1" dirty="0">
                          <a:solidFill>
                            <a:schemeClr val="bg1"/>
                          </a:solidFill>
                        </a:rPr>
                        <a:t>Persistence</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tx1"/>
                    </a:solidFill>
                  </a:tcPr>
                </a:tc>
                <a:tc>
                  <a:txBody>
                    <a:bodyPr/>
                    <a:lstStyle/>
                    <a:p>
                      <a:pPr algn="r" indent="0" marL="0">
                        <a:buNone/>
                      </a:pPr>
                      <a:r>
                        <a:rPr lang="en-US" sz="1300" b="1" dirty="0">
                          <a:solidFill>
                            <a:schemeClr val="bg1"/>
                          </a:solidFill>
                        </a:rPr>
                        <a:t>Model</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solidFill>
                      <a:schemeClr val="tx1"/>
                    </a:solidFill>
                  </a:tcPr>
                </a:tc>
              </a:tr>
              <a:tr h="365760">
                <a:tc>
                  <a:txBody>
                    <a:bodyPr/>
                    <a:lstStyle/>
                    <a:p>
                      <a:pPr algn="l" indent="0" marL="0">
                        <a:buNone/>
                      </a:pPr>
                      <a:r>
                        <a:rPr lang="en-US" sz="1300" dirty="0">
                          <a:solidFill>
                            <a:schemeClr val="tx1"/>
                          </a:solidFill>
                        </a:rPr>
                        <a:t>Plain LSTM / CNN, Abilene 5 min</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tx1"/>
                          </a:solidFill>
                        </a:rPr>
                        <a:t>3.212</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accent4"/>
                          </a:solidFill>
                        </a:rPr>
                        <a:t>9.076 / 10.821</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65760">
                <a:tc>
                  <a:txBody>
                    <a:bodyPr/>
                    <a:lstStyle/>
                    <a:p>
                      <a:pPr algn="l" indent="0" marL="0">
                        <a:buNone/>
                      </a:pPr>
                      <a:r>
                        <a:rPr lang="en-US" sz="1300" dirty="0">
                          <a:solidFill>
                            <a:schemeClr val="tx1"/>
                          </a:solidFill>
                        </a:rPr>
                        <a:t>Residual CNN-LSTM, Abilene 5 min</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tx1"/>
                          </a:solidFill>
                        </a:rPr>
                        <a:t>3.212</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b="1" dirty="0">
                          <a:solidFill>
                            <a:schemeClr val="accent3"/>
                          </a:solidFill>
                        </a:rPr>
                        <a:t>3.200 ± 0.005</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65760">
                <a:tc>
                  <a:txBody>
                    <a:bodyPr/>
                    <a:lstStyle/>
                    <a:p>
                      <a:pPr algn="l" indent="0" marL="0">
                        <a:buNone/>
                      </a:pPr>
                      <a:r>
                        <a:rPr lang="en-US" sz="1300" dirty="0">
                          <a:solidFill>
                            <a:schemeClr val="tx1"/>
                          </a:solidFill>
                        </a:rPr>
                        <a:t>Residual CNN-LSTM, GÉANT 60 min</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tx1"/>
                          </a:solidFill>
                        </a:rPr>
                        <a:t>2.377</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b="1" dirty="0">
                          <a:solidFill>
                            <a:schemeClr val="accent3"/>
                          </a:solidFill>
                        </a:rPr>
                        <a:t>2.313</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65760">
                <a:tc>
                  <a:txBody>
                    <a:bodyPr/>
                    <a:lstStyle/>
                    <a:p>
                      <a:pPr algn="l" indent="0" marL="0">
                        <a:buNone/>
                      </a:pPr>
                      <a:r>
                        <a:rPr lang="en-US" sz="1300" dirty="0">
                          <a:solidFill>
                            <a:schemeClr val="tx1"/>
                          </a:solidFill>
                        </a:rPr>
                        <a:t>Link warning F1, 5 / 30 / 60 min</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tx1"/>
                          </a:solidFill>
                        </a:rPr>
                        <a:t>0.97 / 0.93 / 0.90</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tx1"/>
                          </a:solidFill>
                        </a:rPr>
                        <a:t>0.97 / 0.94 / 0.91</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65760">
                <a:tc>
                  <a:txBody>
                    <a:bodyPr/>
                    <a:lstStyle/>
                    <a:p>
                      <a:pPr algn="l" indent="0" marL="0">
                        <a:buNone/>
                      </a:pPr>
                      <a:r>
                        <a:rPr lang="en-US" sz="1300" dirty="0">
                          <a:solidFill>
                            <a:schemeClr val="tx1"/>
                          </a:solidFill>
                        </a:rPr>
                        <a:t>Onsets warned 30 min ahead (of 35)</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tx1"/>
                          </a:solidFill>
                        </a:rPr>
                        <a:t>5</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tx1"/>
                          </a:solidFill>
                        </a:rPr>
                        <a:t>5</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r h="365760">
                <a:tc>
                  <a:txBody>
                    <a:bodyPr/>
                    <a:lstStyle/>
                    <a:p>
                      <a:pPr algn="l" indent="0" marL="0">
                        <a:buNone/>
                      </a:pPr>
                      <a:r>
                        <a:rPr lang="en-US" sz="1300" dirty="0">
                          <a:solidFill>
                            <a:schemeClr val="tx1"/>
                          </a:solidFill>
                        </a:rPr>
                        <a:t>Share of each real change forecast</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tx1"/>
                          </a:solidFill>
                        </a:rPr>
                        <a:t>0</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c>
                  <a:txBody>
                    <a:bodyPr/>
                    <a:lstStyle/>
                    <a:p>
                      <a:pPr algn="r" indent="0" marL="0">
                        <a:buNone/>
                      </a:pPr>
                      <a:r>
                        <a:rPr lang="en-US" sz="1300" dirty="0">
                          <a:solidFill>
                            <a:schemeClr val="tx1"/>
                          </a:solidFill>
                        </a:rPr>
                        <a:t>1–5%</a:t>
                      </a:r>
                      <a:endParaRPr lang="en-US" sz="1300" dirty="0"/>
                    </a:p>
                  </a:txBody>
                  <a:tcPr marL="91440" marR="91440" marT="18288" marB="18288" anchor="ctr">
                    <a:lnL w="9525" cap="flat" cmpd="sng" algn="ctr">
                      <a:solidFill>
                        <a:srgbClr val="D5D3DF"/>
                      </a:solidFill>
                      <a:prstDash val="solid"/>
                      <a:round/>
                      <a:headEnd type="none" w="med" len="med"/>
                      <a:tailEnd type="none" w="med" len="med"/>
                    </a:lnL>
                    <a:lnR w="9525" cap="flat" cmpd="sng" algn="ctr">
                      <a:solidFill>
                        <a:srgbClr val="D5D3DF"/>
                      </a:solidFill>
                      <a:prstDash val="solid"/>
                      <a:round/>
                      <a:headEnd type="none" w="med" len="med"/>
                      <a:tailEnd type="none" w="med" len="med"/>
                    </a:lnR>
                    <a:lnT w="9525" cap="flat" cmpd="sng" algn="ctr">
                      <a:solidFill>
                        <a:srgbClr val="D5D3DF"/>
                      </a:solidFill>
                      <a:prstDash val="solid"/>
                      <a:round/>
                      <a:headEnd type="none" w="med" len="med"/>
                      <a:tailEnd type="none" w="med" len="med"/>
                    </a:lnT>
                    <a:lnB w="9525" cap="flat" cmpd="sng" algn="ctr">
                      <a:solidFill>
                        <a:srgbClr val="D5D3DF"/>
                      </a:solidFill>
                      <a:prstDash val="solid"/>
                      <a:round/>
                      <a:headEnd type="none" w="med" len="med"/>
                      <a:tailEnd type="none" w="med" len="med"/>
                    </a:lnB>
                  </a:tcPr>
                </a:tc>
              </a:tr>
            </a:tbl>
          </a:graphicData>
        </a:graphic>
      </p:graphicFrame>
      <p:sp>
        <p:nvSpPr>
          <p:cNvPr id="7" name="Text 3"/>
          <p:cNvSpPr txBox="1"/>
          <p:nvPr/>
        </p:nvSpPr>
        <p:spPr>
          <a:xfrm>
            <a:off x="5852160" y="4224528"/>
            <a:ext cx="5790895" cy="256032"/>
          </a:xfrm>
          <a:prstGeom prst="rect">
            <a:avLst/>
          </a:prstGeom>
          <a:noFill/>
          <a:ln/>
        </p:spPr>
        <p:txBody>
          <a:bodyPr wrap="square" lIns="0" tIns="0" rIns="0" bIns="0" rtlCol="0" anchor="t"/>
          <a:lstStyle/>
          <a:p>
            <a:pPr indent="0" marL="0">
              <a:buNone/>
            </a:pPr>
            <a:r>
              <a:rPr lang="en-US" sz="1200" b="1" spc="100" kern="0" dirty="0">
                <a:solidFill>
                  <a:schemeClr val="accent1"/>
                </a:solidFill>
              </a:rPr>
              <a:t>WERE THE OBJECTIVES MET?</a:t>
            </a:r>
            <a:endParaRPr lang="en-US" sz="1200" dirty="0"/>
          </a:p>
        </p:txBody>
      </p:sp>
      <p:sp>
        <p:nvSpPr>
          <p:cNvPr id="8" name="Shape 4"/>
          <p:cNvSpPr/>
          <p:nvPr/>
        </p:nvSpPr>
        <p:spPr>
          <a:xfrm>
            <a:off x="5852160" y="4617720"/>
            <a:ext cx="960120" cy="274320"/>
          </a:xfrm>
          <a:prstGeom prst="roundRect">
            <a:avLst>
              <a:gd name="adj" fmla="val 50000"/>
            </a:avLst>
          </a:prstGeom>
          <a:solidFill>
            <a:schemeClr val="accent3"/>
          </a:solidFill>
          <a:ln w="9525">
            <a:solidFill>
              <a:schemeClr val="accent3"/>
            </a:solidFill>
            <a:prstDash val="solid"/>
          </a:ln>
        </p:spPr>
      </p:sp>
      <p:sp>
        <p:nvSpPr>
          <p:cNvPr id="9" name="Text 5"/>
          <p:cNvSpPr txBox="1"/>
          <p:nvPr/>
        </p:nvSpPr>
        <p:spPr>
          <a:xfrm>
            <a:off x="5852160" y="4617720"/>
            <a:ext cx="960120" cy="274320"/>
          </a:xfrm>
          <a:prstGeom prst="rect">
            <a:avLst/>
          </a:prstGeom>
          <a:noFill/>
          <a:ln/>
        </p:spPr>
        <p:txBody>
          <a:bodyPr wrap="square" lIns="0" tIns="0" rIns="0" bIns="0" rtlCol="0" anchor="ctr"/>
          <a:lstStyle/>
          <a:p>
            <a:pPr algn="ctr" indent="0" marL="0">
              <a:buNone/>
            </a:pPr>
            <a:r>
              <a:rPr lang="en-US" sz="1000" b="1" dirty="0">
                <a:solidFill>
                  <a:schemeClr val="bg1"/>
                </a:solidFill>
              </a:rPr>
              <a:t>MET</a:t>
            </a:r>
            <a:endParaRPr lang="en-US" sz="1000" dirty="0"/>
          </a:p>
        </p:txBody>
      </p:sp>
      <p:sp>
        <p:nvSpPr>
          <p:cNvPr id="10" name="Text 6"/>
          <p:cNvSpPr txBox="1"/>
          <p:nvPr/>
        </p:nvSpPr>
        <p:spPr>
          <a:xfrm>
            <a:off x="6949440" y="4572000"/>
            <a:ext cx="4693615" cy="457200"/>
          </a:xfrm>
          <a:prstGeom prst="rect">
            <a:avLst/>
          </a:prstGeom>
          <a:noFill/>
          <a:ln/>
        </p:spPr>
        <p:txBody>
          <a:bodyPr wrap="square" lIns="0" tIns="0" rIns="0" bIns="0" rtlCol="0" anchor="ctr"/>
          <a:lstStyle/>
          <a:p>
            <a:pPr indent="0" marL="0">
              <a:buNone/>
            </a:pPr>
            <a:r>
              <a:rPr lang="en-US" sz="1300" dirty="0">
                <a:solidFill>
                  <a:schemeClr val="tx1"/>
                </a:solidFill>
              </a:rPr>
              <a:t>Beats persistence on both networks, all seeds; gain grows with horizon</a:t>
            </a:r>
            <a:endParaRPr lang="en-US" sz="1300" dirty="0"/>
          </a:p>
        </p:txBody>
      </p:sp>
      <p:sp>
        <p:nvSpPr>
          <p:cNvPr id="11" name="Shape 7"/>
          <p:cNvSpPr/>
          <p:nvPr/>
        </p:nvSpPr>
        <p:spPr>
          <a:xfrm>
            <a:off x="5852160" y="5166360"/>
            <a:ext cx="960120" cy="274320"/>
          </a:xfrm>
          <a:prstGeom prst="roundRect">
            <a:avLst>
              <a:gd name="adj" fmla="val 50000"/>
            </a:avLst>
          </a:prstGeom>
          <a:solidFill>
            <a:schemeClr val="accent4"/>
          </a:solidFill>
          <a:ln w="9525">
            <a:solidFill>
              <a:schemeClr val="accent4"/>
            </a:solidFill>
            <a:prstDash val="solid"/>
          </a:ln>
        </p:spPr>
      </p:sp>
      <p:sp>
        <p:nvSpPr>
          <p:cNvPr id="12" name="Text 8"/>
          <p:cNvSpPr txBox="1"/>
          <p:nvPr/>
        </p:nvSpPr>
        <p:spPr>
          <a:xfrm>
            <a:off x="5852160" y="5166360"/>
            <a:ext cx="960120" cy="274320"/>
          </a:xfrm>
          <a:prstGeom prst="rect">
            <a:avLst/>
          </a:prstGeom>
          <a:noFill/>
          <a:ln/>
        </p:spPr>
        <p:txBody>
          <a:bodyPr wrap="square" lIns="0" tIns="0" rIns="0" bIns="0" rtlCol="0" anchor="ctr"/>
          <a:lstStyle/>
          <a:p>
            <a:pPr algn="ctr" indent="0" marL="0">
              <a:buNone/>
            </a:pPr>
            <a:r>
              <a:rPr lang="en-US" sz="1000" b="1" dirty="0">
                <a:solidFill>
                  <a:schemeClr val="bg1"/>
                </a:solidFill>
              </a:rPr>
              <a:t>NOT MET</a:t>
            </a:r>
            <a:endParaRPr lang="en-US" sz="1000" dirty="0"/>
          </a:p>
        </p:txBody>
      </p:sp>
      <p:sp>
        <p:nvSpPr>
          <p:cNvPr id="13" name="Text 9"/>
          <p:cNvSpPr txBox="1"/>
          <p:nvPr/>
        </p:nvSpPr>
        <p:spPr>
          <a:xfrm>
            <a:off x="6949440" y="5120640"/>
            <a:ext cx="4693615" cy="457200"/>
          </a:xfrm>
          <a:prstGeom prst="rect">
            <a:avLst/>
          </a:prstGeom>
          <a:noFill/>
          <a:ln/>
        </p:spPr>
        <p:txBody>
          <a:bodyPr wrap="square" lIns="0" tIns="0" rIns="0" bIns="0" rtlCol="0" anchor="ctr"/>
          <a:lstStyle/>
          <a:p>
            <a:pPr indent="0" marL="0">
              <a:buNone/>
            </a:pPr>
            <a:r>
              <a:rPr lang="en-US" sz="1300" dirty="0">
                <a:solidFill>
                  <a:schemeClr val="tx1"/>
                </a:solidFill>
              </a:rPr>
              <a:t>No earlier congestion warning than reacting to current load</a:t>
            </a:r>
            <a:endParaRPr lang="en-US" sz="1300" dirty="0"/>
          </a:p>
        </p:txBody>
      </p:sp>
      <p:sp>
        <p:nvSpPr>
          <p:cNvPr id="14" name="Shape 10"/>
          <p:cNvSpPr/>
          <p:nvPr/>
        </p:nvSpPr>
        <p:spPr>
          <a:xfrm>
            <a:off x="5852160" y="5715000"/>
            <a:ext cx="960120" cy="274320"/>
          </a:xfrm>
          <a:prstGeom prst="roundRect">
            <a:avLst>
              <a:gd name="adj" fmla="val 50000"/>
            </a:avLst>
          </a:prstGeom>
          <a:solidFill>
            <a:schemeClr val="accent2"/>
          </a:solidFill>
          <a:ln w="9525">
            <a:solidFill>
              <a:schemeClr val="accent2"/>
            </a:solidFill>
            <a:prstDash val="solid"/>
          </a:ln>
        </p:spPr>
      </p:sp>
      <p:sp>
        <p:nvSpPr>
          <p:cNvPr id="15" name="Text 11"/>
          <p:cNvSpPr txBox="1"/>
          <p:nvPr/>
        </p:nvSpPr>
        <p:spPr>
          <a:xfrm>
            <a:off x="5852160" y="5715000"/>
            <a:ext cx="960120" cy="274320"/>
          </a:xfrm>
          <a:prstGeom prst="rect">
            <a:avLst/>
          </a:prstGeom>
          <a:noFill/>
          <a:ln/>
        </p:spPr>
        <p:txBody>
          <a:bodyPr wrap="square" lIns="0" tIns="0" rIns="0" bIns="0" rtlCol="0" anchor="ctr"/>
          <a:lstStyle/>
          <a:p>
            <a:pPr algn="ctr" indent="0" marL="0">
              <a:buNone/>
            </a:pPr>
            <a:r>
              <a:rPr lang="en-US" sz="1000" b="1" dirty="0">
                <a:solidFill>
                  <a:schemeClr val="bg1"/>
                </a:solidFill>
              </a:rPr>
              <a:t>FINDING</a:t>
            </a:r>
            <a:endParaRPr lang="en-US" sz="1000" dirty="0"/>
          </a:p>
        </p:txBody>
      </p:sp>
      <p:sp>
        <p:nvSpPr>
          <p:cNvPr id="16" name="Text 12"/>
          <p:cNvSpPr txBox="1"/>
          <p:nvPr/>
        </p:nvSpPr>
        <p:spPr>
          <a:xfrm>
            <a:off x="6949440" y="5669280"/>
            <a:ext cx="4693615" cy="457200"/>
          </a:xfrm>
          <a:prstGeom prst="rect">
            <a:avLst/>
          </a:prstGeom>
          <a:noFill/>
          <a:ln/>
        </p:spPr>
        <p:txBody>
          <a:bodyPr wrap="square" lIns="0" tIns="0" rIns="0" bIns="0" rtlCol="0" anchor="ctr"/>
          <a:lstStyle/>
          <a:p>
            <a:pPr indent="0" marL="0">
              <a:buNone/>
            </a:pPr>
            <a:r>
              <a:rPr lang="en-US" sz="1300" dirty="0">
                <a:solidFill>
                  <a:schemeClr val="tx1"/>
                </a:solidFill>
              </a:rPr>
              <a:t>LSTM-only failed at 30/60 min (−12%) — caused by one bursty flow, LOSA→CHIN</a:t>
            </a:r>
            <a:endParaRPr lang="en-US" sz="13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Contributions, Limitations and Future Scope</a:t>
            </a:r>
            <a:endParaRPr lang="en-US" sz="3200" dirty="0"/>
          </a:p>
        </p:txBody>
      </p:sp>
      <p:sp>
        <p:nvSpPr>
          <p:cNvPr id="3" name="Shape 1"/>
          <p:cNvSpPr/>
          <p:nvPr/>
        </p:nvSpPr>
        <p:spPr>
          <a:xfrm>
            <a:off x="548640" y="1234440"/>
            <a:ext cx="3520440" cy="4069080"/>
          </a:xfrm>
          <a:prstGeom prst="roundRect">
            <a:avLst>
              <a:gd name="adj" fmla="val 2078"/>
            </a:avLst>
          </a:prstGeom>
          <a:solidFill>
            <a:schemeClr val="accent5"/>
          </a:solidFill>
          <a:ln w="9525">
            <a:solidFill>
              <a:schemeClr val="accent5"/>
            </a:solidFill>
            <a:prstDash val="solid"/>
          </a:ln>
        </p:spPr>
      </p:sp>
      <p:sp>
        <p:nvSpPr>
          <p:cNvPr id="4" name="Shape 2"/>
          <p:cNvSpPr/>
          <p:nvPr/>
        </p:nvSpPr>
        <p:spPr>
          <a:xfrm>
            <a:off x="749808" y="1417320"/>
            <a:ext cx="310896" cy="310896"/>
          </a:xfrm>
          <a:prstGeom prst="ellipse">
            <a:avLst/>
          </a:prstGeom>
          <a:solidFill>
            <a:schemeClr val="accent1"/>
          </a:solidFill>
          <a:ln w="12700">
            <a:solidFill>
              <a:schemeClr val="accent1"/>
            </a:solidFill>
            <a:prstDash val="solid"/>
          </a:ln>
        </p:spPr>
      </p:sp>
      <p:sp>
        <p:nvSpPr>
          <p:cNvPr id="5" name="Text 3"/>
          <p:cNvSpPr txBox="1"/>
          <p:nvPr/>
        </p:nvSpPr>
        <p:spPr>
          <a:xfrm>
            <a:off x="749808" y="1417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4"/>
          <p:cNvSpPr txBox="1"/>
          <p:nvPr/>
        </p:nvSpPr>
        <p:spPr>
          <a:xfrm>
            <a:off x="1152144" y="1417320"/>
            <a:ext cx="2788920" cy="310896"/>
          </a:xfrm>
          <a:prstGeom prst="rect">
            <a:avLst/>
          </a:prstGeom>
          <a:noFill/>
          <a:ln/>
        </p:spPr>
        <p:txBody>
          <a:bodyPr wrap="square" lIns="0" tIns="0" rIns="0" bIns="0" rtlCol="0" anchor="ctr"/>
          <a:lstStyle/>
          <a:p>
            <a:pPr indent="0" marL="0">
              <a:buNone/>
            </a:pPr>
            <a:r>
              <a:rPr lang="en-US" sz="1200" b="1" spc="100" kern="0" dirty="0">
                <a:solidFill>
                  <a:schemeClr val="accent1"/>
                </a:solidFill>
              </a:rPr>
              <a:t>DEMONSTRATED CONTRIBUTIONS</a:t>
            </a:r>
            <a:endParaRPr lang="en-US" sz="1200" dirty="0"/>
          </a:p>
        </p:txBody>
      </p:sp>
      <p:sp>
        <p:nvSpPr>
          <p:cNvPr id="7" name="Text 5"/>
          <p:cNvSpPr txBox="1"/>
          <p:nvPr/>
        </p:nvSpPr>
        <p:spPr>
          <a:xfrm>
            <a:off x="749808" y="1892808"/>
            <a:ext cx="3136392" cy="32918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Reproducible, leak-free forecasting pipeline on two real backbone networks</a:t>
            </a:r>
            <a:endParaRPr lang="en-US" sz="1400" dirty="0"/>
          </a:p>
          <a:p>
            <a:pPr marL="342900" indent="-342900">
              <a:spcAft>
                <a:spcPts val="700"/>
              </a:spcAft>
              <a:buSzPct val="100000"/>
              <a:buChar char="•"/>
            </a:pPr>
            <a:r>
              <a:rPr lang="en-US" sz="1400" dirty="0">
                <a:solidFill>
                  <a:schemeClr val="tx1"/>
                </a:solidFill>
              </a:rPr>
              <a:t>Showed residual output + real-unit loss are what let a CNN-LSTM beat persistence</a:t>
            </a:r>
            <a:endParaRPr lang="en-US" sz="1400" dirty="0"/>
          </a:p>
          <a:p>
            <a:pPr marL="342900" indent="-342900">
              <a:spcAft>
                <a:spcPts val="700"/>
              </a:spcAft>
              <a:buSzPct val="100000"/>
              <a:buChar char="•"/>
            </a:pPr>
            <a:r>
              <a:rPr lang="en-US" sz="1400" dirty="0">
                <a:solidFill>
                  <a:schemeClr val="tx1"/>
                </a:solidFill>
              </a:rPr>
              <a:t>End-to-end evaluation from flow forecasts to link congestion warnings</a:t>
            </a:r>
            <a:endParaRPr lang="en-US" sz="1400" dirty="0"/>
          </a:p>
          <a:p>
            <a:pPr marL="342900" indent="-342900">
              <a:spcAft>
                <a:spcPts val="700"/>
              </a:spcAft>
              <a:buSzPct val="100000"/>
              <a:buChar char="•"/>
            </a:pPr>
            <a:r>
              <a:rPr lang="en-US" sz="1400" dirty="0">
                <a:solidFill>
                  <a:schemeClr val="tx1"/>
                </a:solidFill>
              </a:rPr>
              <a:t>Diagnosis: gains come from large moves; peaks under-forecast; one flow causes 96% of Abilene congestion events</a:t>
            </a:r>
            <a:endParaRPr lang="en-US" sz="1400" dirty="0"/>
          </a:p>
        </p:txBody>
      </p:sp>
      <p:sp>
        <p:nvSpPr>
          <p:cNvPr id="8" name="Shape 6"/>
          <p:cNvSpPr/>
          <p:nvPr/>
        </p:nvSpPr>
        <p:spPr>
          <a:xfrm>
            <a:off x="4335628" y="1234440"/>
            <a:ext cx="3520440" cy="4069080"/>
          </a:xfrm>
          <a:prstGeom prst="roundRect">
            <a:avLst>
              <a:gd name="adj" fmla="val 2078"/>
            </a:avLst>
          </a:prstGeom>
          <a:solidFill>
            <a:schemeClr val="accent6"/>
          </a:solidFill>
          <a:ln w="9525">
            <a:solidFill>
              <a:schemeClr val="accent6"/>
            </a:solidFill>
            <a:prstDash val="solid"/>
          </a:ln>
        </p:spPr>
      </p:sp>
      <p:sp>
        <p:nvSpPr>
          <p:cNvPr id="9" name="Shape 7"/>
          <p:cNvSpPr/>
          <p:nvPr/>
        </p:nvSpPr>
        <p:spPr>
          <a:xfrm>
            <a:off x="4536796" y="1417320"/>
            <a:ext cx="310896" cy="310896"/>
          </a:xfrm>
          <a:prstGeom prst="ellipse">
            <a:avLst/>
          </a:prstGeom>
          <a:solidFill>
            <a:schemeClr val="accent4"/>
          </a:solidFill>
          <a:ln w="12700">
            <a:solidFill>
              <a:schemeClr val="accent4"/>
            </a:solidFill>
            <a:prstDash val="solid"/>
          </a:ln>
        </p:spPr>
      </p:sp>
      <p:sp>
        <p:nvSpPr>
          <p:cNvPr id="10" name="Text 8"/>
          <p:cNvSpPr txBox="1"/>
          <p:nvPr/>
        </p:nvSpPr>
        <p:spPr>
          <a:xfrm>
            <a:off x="4536796" y="1417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9"/>
          <p:cNvSpPr txBox="1"/>
          <p:nvPr/>
        </p:nvSpPr>
        <p:spPr>
          <a:xfrm>
            <a:off x="4939132" y="1417320"/>
            <a:ext cx="2788920" cy="310896"/>
          </a:xfrm>
          <a:prstGeom prst="rect">
            <a:avLst/>
          </a:prstGeom>
          <a:noFill/>
          <a:ln/>
        </p:spPr>
        <p:txBody>
          <a:bodyPr wrap="square" lIns="0" tIns="0" rIns="0" bIns="0" rtlCol="0" anchor="ctr"/>
          <a:lstStyle/>
          <a:p>
            <a:pPr indent="0" marL="0">
              <a:buNone/>
            </a:pPr>
            <a:r>
              <a:rPr lang="en-US" sz="1200" b="1" spc="100" kern="0" dirty="0">
                <a:solidFill>
                  <a:schemeClr val="accent4"/>
                </a:solidFill>
              </a:rPr>
              <a:t>LIMITATIONS</a:t>
            </a:r>
            <a:endParaRPr lang="en-US" sz="1200" dirty="0"/>
          </a:p>
        </p:txBody>
      </p:sp>
      <p:sp>
        <p:nvSpPr>
          <p:cNvPr id="12" name="Text 10"/>
          <p:cNvSpPr txBox="1"/>
          <p:nvPr/>
        </p:nvSpPr>
        <p:spPr>
          <a:xfrm>
            <a:off x="4536796" y="1892808"/>
            <a:ext cx="3136392" cy="32918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Gains are small: 0.3–1% at 5–15 min, 1–3% at 60 min</a:t>
            </a:r>
            <a:endParaRPr lang="en-US" sz="1400" dirty="0"/>
          </a:p>
          <a:p>
            <a:pPr marL="342900" indent="-342900">
              <a:spcAft>
                <a:spcPts val="700"/>
              </a:spcAft>
              <a:buSzPct val="100000"/>
              <a:buChar char="•"/>
            </a:pPr>
            <a:r>
              <a:rPr lang="en-US" sz="1400" dirty="0">
                <a:solidFill>
                  <a:schemeClr val="tx1"/>
                </a:solidFill>
              </a:rPr>
              <a:t>No early-warning advantage on either network</a:t>
            </a:r>
            <a:endParaRPr lang="en-US" sz="1400" dirty="0"/>
          </a:p>
          <a:p>
            <a:pPr marL="342900" indent="-342900">
              <a:spcAft>
                <a:spcPts val="700"/>
              </a:spcAft>
              <a:buSzPct val="100000"/>
              <a:buChar char="•"/>
            </a:pPr>
            <a:r>
              <a:rPr lang="en-US" sz="1400" dirty="0">
                <a:solidFill>
                  <a:schemeClr val="tx1"/>
                </a:solidFill>
              </a:rPr>
              <a:t>Input is only the last hour; no time-of-day features</a:t>
            </a:r>
            <a:endParaRPr lang="en-US" sz="1400" dirty="0"/>
          </a:p>
          <a:p>
            <a:pPr marL="342900" indent="-342900">
              <a:spcAft>
                <a:spcPts val="700"/>
              </a:spcAft>
              <a:buSzPct val="100000"/>
              <a:buChar char="•"/>
            </a:pPr>
            <a:r>
              <a:rPr lang="en-US" sz="1400" dirty="0">
                <a:solidFill>
                  <a:schemeClr val="tx1"/>
                </a:solidFill>
              </a:rPr>
              <a:t>2004–05 data; 3 seeds, one split; GÉANT routing approximate</a:t>
            </a:r>
            <a:endParaRPr lang="en-US" sz="1400" dirty="0"/>
          </a:p>
          <a:p>
            <a:pPr marL="342900" indent="-342900">
              <a:spcAft>
                <a:spcPts val="700"/>
              </a:spcAft>
              <a:buSzPct val="100000"/>
              <a:buChar char="•"/>
            </a:pPr>
            <a:r>
              <a:rPr lang="en-US" sz="1400" dirty="0">
                <a:solidFill>
                  <a:schemeClr val="tx1"/>
                </a:solidFill>
              </a:rPr>
              <a:t>Offline only — no live deployment or rerouting</a:t>
            </a:r>
            <a:endParaRPr lang="en-US" sz="1400" dirty="0"/>
          </a:p>
        </p:txBody>
      </p:sp>
      <p:sp>
        <p:nvSpPr>
          <p:cNvPr id="13" name="Shape 11"/>
          <p:cNvSpPr/>
          <p:nvPr/>
        </p:nvSpPr>
        <p:spPr>
          <a:xfrm>
            <a:off x="8122615" y="1234440"/>
            <a:ext cx="3520440" cy="4069080"/>
          </a:xfrm>
          <a:prstGeom prst="roundRect">
            <a:avLst>
              <a:gd name="adj" fmla="val 2078"/>
            </a:avLst>
          </a:prstGeom>
          <a:solidFill>
            <a:schemeClr val="bg2"/>
          </a:solidFill>
          <a:ln w="9525">
            <a:solidFill>
              <a:schemeClr val="bg2"/>
            </a:solidFill>
            <a:prstDash val="solid"/>
          </a:ln>
        </p:spPr>
      </p:sp>
      <p:sp>
        <p:nvSpPr>
          <p:cNvPr id="14" name="Shape 12"/>
          <p:cNvSpPr/>
          <p:nvPr/>
        </p:nvSpPr>
        <p:spPr>
          <a:xfrm>
            <a:off x="8323783" y="1417320"/>
            <a:ext cx="310896" cy="310896"/>
          </a:xfrm>
          <a:prstGeom prst="ellipse">
            <a:avLst/>
          </a:prstGeom>
          <a:solidFill>
            <a:schemeClr val="accent3"/>
          </a:solidFill>
          <a:ln w="12700">
            <a:solidFill>
              <a:schemeClr val="accent3"/>
            </a:solidFill>
            <a:prstDash val="solid"/>
          </a:ln>
        </p:spPr>
      </p:sp>
      <p:sp>
        <p:nvSpPr>
          <p:cNvPr id="15" name="Text 13"/>
          <p:cNvSpPr txBox="1"/>
          <p:nvPr/>
        </p:nvSpPr>
        <p:spPr>
          <a:xfrm>
            <a:off x="8323783" y="1417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 14"/>
          <p:cNvSpPr txBox="1"/>
          <p:nvPr/>
        </p:nvSpPr>
        <p:spPr>
          <a:xfrm>
            <a:off x="8726119" y="1417320"/>
            <a:ext cx="2788920" cy="310896"/>
          </a:xfrm>
          <a:prstGeom prst="rect">
            <a:avLst/>
          </a:prstGeom>
          <a:noFill/>
          <a:ln/>
        </p:spPr>
        <p:txBody>
          <a:bodyPr wrap="square" lIns="0" tIns="0" rIns="0" bIns="0" rtlCol="0" anchor="ctr"/>
          <a:lstStyle/>
          <a:p>
            <a:pPr indent="0" marL="0">
              <a:buNone/>
            </a:pPr>
            <a:r>
              <a:rPr lang="en-US" sz="1200" b="1" spc="100" kern="0" dirty="0">
                <a:solidFill>
                  <a:schemeClr val="accent3"/>
                </a:solidFill>
              </a:rPr>
              <a:t>FUTURE SCOPE</a:t>
            </a:r>
            <a:endParaRPr lang="en-US" sz="1200" dirty="0"/>
          </a:p>
        </p:txBody>
      </p:sp>
      <p:sp>
        <p:nvSpPr>
          <p:cNvPr id="17" name="Text 15"/>
          <p:cNvSpPr txBox="1"/>
          <p:nvPr/>
        </p:nvSpPr>
        <p:spPr>
          <a:xfrm>
            <a:off x="8323783" y="1892808"/>
            <a:ext cx="3136392" cy="32918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Seasonal baseline (“same time yesterday”) and time-of-day inputs</a:t>
            </a:r>
            <a:endParaRPr lang="en-US" sz="1400" dirty="0"/>
          </a:p>
          <a:p>
            <a:pPr marL="342900" indent="-342900">
              <a:spcAft>
                <a:spcPts val="700"/>
              </a:spcAft>
              <a:buSzPct val="100000"/>
              <a:buChar char="•"/>
            </a:pPr>
            <a:r>
              <a:rPr lang="en-US" sz="1400" dirty="0">
                <a:solidFill>
                  <a:schemeClr val="tx1"/>
                </a:solidFill>
              </a:rPr>
              <a:t>Probabilistic forecasts: warn on the chance of exceeding 50%</a:t>
            </a:r>
            <a:endParaRPr lang="en-US" sz="1400" dirty="0"/>
          </a:p>
          <a:p>
            <a:pPr marL="342900" indent="-342900">
              <a:spcAft>
                <a:spcPts val="700"/>
              </a:spcAft>
              <a:buSzPct val="100000"/>
              <a:buChar char="•"/>
            </a:pPr>
            <a:r>
              <a:rPr lang="en-US" sz="1400" dirty="0">
                <a:solidFill>
                  <a:schemeClr val="tx1"/>
                </a:solidFill>
              </a:rPr>
              <a:t>Link-aware loss or graph neural network over the topology</a:t>
            </a:r>
            <a:endParaRPr lang="en-US" sz="1400" dirty="0"/>
          </a:p>
          <a:p>
            <a:pPr marL="342900" indent="-342900">
              <a:spcAft>
                <a:spcPts val="700"/>
              </a:spcAft>
              <a:buSzPct val="100000"/>
              <a:buChar char="•"/>
            </a:pPr>
            <a:r>
              <a:rPr lang="en-US" sz="1400" dirty="0">
                <a:solidFill>
                  <a:schemeClr val="tx1"/>
                </a:solidFill>
              </a:rPr>
              <a:t>Third dataset, e.g. CESNET-TimeSeries24</a:t>
            </a:r>
            <a:endParaRPr lang="en-US" sz="1400" dirty="0"/>
          </a:p>
          <a:p>
            <a:pPr marL="342900" indent="-342900">
              <a:spcAft>
                <a:spcPts val="700"/>
              </a:spcAft>
              <a:buSzPct val="100000"/>
              <a:buChar char="•"/>
            </a:pPr>
            <a:r>
              <a:rPr lang="en-US" sz="1400" dirty="0">
                <a:solidFill>
                  <a:schemeClr val="tx1"/>
                </a:solidFill>
              </a:rPr>
              <a:t>Simulate rerouting to measure operational benefit</a:t>
            </a:r>
            <a:endParaRPr lang="en-US" sz="1400" dirty="0"/>
          </a:p>
        </p:txBody>
      </p:sp>
      <p:sp>
        <p:nvSpPr>
          <p:cNvPr id="18" name="Shape 16"/>
          <p:cNvSpPr/>
          <p:nvPr/>
        </p:nvSpPr>
        <p:spPr>
          <a:xfrm>
            <a:off x="548640" y="5486400"/>
            <a:ext cx="11094415" cy="749808"/>
          </a:xfrm>
          <a:prstGeom prst="roundRect">
            <a:avLst>
              <a:gd name="adj" fmla="val 9756"/>
            </a:avLst>
          </a:prstGeom>
          <a:solidFill>
            <a:schemeClr val="bg1"/>
          </a:solidFill>
          <a:ln w="12700">
            <a:solidFill>
              <a:srgbClr val="D5D3DF"/>
            </a:solidFill>
            <a:prstDash val="solid"/>
          </a:ln>
        </p:spPr>
      </p:sp>
      <p:sp>
        <p:nvSpPr>
          <p:cNvPr id="19" name="Text 17"/>
          <p:cNvSpPr txBox="1"/>
          <p:nvPr/>
        </p:nvSpPr>
        <p:spPr>
          <a:xfrm>
            <a:off x="749808" y="5486400"/>
            <a:ext cx="10692079" cy="749808"/>
          </a:xfrm>
          <a:prstGeom prst="rect">
            <a:avLst/>
          </a:prstGeom>
          <a:noFill/>
          <a:ln/>
        </p:spPr>
        <p:txBody>
          <a:bodyPr wrap="square" lIns="0" tIns="0" rIns="0" bIns="0" rtlCol="0" anchor="ctr"/>
          <a:lstStyle/>
          <a:p>
            <a:pPr indent="0" marL="0">
              <a:buNone/>
            </a:pPr>
            <a:r>
              <a:rPr lang="en-US" sz="1300" b="1" dirty="0">
                <a:solidFill>
                  <a:schemeClr val="tx1"/>
                </a:solidFill>
              </a:rPr>
              <a:t>Remaining work: </a:t>
            </a:r>
            <a:pPr indent="0" marL="0">
              <a:buNone/>
            </a:pPr>
            <a:r>
              <a:rPr lang="en-US" sz="1300" dirty="0">
                <a:solidFill>
                  <a:schemeClr val="tx2"/>
                </a:solidFill>
              </a:rPr>
              <a:t>final written report.   </a:t>
            </a:r>
            <a:pPr indent="0" marL="0">
              <a:buNone/>
            </a:pPr>
            <a:r>
              <a:rPr lang="en-US" sz="1300" b="1" dirty="0">
                <a:solidFill>
                  <a:schemeClr val="tx1"/>
                </a:solidFill>
              </a:rPr>
              <a:t>Opportunity: </a:t>
            </a:r>
            <a:pPr indent="0" marL="0">
              <a:buNone/>
            </a:pPr>
            <a:r>
              <a:rPr lang="en-US" sz="1300" dirty="0">
                <a:solidFill>
                  <a:schemeClr val="tx2"/>
                </a:solidFill>
              </a:rPr>
              <a:t>the evaluation findings could form a short research paper after adding more seeds and significance tests. No patent claim — the architecture is not new.</a:t>
            </a:r>
            <a:endParaRPr lang="en-US" sz="13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502920"/>
            <a:ext cx="6400800" cy="73152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548640" y="1463040"/>
            <a:ext cx="1783080" cy="777240"/>
          </a:xfrm>
          <a:prstGeom prst="rect">
            <a:avLst/>
          </a:prstGeom>
          <a:noFill/>
          <a:ln/>
        </p:spPr>
        <p:txBody>
          <a:bodyPr wrap="square" lIns="0" tIns="0" rIns="0" bIns="0" rtlCol="0" anchor="t"/>
          <a:lstStyle/>
          <a:p>
            <a:pPr indent="0" marL="0">
              <a:buNone/>
            </a:pPr>
            <a:r>
              <a:rPr lang="en-US" sz="1500" b="1" dirty="0">
                <a:solidFill>
                  <a:srgbClr val="F2B880"/>
                </a:solidFill>
              </a:rPr>
              <a:t>Problem</a:t>
            </a:r>
            <a:endParaRPr lang="en-US" sz="1500" dirty="0"/>
          </a:p>
        </p:txBody>
      </p:sp>
      <p:sp>
        <p:nvSpPr>
          <p:cNvPr id="4" name="Text 2"/>
          <p:cNvSpPr txBox="1"/>
          <p:nvPr/>
        </p:nvSpPr>
        <p:spPr>
          <a:xfrm>
            <a:off x="2423160" y="1463040"/>
            <a:ext cx="5120640" cy="822960"/>
          </a:xfrm>
          <a:prstGeom prst="rect">
            <a:avLst/>
          </a:prstGeom>
          <a:noFill/>
          <a:ln/>
        </p:spPr>
        <p:txBody>
          <a:bodyPr wrap="square" lIns="0" tIns="0" rIns="0" bIns="0" rtlCol="0" anchor="t"/>
          <a:lstStyle/>
          <a:p>
            <a:pPr indent="0" marL="0">
              <a:buNone/>
            </a:pPr>
            <a:r>
              <a:rPr lang="en-US" sz="1500" dirty="0">
                <a:solidFill>
                  <a:schemeClr val="bg1"/>
                </a:solidFill>
              </a:rPr>
              <a:t>Backbone congestion is handled only after links overload.</a:t>
            </a:r>
            <a:endParaRPr lang="en-US" sz="1500" dirty="0"/>
          </a:p>
        </p:txBody>
      </p:sp>
      <p:sp>
        <p:nvSpPr>
          <p:cNvPr id="5" name="Text 3"/>
          <p:cNvSpPr txBox="1"/>
          <p:nvPr/>
        </p:nvSpPr>
        <p:spPr>
          <a:xfrm>
            <a:off x="548640" y="2194560"/>
            <a:ext cx="1783080" cy="777240"/>
          </a:xfrm>
          <a:prstGeom prst="rect">
            <a:avLst/>
          </a:prstGeom>
          <a:noFill/>
          <a:ln/>
        </p:spPr>
        <p:txBody>
          <a:bodyPr wrap="square" lIns="0" tIns="0" rIns="0" bIns="0" rtlCol="0" anchor="t"/>
          <a:lstStyle/>
          <a:p>
            <a:pPr indent="0" marL="0">
              <a:buNone/>
            </a:pPr>
            <a:r>
              <a:rPr lang="en-US" sz="1500" b="1" dirty="0">
                <a:solidFill>
                  <a:srgbClr val="F2B880"/>
                </a:solidFill>
              </a:rPr>
              <a:t>Solution</a:t>
            </a:r>
            <a:endParaRPr lang="en-US" sz="1500" dirty="0"/>
          </a:p>
        </p:txBody>
      </p:sp>
      <p:sp>
        <p:nvSpPr>
          <p:cNvPr id="6" name="Text 4"/>
          <p:cNvSpPr txBox="1"/>
          <p:nvPr/>
        </p:nvSpPr>
        <p:spPr>
          <a:xfrm>
            <a:off x="2423160" y="2194560"/>
            <a:ext cx="5120640" cy="822960"/>
          </a:xfrm>
          <a:prstGeom prst="rect">
            <a:avLst/>
          </a:prstGeom>
          <a:noFill/>
          <a:ln/>
        </p:spPr>
        <p:txBody>
          <a:bodyPr wrap="square" lIns="0" tIns="0" rIns="0" bIns="0" rtlCol="0" anchor="t"/>
          <a:lstStyle/>
          <a:p>
            <a:pPr indent="0" marL="0">
              <a:buNone/>
            </a:pPr>
            <a:r>
              <a:rPr lang="en-US" sz="1500" dirty="0">
                <a:solidFill>
                  <a:schemeClr val="bg1"/>
                </a:solidFill>
              </a:rPr>
              <a:t>Residual CNN-LSTM forecasting all OD flows 5–60 min ahead, mapped to link loads and warnings.</a:t>
            </a:r>
            <a:endParaRPr lang="en-US" sz="1500" dirty="0"/>
          </a:p>
        </p:txBody>
      </p:sp>
      <p:sp>
        <p:nvSpPr>
          <p:cNvPr id="7" name="Text 5"/>
          <p:cNvSpPr txBox="1"/>
          <p:nvPr/>
        </p:nvSpPr>
        <p:spPr>
          <a:xfrm>
            <a:off x="548640" y="3063240"/>
            <a:ext cx="1783080" cy="777240"/>
          </a:xfrm>
          <a:prstGeom prst="rect">
            <a:avLst/>
          </a:prstGeom>
          <a:noFill/>
          <a:ln/>
        </p:spPr>
        <p:txBody>
          <a:bodyPr wrap="square" lIns="0" tIns="0" rIns="0" bIns="0" rtlCol="0" anchor="t"/>
          <a:lstStyle/>
          <a:p>
            <a:pPr indent="0" marL="0">
              <a:buNone/>
            </a:pPr>
            <a:r>
              <a:rPr lang="en-US" sz="1500" b="1" dirty="0">
                <a:solidFill>
                  <a:srgbClr val="F2B880"/>
                </a:solidFill>
              </a:rPr>
              <a:t>Key achievement</a:t>
            </a:r>
            <a:endParaRPr lang="en-US" sz="1500" dirty="0"/>
          </a:p>
        </p:txBody>
      </p:sp>
      <p:sp>
        <p:nvSpPr>
          <p:cNvPr id="8" name="Text 6"/>
          <p:cNvSpPr txBox="1"/>
          <p:nvPr/>
        </p:nvSpPr>
        <p:spPr>
          <a:xfrm>
            <a:off x="2423160" y="3063240"/>
            <a:ext cx="5120640" cy="822960"/>
          </a:xfrm>
          <a:prstGeom prst="rect">
            <a:avLst/>
          </a:prstGeom>
          <a:noFill/>
          <a:ln/>
        </p:spPr>
        <p:txBody>
          <a:bodyPr wrap="square" lIns="0" tIns="0" rIns="0" bIns="0" rtlCol="0" anchor="t"/>
          <a:lstStyle/>
          <a:p>
            <a:pPr indent="0" marL="0">
              <a:buNone/>
            </a:pPr>
            <a:r>
              <a:rPr lang="en-US" sz="1500" dirty="0">
                <a:solidFill>
                  <a:schemeClr val="bg1"/>
                </a:solidFill>
              </a:rPr>
              <a:t>Complete, leak-free pipeline on two real networks; every result reproducible from logs.</a:t>
            </a:r>
            <a:endParaRPr lang="en-US" sz="1500" dirty="0"/>
          </a:p>
        </p:txBody>
      </p:sp>
      <p:sp>
        <p:nvSpPr>
          <p:cNvPr id="9" name="Text 7"/>
          <p:cNvSpPr txBox="1"/>
          <p:nvPr/>
        </p:nvSpPr>
        <p:spPr>
          <a:xfrm>
            <a:off x="548640" y="3931920"/>
            <a:ext cx="1783080" cy="777240"/>
          </a:xfrm>
          <a:prstGeom prst="rect">
            <a:avLst/>
          </a:prstGeom>
          <a:noFill/>
          <a:ln/>
        </p:spPr>
        <p:txBody>
          <a:bodyPr wrap="square" lIns="0" tIns="0" rIns="0" bIns="0" rtlCol="0" anchor="t"/>
          <a:lstStyle/>
          <a:p>
            <a:pPr indent="0" marL="0">
              <a:buNone/>
            </a:pPr>
            <a:r>
              <a:rPr lang="en-US" sz="1500" b="1" dirty="0">
                <a:solidFill>
                  <a:srgbClr val="F2B880"/>
                </a:solidFill>
              </a:rPr>
              <a:t>Key findings</a:t>
            </a:r>
            <a:endParaRPr lang="en-US" sz="1500" dirty="0"/>
          </a:p>
        </p:txBody>
      </p:sp>
      <p:sp>
        <p:nvSpPr>
          <p:cNvPr id="10" name="Text 8"/>
          <p:cNvSpPr txBox="1"/>
          <p:nvPr/>
        </p:nvSpPr>
        <p:spPr>
          <a:xfrm>
            <a:off x="2423160" y="3931920"/>
            <a:ext cx="5120640" cy="822960"/>
          </a:xfrm>
          <a:prstGeom prst="rect">
            <a:avLst/>
          </a:prstGeom>
          <a:noFill/>
          <a:ln/>
        </p:spPr>
        <p:txBody>
          <a:bodyPr wrap="square" lIns="0" tIns="0" rIns="0" bIns="0" rtlCol="0" anchor="t"/>
          <a:lstStyle/>
          <a:p>
            <a:pPr indent="0" marL="0">
              <a:buNone/>
            </a:pPr>
            <a:r>
              <a:rPr lang="en-US" sz="1500" dirty="0">
                <a:solidFill>
                  <a:schemeClr val="bg1"/>
                </a:solidFill>
              </a:rPr>
              <a:t>Beats persistence by 0.3–2.7%, growing with horizon; no earlier congestion warnings — short-term bursts are largely unpredictable from the last hour.</a:t>
            </a:r>
            <a:endParaRPr lang="en-US" sz="1500" dirty="0"/>
          </a:p>
        </p:txBody>
      </p:sp>
      <p:sp>
        <p:nvSpPr>
          <p:cNvPr id="11" name="Text 9"/>
          <p:cNvSpPr txBox="1"/>
          <p:nvPr/>
        </p:nvSpPr>
        <p:spPr>
          <a:xfrm>
            <a:off x="548640" y="5120640"/>
            <a:ext cx="1783080" cy="777240"/>
          </a:xfrm>
          <a:prstGeom prst="rect">
            <a:avLst/>
          </a:prstGeom>
          <a:noFill/>
          <a:ln/>
        </p:spPr>
        <p:txBody>
          <a:bodyPr wrap="square" lIns="0" tIns="0" rIns="0" bIns="0" rtlCol="0" anchor="t"/>
          <a:lstStyle/>
          <a:p>
            <a:pPr indent="0" marL="0">
              <a:buNone/>
            </a:pPr>
            <a:r>
              <a:rPr lang="en-US" sz="1500" b="1" dirty="0">
                <a:solidFill>
                  <a:srgbClr val="F2B880"/>
                </a:solidFill>
              </a:rPr>
              <a:t>Status</a:t>
            </a:r>
            <a:endParaRPr lang="en-US" sz="1500" dirty="0"/>
          </a:p>
        </p:txBody>
      </p:sp>
      <p:sp>
        <p:nvSpPr>
          <p:cNvPr id="12" name="Text 10"/>
          <p:cNvSpPr txBox="1"/>
          <p:nvPr/>
        </p:nvSpPr>
        <p:spPr>
          <a:xfrm>
            <a:off x="2423160" y="5120640"/>
            <a:ext cx="5120640" cy="822960"/>
          </a:xfrm>
          <a:prstGeom prst="rect">
            <a:avLst/>
          </a:prstGeom>
          <a:noFill/>
          <a:ln/>
        </p:spPr>
        <p:txBody>
          <a:bodyPr wrap="square" lIns="0" tIns="0" rIns="0" bIns="0" rtlCol="0" anchor="t"/>
          <a:lstStyle/>
          <a:p>
            <a:pPr indent="0" marL="0">
              <a:buNone/>
            </a:pPr>
            <a:r>
              <a:rPr lang="en-US" sz="1500" dirty="0">
                <a:solidFill>
                  <a:schemeClr val="bg1"/>
                </a:solidFill>
              </a:rPr>
              <a:t>All seven technical objectives complete; final report pending.</a:t>
            </a:r>
            <a:endParaRPr lang="en-US" sz="1500" dirty="0"/>
          </a:p>
        </p:txBody>
      </p:sp>
      <p:sp>
        <p:nvSpPr>
          <p:cNvPr id="13" name="Shape 11"/>
          <p:cNvSpPr/>
          <p:nvPr/>
        </p:nvSpPr>
        <p:spPr>
          <a:xfrm>
            <a:off x="7909560" y="548640"/>
            <a:ext cx="3733495" cy="5669280"/>
          </a:xfrm>
          <a:prstGeom prst="roundRect">
            <a:avLst>
              <a:gd name="adj" fmla="val 2939"/>
            </a:avLst>
          </a:prstGeom>
          <a:solidFill>
            <a:srgbClr val="262C3D"/>
          </a:solidFill>
          <a:ln w="9525">
            <a:solidFill>
              <a:srgbClr val="262C3D"/>
            </a:solidFill>
            <a:prstDash val="solid"/>
          </a:ln>
        </p:spPr>
      </p:sp>
      <p:sp>
        <p:nvSpPr>
          <p:cNvPr id="14" name="Text 12"/>
          <p:cNvSpPr txBox="1"/>
          <p:nvPr/>
        </p:nvSpPr>
        <p:spPr>
          <a:xfrm>
            <a:off x="7909560" y="2103120"/>
            <a:ext cx="3733495" cy="91440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15" name="Text 13"/>
          <p:cNvSpPr txBox="1"/>
          <p:nvPr/>
        </p:nvSpPr>
        <p:spPr>
          <a:xfrm>
            <a:off x="7909560" y="3063240"/>
            <a:ext cx="3733495" cy="548640"/>
          </a:xfrm>
          <a:prstGeom prst="rect">
            <a:avLst/>
          </a:prstGeom>
          <a:noFill/>
          <a:ln/>
        </p:spPr>
        <p:txBody>
          <a:bodyPr wrap="square" lIns="0" tIns="0" rIns="0" bIns="0" rtlCol="0" anchor="ctr"/>
          <a:lstStyle/>
          <a:p>
            <a:pPr algn="ctr" indent="0" marL="0">
              <a:buNone/>
            </a:pPr>
            <a:r>
              <a:rPr lang="en-US" sz="2200" dirty="0">
                <a:solidFill>
                  <a:schemeClr val="accent5"/>
                </a:solidFill>
              </a:rPr>
              <a:t>Questions &amp; Answers</a:t>
            </a:r>
            <a:endParaRPr lang="en-US" sz="2200" dirty="0"/>
          </a:p>
        </p:txBody>
      </p:sp>
      <p:sp>
        <p:nvSpPr>
          <p:cNvPr id="16" name="Text 14"/>
          <p:cNvSpPr txBox="1"/>
          <p:nvPr/>
        </p:nvSpPr>
        <p:spPr>
          <a:xfrm>
            <a:off x="7909560" y="4023360"/>
            <a:ext cx="3733495" cy="365760"/>
          </a:xfrm>
          <a:prstGeom prst="rect">
            <a:avLst/>
          </a:prstGeom>
          <a:noFill/>
          <a:ln/>
        </p:spPr>
        <p:txBody>
          <a:bodyPr wrap="square" lIns="0" tIns="0" rIns="0" bIns="0" rtlCol="0" anchor="t"/>
          <a:lstStyle/>
          <a:p>
            <a:pPr algn="ctr" indent="0" marL="0">
              <a:buNone/>
            </a:pPr>
            <a:r>
              <a:rPr lang="en-US" sz="1400" dirty="0">
                <a:solidFill>
                  <a:srgbClr val="F2B880"/>
                </a:solidFill>
              </a:rPr>
              <a:t>[Presenter names]</a:t>
            </a:r>
            <a:endParaRPr lang="en-US" sz="1400" dirty="0"/>
          </a:p>
        </p:txBody>
      </p:sp>
    </p:spTree>
  </p:cSld>
  <p:clrMapOvr>
    <a:masterClrMapping/>
  </p:clrMapOvr>
</p:sld>
</file>

<file path=ppt/theme/theme1.xml><?xml version="1.0" encoding="utf-8"?>
<a:theme xmlns:a="http://schemas.openxmlformats.org/drawingml/2006/main" name="Traffic Forecasting Review">
  <a:themeElements>
    <a:clrScheme name="Traffic Forecasting Review">
      <a:dk1>
        <a:srgbClr val="1C2130"/>
      </a:dk1>
      <a:lt1>
        <a:srgbClr val="FFFFFF"/>
      </a:lt1>
      <a:dk2>
        <a:srgbClr val="5A6072"/>
      </a:dk2>
      <a:lt2>
        <a:srgbClr val="F3F2F8"/>
      </a:lt2>
      <a:accent1>
        <a:srgbClr val="4B3BA6"/>
      </a:accent1>
      <a:accent2>
        <a:srgbClr val="E8683A"/>
      </a:accent2>
      <a:accent3>
        <a:srgbClr val="1B9E6E"/>
      </a:accent3>
      <a:accent4>
        <a:srgbClr val="C9302C"/>
      </a:accent4>
      <a:accent5>
        <a:srgbClr val="E7E3F6"/>
      </a:accent5>
      <a:accent6>
        <a:srgbClr val="FCEBE3"/>
      </a:accent6>
      <a:hlink>
        <a:srgbClr val="4B3BA6"/>
      </a:hlink>
      <a:folHlink>
        <a:srgbClr val="5A6072"/>
      </a:folHlink>
    </a:clrScheme>
    <a:fontScheme name="Traffic Forecasting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CNN-LSTM Based Network Traffic Forecasting - Final Review</dc:title>
  <dc:subject>B.Tech final-year project, final review</dc:subject>
  <dc:creator>PptxGenJS</dc:creator>
  <cp:lastModifiedBy>PptxGenJS</cp:lastModifiedBy>
  <cp:revision>1</cp:revision>
  <dcterms:created xsi:type="dcterms:W3CDTF">2026-10-21T04:32:01Z</dcterms:created>
  <dcterms:modified xsi:type="dcterms:W3CDTF">2026-10-21T04:32:01Z</dcterms:modified>
</cp:coreProperties>
</file>