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873bdec-a1b3-9239-9c33-22d2f6833f1b}">
          <p14:sldIdLst>
            <p14:sldId id="256"/>
            <p14:sldId id="257"/>
          </p14:sldIdLst>
        </p14:section>
        <p14:section name="Data" id="{5c8ca3fe-615f-fd9b-c9b3-c1d380e0bd69}">
          <p14:sldIdLst>
            <p14:sldId id="258"/>
            <p14:sldId id="259"/>
          </p14:sldIdLst>
        </p14:section>
        <p14:section name="Method" id="{c4fa2fbc-9d57-d0a2-8b87-e8a6316cbf0e}">
          <p14:sldIdLst>
            <p14:sldId id="260"/>
            <p14:sldId id="261"/>
          </p14:sldIdLst>
        </p14:section>
        <p14:section name="Results" id="{94c98824-526d-7c58-5ad7-da669babbfd5}">
          <p14:sldIdLst>
            <p14:sldId id="262"/>
            <p14:sldId id="263"/>
          </p14:sldIdLst>
        </p14:section>
        <p14:section name="Outlook" id="{3300f508-6538-502a-db1b-53b79f91e7e5}">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2A3A"/>
                </a:solidFill>
                <a:latin typeface="+mn-lt"/>
              </a:defRPr>
            </a:pPr>
            <a:r>
              <a:rPr sz="1400" b="0" i="0" u="none" strike="noStrike">
                <a:solidFill>
                  <a:srgbClr val="0E2A3A"/>
                </a:solidFill>
                <a:latin typeface="+mn-lt"/>
              </a:rPr>
              <a:t>Test MAE, all 144 flows (Mbit/s, lower is better)</a:t>
            </a:r>
          </a:p>
        </c:rich>
      </c:tx>
      <c:layout/>
      <c:overlay val="0"/>
    </c:title>
    <c:autoTitleDeleted val="0"/>
    <c:plotArea>
      <c:layout/>
      <c:barChart>
        <c:barDir val="bar"/>
        <c:grouping val="clustered"/>
        <c:varyColors val="0"/>
        <c:ser>
          <c:idx val="0"/>
          <c:order val="0"/>
          <c:tx>
            <c:strRef>
              <c:f>Sheet1!$B$1</c:f>
              <c:strCache>
                <c:ptCount val="1"/>
                <c:pt idx="0">
                  <c:v>Test MAE (Mbit/s)</c:v>
                </c:pt>
              </c:strCache>
            </c:strRef>
          </c:tx>
          <c:spPr>
            <a:solidFill>
              <a:srgbClr val="E07B1A"/>
            </a:solidFill>
            <a:effectLst/>
          </c:spPr>
          <c:invertIfNegative val="0"/>
          <c:dLbls>
            <c:numFmt formatCode="0.000" sourceLinked="0"/>
            <c:txPr>
              <a:bodyPr/>
              <a:lstStyle/>
              <a:p>
                <a:pPr>
                  <a:defRPr b="0" i="0" strike="noStrike" sz="1300" u="none">
                    <a:solidFill>
                      <a:srgbClr val="16232E"/>
                    </a:solidFill>
                    <a:latin typeface="+mn-lt"/>
                  </a:defRPr>
                </a:pPr>
              </a:p>
            </c:txPr>
            <c:showLegendKey val="0"/>
            <c:showVal val="1"/>
            <c:showCatName val="0"/>
            <c:showSerName val="0"/>
            <c:showPercent val="0"/>
            <c:showBubbleSize val="0"/>
            <c:showLeaderLines val="0"/>
          </c:dLbls>
          <c:dPt>
            <c:idx val="0"/>
            <c:invertIfNegative val="0"/>
            <c:bubble3D val="0"/>
            <c:spPr>
              <a:solidFill>
                <a:srgbClr val="E07B1A"/>
              </a:solidFill>
              <a:effectLst/>
            </c:spPr>
          </c:dPt>
          <c:dPt>
            <c:idx val="1"/>
            <c:invertIfNegative val="0"/>
            <c:bubble3D val="0"/>
            <c:spPr>
              <a:solidFill>
                <a:srgbClr val="9AA6AF"/>
              </a:solidFill>
              <a:effectLst/>
            </c:spPr>
          </c:dPt>
          <c:dPt>
            <c:idx val="2"/>
            <c:invertIfNegative val="0"/>
            <c:bubble3D val="0"/>
            <c:spPr>
              <a:solidFill>
                <a:srgbClr val="9AA6AF"/>
              </a:solidFill>
              <a:effectLst/>
            </c:spPr>
          </c:dPt>
          <c:dPt>
            <c:idx val="3"/>
            <c:invertIfNegative val="0"/>
            <c:bubble3D val="0"/>
            <c:spPr>
              <a:solidFill>
                <a:srgbClr val="1C7C8C"/>
              </a:solidFill>
              <a:effectLst/>
            </c:spPr>
          </c:dPt>
          <c:dPt>
            <c:idx val="4"/>
            <c:invertIfNegative val="0"/>
            <c:bubble3D val="0"/>
            <c:spPr>
              <a:solidFill>
                <a:srgbClr val="1C7C8C"/>
              </a:solidFill>
              <a:effectLst/>
            </c:spPr>
          </c:dPt>
          <c:cat>
            <c:multiLvlStrRef>
              <c:f>Sheet1!$A$2:$A$6</c:f>
              <c:multiLvlStrCache>
                <c:ptCount val="5"/>
                <c:lvl>
                  <c:pt idx="0">
                    <c:v>Persistence</c:v>
                  </c:pt>
                  <c:pt idx="1">
                    <c:v>LSTM-only</c:v>
                  </c:pt>
                  <c:pt idx="2">
                    <c:v>CNN-only</c:v>
                  </c:pt>
                  <c:pt idx="3">
                    <c:v>LSTM-only, residual</c:v>
                  </c:pt>
                  <c:pt idx="4">
                    <c:v>CNN-only, residual</c:v>
                  </c:pt>
                </c:lvl>
              </c:multiLvlStrCache>
            </c:multiLvlStrRef>
          </c:cat>
          <c:val>
            <c:numRef>
              <c:f>Sheet1!$B$2:$B$6</c:f>
              <c:numCache>
                <c:formatCode>General</c:formatCode>
                <c:ptCount val="5"/>
                <c:pt idx="0">
                  <c:v>3.212</c:v>
                </c:pt>
                <c:pt idx="1">
                  <c:v>9.076</c:v>
                </c:pt>
                <c:pt idx="2">
                  <c:v>10.821</c:v>
                </c:pt>
                <c:pt idx="3">
                  <c:v>3.226</c:v>
                </c:pt>
                <c:pt idx="4">
                  <c:v>3.222</c:v>
                </c:pt>
              </c:numCache>
            </c:numRef>
          </c:val>
        </c:ser>
        <c:dLbls>
          <c:numFmt formatCode="0.000" sourceLinked="0"/>
          <c:txPr>
            <a:bodyPr/>
            <a:lstStyle/>
            <a:p>
              <a:pPr>
                <a:defRPr b="0" i="0" strike="noStrike" sz="1300" u="none">
                  <a:solidFill>
                    <a:srgbClr val="1623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6232E"/>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b"/>
        <c:majorGridlines>
          <c:spPr>
            <a:ln w="9525" cap="flat">
              <a:solidFill>
                <a:srgbClr val="E3E8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8"/>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forecasting traffic between router pairs on a real backbone network (Abilene), so that future link loads can be estimated and congestion flagged early. The map is drawn from the dataset's own topology file. Replace the bracketed name, registration number and course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Reactive congestion handling waits until a link is overloaded. If each origin-destination flow can be forecast a few minutes ahead, those forecasts can be turned into future link loads and early warnings. The teal steps are what the project has built so far; the dashed amber steps are the planned application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Abilene: 12 routers give 144 origin-destination flows, one reading every 5 minutes, 24 weekly files of 2,016 readings. Each flow has 5 values; the first, realOD, is the real measurement. The pipeline cleans the data, cuts it into continuous segments, applies log1p and per-flow min-max scaling (fitted on training data only), builds 1-hour windows and splits them in time order 60/20/20.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modelling, the raw files needed cleaning. Four automatic rules remove duplicated days, long flow outages, router outages and one impossible value; everything else is kept, including the ordinary zeros in small flows. Removed steps are dropped, not filled in, so the model is never trained or scored on invented numbers. 84.4% of time steps remain, in 9 continuous segments; windows never cross a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12 consecutive readings of all 144 flows, one hour. Output: 144 values, each flow 5 minutes ahead. The planned CNN-LSTM: two causal 1-D convolutions pick up short-term patterns, max pooling halves the sequence, two LSTM layers model how the patterns evolve, dropout limits memorising, and a dense layer outputs the 144 forecasts. Causal padding means no step can see a later reading, so there is no future leakage. 143,608 parameters, small enough for a laptop CPU. This hybrid has not been trained yet; that is Phase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are compared in a fixed order, from the simplest baseline up to the hybrid. Persistence, ARIMA, LSTM-only, CNN-only and the residual LSTM and CNN are done; the CNN-LSTM and tuning are Phase 4. Metrics: MAE and RMSE in Mbit/s, MAPE with its coverage, because MAPE explodes on near-zero flows and is only computed where the true value is at least 10% of the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are test-split MAE in Mbit/s. Over all 144 flows, persistence scores 3.212. The LSTM-only and CNN-only models as planned are 2.8x and 3.4x worse. The residual versions bring the error down to 3.226 and 3.222, level with persistence. ARIMA was only run on the 5 busiest flows, so it is compared there: persistence 21.28, ARIMA 21.87, residual LSTM 21.25, the only model to edge past both. The CNN-LSTM has not been trained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lesson so far: at 5-minute steps the best predictor of the next value is the current one. Models that predict the level from scratch drift towards typical values and lose badly. A residual model starts from the current value and only learns a correction; it cut the error by about two thirds and is now level with persistence, slightly ahead on the 5 busiest flows. The LOSA to CHIN flow, which bursts to about 6.5 Gbit/s, shows why bursts are hard. Open question for Phase 4: the residual LSTM is 28% better than persistence in its training loss but only level in Mbit/s; a loss closer to MAE will be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planned, not done. Forecasts of the 144 flows will be multiplied by the routing matrix to get predicted loads on each link, compared with link capacity, and turned into early warnings. The routing matrix itself is already parsed and checked: 54 links by 144 flows, each flow on one path. Remaining phases: train and tune the CNN-LSTM, longer horizons and ablations, the congestion application and the GEANT dataset, then error analysis and the final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the network is modelled as 144 flows; one hour of history predicts the next 5 minutes; the CNN and LSTM layers have complementary roles; the clearest result so far is that residual learning is essential. The next step is the CNN-LSTM itself and then the link-load and congestion-warning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E2A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760720" cy="173736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548640" y="3246120"/>
            <a:ext cx="5760720" cy="548640"/>
          </a:xfrm>
          <a:prstGeom prst="rect">
            <a:avLst/>
          </a:prstGeom>
          <a:noFill/>
          <a:ln/>
        </p:spPr>
        <p:txBody>
          <a:bodyPr wrap="square" rtlCol="0"/>
          <a:lstStyle>
            <a:lvl1pPr indent="0" marL="0">
              <a:buNone/>
              <a:defRPr lang="en-US" sz="2200" dirty="0">
                <a:solidFill>
                  <a:schemeClr val="accent4"/>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3152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CNN-LSTM Network Traffic Forecasting  ·  Project Review</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E2A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548640" y="822960"/>
            <a:ext cx="5760720" cy="320040"/>
          </a:xfrm>
          <a:prstGeom prst="rect">
            <a:avLst/>
          </a:prstGeom>
          <a:noFill/>
          <a:ln/>
        </p:spPr>
        <p:txBody>
          <a:bodyPr wrap="square" lIns="0" tIns="0" rIns="0" bIns="0" rtlCol="0" anchor="t"/>
          <a:lstStyle/>
          <a:p>
            <a:pPr indent="0" marL="0">
              <a:buNone/>
            </a:pPr>
            <a:r>
              <a:rPr lang="en-US" sz="1200" b="1" spc="200" kern="0" dirty="0">
                <a:solidFill>
                  <a:schemeClr val="accent4"/>
                </a:solidFill>
              </a:rPr>
              <a:t>B.TECH FINAL-YEAR PROJECT  ·  PROJECT REVIEW</a:t>
            </a:r>
            <a:endParaRPr lang="en-US" sz="1200" dirty="0"/>
          </a:p>
        </p:txBody>
      </p:sp>
      <p:sp>
        <p:nvSpPr>
          <p:cNvPr id="3" name="Text 0"/>
          <p:cNvSpPr/>
          <p:nvPr>
            <p:ph idx="100" type="title" hasCustomPrompt="1"/>
          </p:nvPr>
        </p:nvSpPr>
        <p:spPr>
          <a:xfrm>
            <a:off x="548640" y="1417320"/>
            <a:ext cx="5760720" cy="1737360"/>
          </a:xfrm>
          <a:prstGeom prst="rect">
            <a:avLst/>
          </a:prstGeom>
          <a:noFill/>
          <a:ln/>
        </p:spPr>
        <p:txBody>
          <a:bodyPr wrap="square" lIns="0" tIns="0" rIns="0" bIns="0" rtlCol="0" anchor="t"/>
          <a:lstStyle/>
          <a:p>
            <a:pPr indent="0" marL="0">
              <a:buNone/>
            </a:pPr>
            <a:r>
              <a:rPr lang="en-US" sz="4000" b="1" dirty="0">
                <a:solidFill>
                  <a:schemeClr val="bg1"/>
                </a:solidFill>
              </a:rPr>
              <a:t>CNN-LSTM Based Network Traffic Forecasting</a:t>
            </a:r>
            <a:endParaRPr lang="en-US" sz="4000" dirty="0"/>
          </a:p>
        </p:txBody>
      </p:sp>
      <p:sp>
        <p:nvSpPr>
          <p:cNvPr id="4" name="Text 0"/>
          <p:cNvSpPr/>
          <p:nvPr>
            <p:ph idx="101" type="body" hasCustomPrompt="1"/>
          </p:nvPr>
        </p:nvSpPr>
        <p:spPr>
          <a:xfrm>
            <a:off x="548640" y="3246120"/>
            <a:ext cx="5760720" cy="548640"/>
          </a:xfrm>
          <a:prstGeom prst="rect">
            <a:avLst/>
          </a:prstGeom>
          <a:noFill/>
          <a:ln/>
        </p:spPr>
        <p:txBody>
          <a:bodyPr wrap="square" lIns="0" tIns="0" rIns="0" bIns="0" rtlCol="0"/>
          <a:lstStyle/>
          <a:p>
            <a:pPr indent="0" marL="0">
              <a:buNone/>
            </a:pPr>
            <a:r>
              <a:rPr lang="en-US" sz="2200" dirty="0">
                <a:solidFill>
                  <a:schemeClr val="accent4"/>
                </a:solidFill>
              </a:rPr>
              <a:t>Proactive Network Congestion Avoidance</a:t>
            </a:r>
            <a:endParaRPr lang="en-US" sz="2200" dirty="0"/>
          </a:p>
        </p:txBody>
      </p:sp>
      <p:sp>
        <p:nvSpPr>
          <p:cNvPr id="5" name="text-2"/>
          <p:cNvSpPr txBox="1"/>
          <p:nvPr/>
        </p:nvSpPr>
        <p:spPr>
          <a:xfrm>
            <a:off x="548640" y="4343400"/>
            <a:ext cx="1828800" cy="365760"/>
          </a:xfrm>
          <a:prstGeom prst="rect">
            <a:avLst/>
          </a:prstGeom>
          <a:noFill/>
          <a:ln/>
        </p:spPr>
        <p:txBody>
          <a:bodyPr wrap="square" lIns="0" tIns="0" rIns="0" bIns="0" rtlCol="0" anchor="ctr"/>
          <a:lstStyle/>
          <a:p>
            <a:pPr indent="0" marL="0">
              <a:buNone/>
            </a:pPr>
            <a:r>
              <a:rPr lang="en-US" sz="1300" dirty="0">
                <a:solidFill>
                  <a:schemeClr val="accent4"/>
                </a:solidFill>
              </a:rPr>
              <a:t>Presented by</a:t>
            </a:r>
            <a:endParaRPr lang="en-US" sz="1300" dirty="0"/>
          </a:p>
        </p:txBody>
      </p:sp>
      <p:sp>
        <p:nvSpPr>
          <p:cNvPr id="6" name="text-3"/>
          <p:cNvSpPr txBox="1"/>
          <p:nvPr/>
        </p:nvSpPr>
        <p:spPr>
          <a:xfrm>
            <a:off x="2377440" y="4343400"/>
            <a:ext cx="3931920" cy="365760"/>
          </a:xfrm>
          <a:prstGeom prst="rect">
            <a:avLst/>
          </a:prstGeom>
          <a:noFill/>
          <a:ln/>
        </p:spPr>
        <p:txBody>
          <a:bodyPr wrap="square" lIns="0" tIns="0" rIns="0" bIns="0" rtlCol="0" anchor="ctr"/>
          <a:lstStyle/>
          <a:p>
            <a:pPr indent="0" marL="0">
              <a:buNone/>
            </a:pPr>
            <a:r>
              <a:rPr lang="en-US" sz="1600" b="1" dirty="0">
                <a:solidFill>
                  <a:schemeClr val="bg1"/>
                </a:solidFill>
              </a:rPr>
              <a:t>[Your Name]</a:t>
            </a:r>
            <a:endParaRPr lang="en-US" sz="1600" dirty="0"/>
          </a:p>
        </p:txBody>
      </p:sp>
      <p:sp>
        <p:nvSpPr>
          <p:cNvPr id="7" name="text-4"/>
          <p:cNvSpPr txBox="1"/>
          <p:nvPr/>
        </p:nvSpPr>
        <p:spPr>
          <a:xfrm>
            <a:off x="548640" y="4800600"/>
            <a:ext cx="1828800" cy="365760"/>
          </a:xfrm>
          <a:prstGeom prst="rect">
            <a:avLst/>
          </a:prstGeom>
          <a:noFill/>
          <a:ln/>
        </p:spPr>
        <p:txBody>
          <a:bodyPr wrap="square" lIns="0" tIns="0" rIns="0" bIns="0" rtlCol="0" anchor="ctr"/>
          <a:lstStyle/>
          <a:p>
            <a:pPr indent="0" marL="0">
              <a:buNone/>
            </a:pPr>
            <a:r>
              <a:rPr lang="en-US" sz="1300" dirty="0">
                <a:solidFill>
                  <a:schemeClr val="accent4"/>
                </a:solidFill>
              </a:rPr>
              <a:t>Registration No.</a:t>
            </a:r>
            <a:endParaRPr lang="en-US" sz="1300" dirty="0"/>
          </a:p>
        </p:txBody>
      </p:sp>
      <p:sp>
        <p:nvSpPr>
          <p:cNvPr id="8" name="text-5"/>
          <p:cNvSpPr txBox="1"/>
          <p:nvPr/>
        </p:nvSpPr>
        <p:spPr>
          <a:xfrm>
            <a:off x="2377440" y="4800600"/>
            <a:ext cx="3931920" cy="365760"/>
          </a:xfrm>
          <a:prstGeom prst="rect">
            <a:avLst/>
          </a:prstGeom>
          <a:noFill/>
          <a:ln/>
        </p:spPr>
        <p:txBody>
          <a:bodyPr wrap="square" lIns="0" tIns="0" rIns="0" bIns="0" rtlCol="0" anchor="ctr"/>
          <a:lstStyle/>
          <a:p>
            <a:pPr indent="0" marL="0">
              <a:buNone/>
            </a:pPr>
            <a:r>
              <a:rPr lang="en-US" sz="1600" b="1" dirty="0">
                <a:solidFill>
                  <a:schemeClr val="bg1"/>
                </a:solidFill>
              </a:rPr>
              <a:t>[Registration Number]</a:t>
            </a:r>
            <a:endParaRPr lang="en-US" sz="1600" dirty="0"/>
          </a:p>
        </p:txBody>
      </p:sp>
      <p:sp>
        <p:nvSpPr>
          <p:cNvPr id="9" name="text-6"/>
          <p:cNvSpPr txBox="1"/>
          <p:nvPr/>
        </p:nvSpPr>
        <p:spPr>
          <a:xfrm>
            <a:off x="548640" y="5257800"/>
            <a:ext cx="1828800" cy="365760"/>
          </a:xfrm>
          <a:prstGeom prst="rect">
            <a:avLst/>
          </a:prstGeom>
          <a:noFill/>
          <a:ln/>
        </p:spPr>
        <p:txBody>
          <a:bodyPr wrap="square" lIns="0" tIns="0" rIns="0" bIns="0" rtlCol="0" anchor="ctr"/>
          <a:lstStyle/>
          <a:p>
            <a:pPr indent="0" marL="0">
              <a:buNone/>
            </a:pPr>
            <a:r>
              <a:rPr lang="en-US" sz="1300" dirty="0">
                <a:solidFill>
                  <a:schemeClr val="accent4"/>
                </a:solidFill>
              </a:rPr>
              <a:t>Course</a:t>
            </a:r>
            <a:endParaRPr lang="en-US" sz="1300" dirty="0"/>
          </a:p>
        </p:txBody>
      </p:sp>
      <p:sp>
        <p:nvSpPr>
          <p:cNvPr id="10" name="text-7"/>
          <p:cNvSpPr txBox="1"/>
          <p:nvPr/>
        </p:nvSpPr>
        <p:spPr>
          <a:xfrm>
            <a:off x="2377440" y="5257800"/>
            <a:ext cx="3931920" cy="365760"/>
          </a:xfrm>
          <a:prstGeom prst="rect">
            <a:avLst/>
          </a:prstGeom>
          <a:noFill/>
          <a:ln/>
        </p:spPr>
        <p:txBody>
          <a:bodyPr wrap="square" lIns="0" tIns="0" rIns="0" bIns="0" rtlCol="0" anchor="ctr"/>
          <a:lstStyle/>
          <a:p>
            <a:pPr indent="0" marL="0">
              <a:buNone/>
            </a:pPr>
            <a:r>
              <a:rPr lang="en-US" sz="1600" b="1" dirty="0">
                <a:solidFill>
                  <a:schemeClr val="bg1"/>
                </a:solidFill>
              </a:rPr>
              <a:t>[Course / Project Title]</a:t>
            </a:r>
            <a:endParaRPr lang="en-US" sz="1600" dirty="0"/>
          </a:p>
        </p:txBody>
      </p:sp>
      <p:sp>
        <p:nvSpPr>
          <p:cNvPr id="11" name="link-8"/>
          <p:cNvSpPr/>
          <p:nvPr/>
        </p:nvSpPr>
        <p:spPr>
          <a:xfrm>
            <a:off x="10574727" y="4227452"/>
            <a:ext cx="384048" cy="274320"/>
          </a:xfrm>
          <a:prstGeom prst="line">
            <a:avLst/>
          </a:prstGeom>
          <a:noFill/>
          <a:ln w="28575">
            <a:solidFill>
              <a:schemeClr val="accent4">
                <a:alpha val="85000"/>
              </a:schemeClr>
            </a:solidFill>
            <a:prstDash val="solid"/>
          </a:ln>
        </p:spPr>
      </p:sp>
      <p:sp>
        <p:nvSpPr>
          <p:cNvPr id="12" name="link-9"/>
          <p:cNvSpPr/>
          <p:nvPr/>
        </p:nvSpPr>
        <p:spPr>
          <a:xfrm flipH="1">
            <a:off x="9416200" y="4227452"/>
            <a:ext cx="1158527" cy="938908"/>
          </a:xfrm>
          <a:prstGeom prst="line">
            <a:avLst/>
          </a:prstGeom>
          <a:noFill/>
          <a:ln w="28575">
            <a:solidFill>
              <a:schemeClr val="accent4">
                <a:alpha val="85000"/>
              </a:schemeClr>
            </a:solidFill>
            <a:prstDash val="solid"/>
          </a:ln>
        </p:spPr>
      </p:sp>
      <p:sp>
        <p:nvSpPr>
          <p:cNvPr id="13" name="link-10"/>
          <p:cNvSpPr/>
          <p:nvPr/>
        </p:nvSpPr>
        <p:spPr>
          <a:xfrm>
            <a:off x="10389905" y="2804777"/>
            <a:ext cx="184822" cy="1422675"/>
          </a:xfrm>
          <a:prstGeom prst="line">
            <a:avLst/>
          </a:prstGeom>
          <a:noFill/>
          <a:ln w="19050">
            <a:solidFill>
              <a:schemeClr val="accent2">
                <a:alpha val="85000"/>
              </a:schemeClr>
            </a:solidFill>
            <a:prstDash val="solid"/>
          </a:ln>
        </p:spPr>
      </p:sp>
      <p:sp>
        <p:nvSpPr>
          <p:cNvPr id="14" name="link-11"/>
          <p:cNvSpPr/>
          <p:nvPr/>
        </p:nvSpPr>
        <p:spPr>
          <a:xfrm flipH="1">
            <a:off x="10574727" y="3013160"/>
            <a:ext cx="765458" cy="1214292"/>
          </a:xfrm>
          <a:prstGeom prst="line">
            <a:avLst/>
          </a:prstGeom>
          <a:noFill/>
          <a:ln w="28575">
            <a:solidFill>
              <a:schemeClr val="accent4">
                <a:alpha val="85000"/>
              </a:schemeClr>
            </a:solidFill>
            <a:prstDash val="solid"/>
          </a:ln>
        </p:spPr>
      </p:sp>
      <p:sp>
        <p:nvSpPr>
          <p:cNvPr id="15" name="link-12"/>
          <p:cNvSpPr/>
          <p:nvPr/>
        </p:nvSpPr>
        <p:spPr>
          <a:xfrm>
            <a:off x="10238284" y="2320533"/>
            <a:ext cx="151622" cy="484244"/>
          </a:xfrm>
          <a:prstGeom prst="line">
            <a:avLst/>
          </a:prstGeom>
          <a:noFill/>
          <a:ln w="28575">
            <a:solidFill>
              <a:schemeClr val="accent4">
                <a:alpha val="85000"/>
              </a:schemeClr>
            </a:solidFill>
            <a:prstDash val="solid"/>
          </a:ln>
        </p:spPr>
      </p:sp>
      <p:sp>
        <p:nvSpPr>
          <p:cNvPr id="16" name="link-13"/>
          <p:cNvSpPr/>
          <p:nvPr/>
        </p:nvSpPr>
        <p:spPr>
          <a:xfrm>
            <a:off x="10238284" y="2320533"/>
            <a:ext cx="1420316" cy="247704"/>
          </a:xfrm>
          <a:prstGeom prst="line">
            <a:avLst/>
          </a:prstGeom>
          <a:noFill/>
          <a:ln w="28575">
            <a:solidFill>
              <a:schemeClr val="accent4">
                <a:alpha val="85000"/>
              </a:schemeClr>
            </a:solidFill>
            <a:prstDash val="solid"/>
          </a:ln>
        </p:spPr>
      </p:sp>
      <p:sp>
        <p:nvSpPr>
          <p:cNvPr id="17" name="link-14"/>
          <p:cNvSpPr/>
          <p:nvPr/>
        </p:nvSpPr>
        <p:spPr>
          <a:xfrm>
            <a:off x="8429508" y="2576093"/>
            <a:ext cx="874384" cy="421876"/>
          </a:xfrm>
          <a:prstGeom prst="line">
            <a:avLst/>
          </a:prstGeom>
          <a:noFill/>
          <a:ln w="28575">
            <a:solidFill>
              <a:schemeClr val="accent4">
                <a:alpha val="85000"/>
              </a:schemeClr>
            </a:solidFill>
            <a:prstDash val="solid"/>
          </a:ln>
        </p:spPr>
      </p:sp>
      <p:sp>
        <p:nvSpPr>
          <p:cNvPr id="18" name="link-15"/>
          <p:cNvSpPr/>
          <p:nvPr/>
        </p:nvSpPr>
        <p:spPr>
          <a:xfrm flipH="1">
            <a:off x="6657959" y="2576093"/>
            <a:ext cx="1771549" cy="793655"/>
          </a:xfrm>
          <a:prstGeom prst="line">
            <a:avLst/>
          </a:prstGeom>
          <a:noFill/>
          <a:ln w="28575">
            <a:solidFill>
              <a:schemeClr val="accent4">
                <a:alpha val="85000"/>
              </a:schemeClr>
            </a:solidFill>
            <a:prstDash val="solid"/>
          </a:ln>
        </p:spPr>
      </p:sp>
      <p:sp>
        <p:nvSpPr>
          <p:cNvPr id="19" name="link-16"/>
          <p:cNvSpPr/>
          <p:nvPr/>
        </p:nvSpPr>
        <p:spPr>
          <a:xfrm>
            <a:off x="6629400" y="960120"/>
            <a:ext cx="1800108" cy="1615973"/>
          </a:xfrm>
          <a:prstGeom prst="line">
            <a:avLst/>
          </a:prstGeom>
          <a:noFill/>
          <a:ln w="28575">
            <a:solidFill>
              <a:schemeClr val="accent4">
                <a:alpha val="85000"/>
              </a:schemeClr>
            </a:solidFill>
            <a:prstDash val="solid"/>
          </a:ln>
        </p:spPr>
      </p:sp>
      <p:sp>
        <p:nvSpPr>
          <p:cNvPr id="20" name="link-17"/>
          <p:cNvSpPr/>
          <p:nvPr/>
        </p:nvSpPr>
        <p:spPr>
          <a:xfrm>
            <a:off x="9303892" y="2997969"/>
            <a:ext cx="112308" cy="2168391"/>
          </a:xfrm>
          <a:prstGeom prst="line">
            <a:avLst/>
          </a:prstGeom>
          <a:noFill/>
          <a:ln w="28575">
            <a:solidFill>
              <a:schemeClr val="accent4">
                <a:alpha val="85000"/>
              </a:schemeClr>
            </a:solidFill>
            <a:prstDash val="solid"/>
          </a:ln>
        </p:spPr>
      </p:sp>
      <p:sp>
        <p:nvSpPr>
          <p:cNvPr id="21" name="link-18"/>
          <p:cNvSpPr/>
          <p:nvPr/>
        </p:nvSpPr>
        <p:spPr>
          <a:xfrm>
            <a:off x="7050813" y="4156679"/>
            <a:ext cx="2365387" cy="1009681"/>
          </a:xfrm>
          <a:prstGeom prst="line">
            <a:avLst/>
          </a:prstGeom>
          <a:noFill/>
          <a:ln w="28575">
            <a:solidFill>
              <a:schemeClr val="accent4">
                <a:alpha val="85000"/>
              </a:schemeClr>
            </a:solidFill>
            <a:prstDash val="solid"/>
          </a:ln>
        </p:spPr>
      </p:sp>
      <p:sp>
        <p:nvSpPr>
          <p:cNvPr id="22" name="link-19"/>
          <p:cNvSpPr/>
          <p:nvPr/>
        </p:nvSpPr>
        <p:spPr>
          <a:xfrm flipH="1">
            <a:off x="9303892" y="2804777"/>
            <a:ext cx="1086013" cy="193192"/>
          </a:xfrm>
          <a:prstGeom prst="line">
            <a:avLst/>
          </a:prstGeom>
          <a:noFill/>
          <a:ln w="28575">
            <a:solidFill>
              <a:schemeClr val="accent4">
                <a:alpha val="85000"/>
              </a:schemeClr>
            </a:solidFill>
            <a:prstDash val="solid"/>
          </a:ln>
        </p:spPr>
      </p:sp>
      <p:sp>
        <p:nvSpPr>
          <p:cNvPr id="23" name="link-20"/>
          <p:cNvSpPr/>
          <p:nvPr/>
        </p:nvSpPr>
        <p:spPr>
          <a:xfrm>
            <a:off x="6657959" y="3369748"/>
            <a:ext cx="392853" cy="786932"/>
          </a:xfrm>
          <a:prstGeom prst="line">
            <a:avLst/>
          </a:prstGeom>
          <a:noFill/>
          <a:ln w="28575">
            <a:solidFill>
              <a:schemeClr val="accent4">
                <a:alpha val="85000"/>
              </a:schemeClr>
            </a:solidFill>
            <a:prstDash val="solid"/>
          </a:ln>
        </p:spPr>
      </p:sp>
      <p:sp>
        <p:nvSpPr>
          <p:cNvPr id="24" name="link-21"/>
          <p:cNvSpPr/>
          <p:nvPr/>
        </p:nvSpPr>
        <p:spPr>
          <a:xfrm flipH="1">
            <a:off x="11340185" y="2568237"/>
            <a:ext cx="318415" cy="444923"/>
          </a:xfrm>
          <a:prstGeom prst="line">
            <a:avLst/>
          </a:prstGeom>
          <a:noFill/>
          <a:ln w="28575">
            <a:solidFill>
              <a:schemeClr val="accent4">
                <a:alpha val="85000"/>
              </a:schemeClr>
            </a:solidFill>
            <a:prstDash val="solid"/>
          </a:ln>
        </p:spPr>
      </p:sp>
      <p:sp>
        <p:nvSpPr>
          <p:cNvPr id="25" name="link-22"/>
          <p:cNvSpPr/>
          <p:nvPr/>
        </p:nvSpPr>
        <p:spPr>
          <a:xfrm>
            <a:off x="6629400" y="960120"/>
            <a:ext cx="28559" cy="2409628"/>
          </a:xfrm>
          <a:prstGeom prst="line">
            <a:avLst/>
          </a:prstGeom>
          <a:noFill/>
          <a:ln w="28575">
            <a:solidFill>
              <a:schemeClr val="accent4">
                <a:alpha val="85000"/>
              </a:schemeClr>
            </a:solidFill>
            <a:prstDash val="solid"/>
          </a:ln>
        </p:spPr>
      </p:sp>
      <p:sp>
        <p:nvSpPr>
          <p:cNvPr id="26" name="router-23"/>
          <p:cNvSpPr/>
          <p:nvPr/>
        </p:nvSpPr>
        <p:spPr>
          <a:xfrm>
            <a:off x="10839903" y="4382900"/>
            <a:ext cx="237744" cy="237744"/>
          </a:xfrm>
          <a:prstGeom prst="ellipse">
            <a:avLst/>
          </a:prstGeom>
          <a:solidFill>
            <a:schemeClr val="accent1"/>
          </a:solidFill>
          <a:ln w="19050">
            <a:solidFill>
              <a:schemeClr val="bg1"/>
            </a:solidFill>
            <a:prstDash val="solid"/>
          </a:ln>
        </p:spPr>
      </p:sp>
      <p:sp>
        <p:nvSpPr>
          <p:cNvPr id="27" name="text-24"/>
          <p:cNvSpPr txBox="1"/>
          <p:nvPr/>
        </p:nvSpPr>
        <p:spPr>
          <a:xfrm>
            <a:off x="9980367" y="4373756"/>
            <a:ext cx="822960" cy="256032"/>
          </a:xfrm>
          <a:prstGeom prst="rect">
            <a:avLst/>
          </a:prstGeom>
          <a:noFill/>
          <a:ln/>
        </p:spPr>
        <p:txBody>
          <a:bodyPr wrap="square" lIns="0" tIns="0" rIns="0" bIns="0" rtlCol="0" anchor="ctr"/>
          <a:lstStyle/>
          <a:p>
            <a:pPr algn="r" indent="0" marL="0">
              <a:buNone/>
            </a:pPr>
            <a:r>
              <a:rPr lang="en-US" sz="1000" dirty="0">
                <a:solidFill>
                  <a:schemeClr val="bg1"/>
                </a:solidFill>
              </a:rPr>
              <a:t>ATLA-M5</a:t>
            </a:r>
            <a:endParaRPr lang="en-US" sz="1000" dirty="0"/>
          </a:p>
        </p:txBody>
      </p:sp>
      <p:sp>
        <p:nvSpPr>
          <p:cNvPr id="28" name="router-25"/>
          <p:cNvSpPr/>
          <p:nvPr/>
        </p:nvSpPr>
        <p:spPr>
          <a:xfrm>
            <a:off x="10455855" y="4108580"/>
            <a:ext cx="237744" cy="237744"/>
          </a:xfrm>
          <a:prstGeom prst="ellipse">
            <a:avLst/>
          </a:prstGeom>
          <a:solidFill>
            <a:schemeClr val="accent1"/>
          </a:solidFill>
          <a:ln w="19050">
            <a:solidFill>
              <a:schemeClr val="bg1"/>
            </a:solidFill>
            <a:prstDash val="solid"/>
          </a:ln>
        </p:spPr>
      </p:sp>
      <p:sp>
        <p:nvSpPr>
          <p:cNvPr id="29" name="text-26"/>
          <p:cNvSpPr txBox="1"/>
          <p:nvPr/>
        </p:nvSpPr>
        <p:spPr>
          <a:xfrm>
            <a:off x="10730175" y="4099436"/>
            <a:ext cx="822960" cy="256032"/>
          </a:xfrm>
          <a:prstGeom prst="rect">
            <a:avLst/>
          </a:prstGeom>
          <a:noFill/>
          <a:ln/>
        </p:spPr>
        <p:txBody>
          <a:bodyPr wrap="square" lIns="0" tIns="0" rIns="0" bIns="0" rtlCol="0" anchor="ctr"/>
          <a:lstStyle/>
          <a:p>
            <a:pPr algn="l" indent="0" marL="0">
              <a:buNone/>
            </a:pPr>
            <a:r>
              <a:rPr lang="en-US" sz="1000" dirty="0">
                <a:solidFill>
                  <a:schemeClr val="bg1"/>
                </a:solidFill>
              </a:rPr>
              <a:t>ATLA</a:t>
            </a:r>
            <a:endParaRPr lang="en-US" sz="1000" dirty="0"/>
          </a:p>
        </p:txBody>
      </p:sp>
      <p:sp>
        <p:nvSpPr>
          <p:cNvPr id="30" name="router-27"/>
          <p:cNvSpPr/>
          <p:nvPr/>
        </p:nvSpPr>
        <p:spPr>
          <a:xfrm>
            <a:off x="10119412" y="2201661"/>
            <a:ext cx="237744" cy="237744"/>
          </a:xfrm>
          <a:prstGeom prst="ellipse">
            <a:avLst/>
          </a:prstGeom>
          <a:solidFill>
            <a:schemeClr val="accent1"/>
          </a:solidFill>
          <a:ln w="19050">
            <a:solidFill>
              <a:schemeClr val="bg1"/>
            </a:solidFill>
            <a:prstDash val="solid"/>
          </a:ln>
        </p:spPr>
      </p:sp>
      <p:sp>
        <p:nvSpPr>
          <p:cNvPr id="31" name="text-28"/>
          <p:cNvSpPr txBox="1"/>
          <p:nvPr/>
        </p:nvSpPr>
        <p:spPr>
          <a:xfrm>
            <a:off x="10393732" y="2192517"/>
            <a:ext cx="822960" cy="256032"/>
          </a:xfrm>
          <a:prstGeom prst="rect">
            <a:avLst/>
          </a:prstGeom>
          <a:noFill/>
          <a:ln/>
        </p:spPr>
        <p:txBody>
          <a:bodyPr wrap="square" lIns="0" tIns="0" rIns="0" bIns="0" rtlCol="0" anchor="ctr"/>
          <a:lstStyle/>
          <a:p>
            <a:pPr algn="l" indent="0" marL="0">
              <a:buNone/>
            </a:pPr>
            <a:r>
              <a:rPr lang="en-US" sz="1000" dirty="0">
                <a:solidFill>
                  <a:schemeClr val="bg1"/>
                </a:solidFill>
              </a:rPr>
              <a:t>CHIN</a:t>
            </a:r>
            <a:endParaRPr lang="en-US" sz="1000" dirty="0"/>
          </a:p>
        </p:txBody>
      </p:sp>
      <p:sp>
        <p:nvSpPr>
          <p:cNvPr id="32" name="router-29"/>
          <p:cNvSpPr/>
          <p:nvPr/>
        </p:nvSpPr>
        <p:spPr>
          <a:xfrm>
            <a:off x="8310636" y="2457221"/>
            <a:ext cx="237744" cy="237744"/>
          </a:xfrm>
          <a:prstGeom prst="ellipse">
            <a:avLst/>
          </a:prstGeom>
          <a:solidFill>
            <a:schemeClr val="accent1"/>
          </a:solidFill>
          <a:ln w="19050">
            <a:solidFill>
              <a:schemeClr val="bg1"/>
            </a:solidFill>
            <a:prstDash val="solid"/>
          </a:ln>
        </p:spPr>
      </p:sp>
      <p:sp>
        <p:nvSpPr>
          <p:cNvPr id="33" name="text-30"/>
          <p:cNvSpPr txBox="1"/>
          <p:nvPr/>
        </p:nvSpPr>
        <p:spPr>
          <a:xfrm>
            <a:off x="8584956" y="2448077"/>
            <a:ext cx="822960" cy="256032"/>
          </a:xfrm>
          <a:prstGeom prst="rect">
            <a:avLst/>
          </a:prstGeom>
          <a:noFill/>
          <a:ln/>
        </p:spPr>
        <p:txBody>
          <a:bodyPr wrap="square" lIns="0" tIns="0" rIns="0" bIns="0" rtlCol="0" anchor="ctr"/>
          <a:lstStyle/>
          <a:p>
            <a:pPr algn="l" indent="0" marL="0">
              <a:buNone/>
            </a:pPr>
            <a:r>
              <a:rPr lang="en-US" sz="1000" dirty="0">
                <a:solidFill>
                  <a:schemeClr val="bg1"/>
                </a:solidFill>
              </a:rPr>
              <a:t>DNVR</a:t>
            </a:r>
            <a:endParaRPr lang="en-US" sz="1000" dirty="0"/>
          </a:p>
        </p:txBody>
      </p:sp>
      <p:sp>
        <p:nvSpPr>
          <p:cNvPr id="34" name="router-31"/>
          <p:cNvSpPr/>
          <p:nvPr/>
        </p:nvSpPr>
        <p:spPr>
          <a:xfrm>
            <a:off x="9297328" y="5047488"/>
            <a:ext cx="237744" cy="237744"/>
          </a:xfrm>
          <a:prstGeom prst="ellipse">
            <a:avLst/>
          </a:prstGeom>
          <a:solidFill>
            <a:schemeClr val="accent1"/>
          </a:solidFill>
          <a:ln w="19050">
            <a:solidFill>
              <a:schemeClr val="bg1"/>
            </a:solidFill>
            <a:prstDash val="solid"/>
          </a:ln>
        </p:spPr>
      </p:sp>
      <p:sp>
        <p:nvSpPr>
          <p:cNvPr id="35" name="text-32"/>
          <p:cNvSpPr txBox="1"/>
          <p:nvPr/>
        </p:nvSpPr>
        <p:spPr>
          <a:xfrm>
            <a:off x="9571648" y="5038344"/>
            <a:ext cx="822960" cy="256032"/>
          </a:xfrm>
          <a:prstGeom prst="rect">
            <a:avLst/>
          </a:prstGeom>
          <a:noFill/>
          <a:ln/>
        </p:spPr>
        <p:txBody>
          <a:bodyPr wrap="square" lIns="0" tIns="0" rIns="0" bIns="0" rtlCol="0" anchor="ctr"/>
          <a:lstStyle/>
          <a:p>
            <a:pPr algn="l" indent="0" marL="0">
              <a:buNone/>
            </a:pPr>
            <a:r>
              <a:rPr lang="en-US" sz="1000" dirty="0">
                <a:solidFill>
                  <a:schemeClr val="bg1"/>
                </a:solidFill>
              </a:rPr>
              <a:t>HSTN</a:t>
            </a:r>
            <a:endParaRPr lang="en-US" sz="1000" dirty="0"/>
          </a:p>
        </p:txBody>
      </p:sp>
      <p:sp>
        <p:nvSpPr>
          <p:cNvPr id="36" name="router-33"/>
          <p:cNvSpPr/>
          <p:nvPr/>
        </p:nvSpPr>
        <p:spPr>
          <a:xfrm>
            <a:off x="10271033" y="2685905"/>
            <a:ext cx="237744" cy="237744"/>
          </a:xfrm>
          <a:prstGeom prst="ellipse">
            <a:avLst/>
          </a:prstGeom>
          <a:solidFill>
            <a:schemeClr val="accent1"/>
          </a:solidFill>
          <a:ln w="19050">
            <a:solidFill>
              <a:schemeClr val="bg1"/>
            </a:solidFill>
            <a:prstDash val="solid"/>
          </a:ln>
        </p:spPr>
      </p:sp>
      <p:sp>
        <p:nvSpPr>
          <p:cNvPr id="37" name="text-34"/>
          <p:cNvSpPr txBox="1"/>
          <p:nvPr/>
        </p:nvSpPr>
        <p:spPr>
          <a:xfrm>
            <a:off x="10545353" y="2676761"/>
            <a:ext cx="822960" cy="256032"/>
          </a:xfrm>
          <a:prstGeom prst="rect">
            <a:avLst/>
          </a:prstGeom>
          <a:noFill/>
          <a:ln/>
        </p:spPr>
        <p:txBody>
          <a:bodyPr wrap="square" lIns="0" tIns="0" rIns="0" bIns="0" rtlCol="0" anchor="ctr"/>
          <a:lstStyle/>
          <a:p>
            <a:pPr algn="l" indent="0" marL="0">
              <a:buNone/>
            </a:pPr>
            <a:r>
              <a:rPr lang="en-US" sz="1000" dirty="0">
                <a:solidFill>
                  <a:schemeClr val="bg1"/>
                </a:solidFill>
              </a:rPr>
              <a:t>IPLS</a:t>
            </a:r>
            <a:endParaRPr lang="en-US" sz="1000" dirty="0"/>
          </a:p>
        </p:txBody>
      </p:sp>
      <p:sp>
        <p:nvSpPr>
          <p:cNvPr id="38" name="router-35"/>
          <p:cNvSpPr/>
          <p:nvPr/>
        </p:nvSpPr>
        <p:spPr>
          <a:xfrm>
            <a:off x="9185020" y="2879097"/>
            <a:ext cx="237744" cy="237744"/>
          </a:xfrm>
          <a:prstGeom prst="ellipse">
            <a:avLst/>
          </a:prstGeom>
          <a:solidFill>
            <a:schemeClr val="accent1"/>
          </a:solidFill>
          <a:ln w="19050">
            <a:solidFill>
              <a:schemeClr val="bg1"/>
            </a:solidFill>
            <a:prstDash val="solid"/>
          </a:ln>
        </p:spPr>
      </p:sp>
      <p:sp>
        <p:nvSpPr>
          <p:cNvPr id="39" name="text-36"/>
          <p:cNvSpPr txBox="1"/>
          <p:nvPr/>
        </p:nvSpPr>
        <p:spPr>
          <a:xfrm>
            <a:off x="9459340" y="2869953"/>
            <a:ext cx="822960" cy="256032"/>
          </a:xfrm>
          <a:prstGeom prst="rect">
            <a:avLst/>
          </a:prstGeom>
          <a:noFill/>
          <a:ln/>
        </p:spPr>
        <p:txBody>
          <a:bodyPr wrap="square" lIns="0" tIns="0" rIns="0" bIns="0" rtlCol="0" anchor="ctr"/>
          <a:lstStyle/>
          <a:p>
            <a:pPr algn="l" indent="0" marL="0">
              <a:buNone/>
            </a:pPr>
            <a:r>
              <a:rPr lang="en-US" sz="1000" dirty="0">
                <a:solidFill>
                  <a:schemeClr val="bg1"/>
                </a:solidFill>
              </a:rPr>
              <a:t>KSCY</a:t>
            </a:r>
            <a:endParaRPr lang="en-US" sz="1000" dirty="0"/>
          </a:p>
        </p:txBody>
      </p:sp>
      <p:sp>
        <p:nvSpPr>
          <p:cNvPr id="40" name="router-37"/>
          <p:cNvSpPr/>
          <p:nvPr/>
        </p:nvSpPr>
        <p:spPr>
          <a:xfrm>
            <a:off x="6931941" y="4037807"/>
            <a:ext cx="237744" cy="237744"/>
          </a:xfrm>
          <a:prstGeom prst="ellipse">
            <a:avLst/>
          </a:prstGeom>
          <a:solidFill>
            <a:schemeClr val="accent1"/>
          </a:solidFill>
          <a:ln w="19050">
            <a:solidFill>
              <a:schemeClr val="bg1"/>
            </a:solidFill>
            <a:prstDash val="solid"/>
          </a:ln>
        </p:spPr>
      </p:sp>
      <p:sp>
        <p:nvSpPr>
          <p:cNvPr id="41" name="text-38"/>
          <p:cNvSpPr txBox="1"/>
          <p:nvPr/>
        </p:nvSpPr>
        <p:spPr>
          <a:xfrm>
            <a:off x="7206261" y="4028663"/>
            <a:ext cx="822960" cy="256032"/>
          </a:xfrm>
          <a:prstGeom prst="rect">
            <a:avLst/>
          </a:prstGeom>
          <a:noFill/>
          <a:ln/>
        </p:spPr>
        <p:txBody>
          <a:bodyPr wrap="square" lIns="0" tIns="0" rIns="0" bIns="0" rtlCol="0" anchor="ctr"/>
          <a:lstStyle/>
          <a:p>
            <a:pPr algn="l" indent="0" marL="0">
              <a:buNone/>
            </a:pPr>
            <a:r>
              <a:rPr lang="en-US" sz="1000" dirty="0">
                <a:solidFill>
                  <a:schemeClr val="bg1"/>
                </a:solidFill>
              </a:rPr>
              <a:t>LOSA</a:t>
            </a:r>
            <a:endParaRPr lang="en-US" sz="1000" dirty="0"/>
          </a:p>
        </p:txBody>
      </p:sp>
      <p:sp>
        <p:nvSpPr>
          <p:cNvPr id="42" name="router-39"/>
          <p:cNvSpPr/>
          <p:nvPr/>
        </p:nvSpPr>
        <p:spPr>
          <a:xfrm>
            <a:off x="11539728" y="2449365"/>
            <a:ext cx="237744" cy="237744"/>
          </a:xfrm>
          <a:prstGeom prst="ellipse">
            <a:avLst/>
          </a:prstGeom>
          <a:solidFill>
            <a:schemeClr val="accent1"/>
          </a:solidFill>
          <a:ln w="19050">
            <a:solidFill>
              <a:schemeClr val="bg1"/>
            </a:solidFill>
            <a:prstDash val="solid"/>
          </a:ln>
        </p:spPr>
      </p:sp>
      <p:sp>
        <p:nvSpPr>
          <p:cNvPr id="43" name="text-40"/>
          <p:cNvSpPr txBox="1"/>
          <p:nvPr/>
        </p:nvSpPr>
        <p:spPr>
          <a:xfrm>
            <a:off x="10680192" y="2440221"/>
            <a:ext cx="822960" cy="256032"/>
          </a:xfrm>
          <a:prstGeom prst="rect">
            <a:avLst/>
          </a:prstGeom>
          <a:noFill/>
          <a:ln/>
        </p:spPr>
        <p:txBody>
          <a:bodyPr wrap="square" lIns="0" tIns="0" rIns="0" bIns="0" rtlCol="0" anchor="ctr"/>
          <a:lstStyle/>
          <a:p>
            <a:pPr algn="r" indent="0" marL="0">
              <a:buNone/>
            </a:pPr>
            <a:r>
              <a:rPr lang="en-US" sz="1000" dirty="0">
                <a:solidFill>
                  <a:schemeClr val="bg1"/>
                </a:solidFill>
              </a:rPr>
              <a:t>NYCM</a:t>
            </a:r>
            <a:endParaRPr lang="en-US" sz="1000" dirty="0"/>
          </a:p>
        </p:txBody>
      </p:sp>
      <p:sp>
        <p:nvSpPr>
          <p:cNvPr id="44" name="router-41"/>
          <p:cNvSpPr/>
          <p:nvPr/>
        </p:nvSpPr>
        <p:spPr>
          <a:xfrm>
            <a:off x="6539087" y="3250876"/>
            <a:ext cx="237744" cy="237744"/>
          </a:xfrm>
          <a:prstGeom prst="ellipse">
            <a:avLst/>
          </a:prstGeom>
          <a:solidFill>
            <a:schemeClr val="accent1"/>
          </a:solidFill>
          <a:ln w="19050">
            <a:solidFill>
              <a:schemeClr val="bg1"/>
            </a:solidFill>
            <a:prstDash val="solid"/>
          </a:ln>
        </p:spPr>
      </p:sp>
      <p:sp>
        <p:nvSpPr>
          <p:cNvPr id="45" name="text-42"/>
          <p:cNvSpPr txBox="1"/>
          <p:nvPr/>
        </p:nvSpPr>
        <p:spPr>
          <a:xfrm>
            <a:off x="6813407" y="3241732"/>
            <a:ext cx="822960" cy="256032"/>
          </a:xfrm>
          <a:prstGeom prst="rect">
            <a:avLst/>
          </a:prstGeom>
          <a:noFill/>
          <a:ln/>
        </p:spPr>
        <p:txBody>
          <a:bodyPr wrap="square" lIns="0" tIns="0" rIns="0" bIns="0" rtlCol="0" anchor="ctr"/>
          <a:lstStyle/>
          <a:p>
            <a:pPr algn="l" indent="0" marL="0">
              <a:buNone/>
            </a:pPr>
            <a:r>
              <a:rPr lang="en-US" sz="1000" dirty="0">
                <a:solidFill>
                  <a:schemeClr val="bg1"/>
                </a:solidFill>
              </a:rPr>
              <a:t>SNVA</a:t>
            </a:r>
            <a:endParaRPr lang="en-US" sz="1000" dirty="0"/>
          </a:p>
        </p:txBody>
      </p:sp>
      <p:sp>
        <p:nvSpPr>
          <p:cNvPr id="46" name="router-43"/>
          <p:cNvSpPr/>
          <p:nvPr/>
        </p:nvSpPr>
        <p:spPr>
          <a:xfrm>
            <a:off x="6510528" y="841248"/>
            <a:ext cx="237744" cy="237744"/>
          </a:xfrm>
          <a:prstGeom prst="ellipse">
            <a:avLst/>
          </a:prstGeom>
          <a:solidFill>
            <a:schemeClr val="accent1"/>
          </a:solidFill>
          <a:ln w="19050">
            <a:solidFill>
              <a:schemeClr val="bg1"/>
            </a:solidFill>
            <a:prstDash val="solid"/>
          </a:ln>
        </p:spPr>
      </p:sp>
      <p:sp>
        <p:nvSpPr>
          <p:cNvPr id="47" name="text-44"/>
          <p:cNvSpPr txBox="1"/>
          <p:nvPr/>
        </p:nvSpPr>
        <p:spPr>
          <a:xfrm>
            <a:off x="6784848" y="832104"/>
            <a:ext cx="822960" cy="256032"/>
          </a:xfrm>
          <a:prstGeom prst="rect">
            <a:avLst/>
          </a:prstGeom>
          <a:noFill/>
          <a:ln/>
        </p:spPr>
        <p:txBody>
          <a:bodyPr wrap="square" lIns="0" tIns="0" rIns="0" bIns="0" rtlCol="0" anchor="ctr"/>
          <a:lstStyle/>
          <a:p>
            <a:pPr algn="l" indent="0" marL="0">
              <a:buNone/>
            </a:pPr>
            <a:r>
              <a:rPr lang="en-US" sz="1000" dirty="0">
                <a:solidFill>
                  <a:schemeClr val="bg1"/>
                </a:solidFill>
              </a:rPr>
              <a:t>STTL</a:t>
            </a:r>
            <a:endParaRPr lang="en-US" sz="1000" dirty="0"/>
          </a:p>
        </p:txBody>
      </p:sp>
      <p:sp>
        <p:nvSpPr>
          <p:cNvPr id="48" name="router-45"/>
          <p:cNvSpPr/>
          <p:nvPr/>
        </p:nvSpPr>
        <p:spPr>
          <a:xfrm>
            <a:off x="11221313" y="2894288"/>
            <a:ext cx="237744" cy="237744"/>
          </a:xfrm>
          <a:prstGeom prst="ellipse">
            <a:avLst/>
          </a:prstGeom>
          <a:solidFill>
            <a:schemeClr val="accent1"/>
          </a:solidFill>
          <a:ln w="19050">
            <a:solidFill>
              <a:schemeClr val="bg1"/>
            </a:solidFill>
            <a:prstDash val="solid"/>
          </a:ln>
        </p:spPr>
      </p:sp>
      <p:sp>
        <p:nvSpPr>
          <p:cNvPr id="49" name="text-46"/>
          <p:cNvSpPr txBox="1"/>
          <p:nvPr/>
        </p:nvSpPr>
        <p:spPr>
          <a:xfrm>
            <a:off x="10361777" y="2885144"/>
            <a:ext cx="822960" cy="256032"/>
          </a:xfrm>
          <a:prstGeom prst="rect">
            <a:avLst/>
          </a:prstGeom>
          <a:noFill/>
          <a:ln/>
        </p:spPr>
        <p:txBody>
          <a:bodyPr wrap="square" lIns="0" tIns="0" rIns="0" bIns="0" rtlCol="0" anchor="ctr"/>
          <a:lstStyle/>
          <a:p>
            <a:pPr algn="r" indent="0" marL="0">
              <a:buNone/>
            </a:pPr>
            <a:r>
              <a:rPr lang="en-US" sz="1000" dirty="0">
                <a:solidFill>
                  <a:schemeClr val="bg1"/>
                </a:solidFill>
              </a:rPr>
              <a:t>WASH</a:t>
            </a:r>
            <a:endParaRPr lang="en-US" sz="1000" dirty="0"/>
          </a:p>
        </p:txBody>
      </p:sp>
      <p:sp>
        <p:nvSpPr>
          <p:cNvPr id="50" name="text-47"/>
          <p:cNvSpPr txBox="1"/>
          <p:nvPr/>
        </p:nvSpPr>
        <p:spPr>
          <a:xfrm>
            <a:off x="6629400" y="5532120"/>
            <a:ext cx="5029200" cy="548640"/>
          </a:xfrm>
          <a:prstGeom prst="rect">
            <a:avLst/>
          </a:prstGeom>
          <a:noFill/>
          <a:ln/>
        </p:spPr>
        <p:txBody>
          <a:bodyPr wrap="square" lIns="0" tIns="0" rIns="0" bIns="0" rtlCol="0" anchor="t"/>
          <a:lstStyle/>
          <a:p>
            <a:pPr indent="0" marL="0">
              <a:buNone/>
            </a:pPr>
            <a:r>
              <a:rPr lang="en-US" sz="1100" dirty="0">
                <a:solidFill>
                  <a:schemeClr val="accent4"/>
                </a:solidFill>
              </a:rPr>
              <a:t>Abilene (Internet2) backbone, 2004: 12 routers drawn at their real locations.</a:t>
            </a:r>
            <a:endParaRPr lang="en-US" sz="1100" dirty="0"/>
          </a:p>
          <a:p>
            <a:pPr indent="0" marL="0">
              <a:buNone/>
            </a:pPr>
            <a:r>
              <a:rPr lang="en-US" sz="1100" dirty="0">
                <a:solidFill>
                  <a:schemeClr val="accent4"/>
                </a:solidFill>
              </a:rPr>
              <a:t>Thick: 9.92 Gbit/s links; amber: the 2.48 Gbit/s ATLA–IPLS link.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Why Predict Traffic Before Congestion?</a:t>
            </a:r>
            <a:endParaRPr lang="en-US" sz="3200" dirty="0"/>
          </a:p>
        </p:txBody>
      </p:sp>
      <p:sp>
        <p:nvSpPr>
          <p:cNvPr id="3" name="icon-bg-48"/>
          <p:cNvSpPr/>
          <p:nvPr/>
        </p:nvSpPr>
        <p:spPr>
          <a:xfrm>
            <a:off x="548640" y="1371600"/>
            <a:ext cx="530352" cy="530352"/>
          </a:xfrm>
          <a:prstGeom prst="ellipse">
            <a:avLst/>
          </a:prstGeom>
          <a:solidFill>
            <a:schemeClr val="accent1"/>
          </a:solidFill>
          <a:ln w="12700">
            <a:solidFill>
              <a:schemeClr val="accent1"/>
            </a:solidFill>
            <a:prstDash val="solid"/>
          </a:ln>
        </p:spPr>
      </p:sp>
      <p:pic>
        <p:nvPicPr>
          <p:cNvPr id="4" name="icon-49" descr="preencoded.png">    </p:cNvPr>
          <p:cNvPicPr>
            <a:picLocks noChangeAspect="1"/>
          </p:cNvPicPr>
          <p:nvPr/>
        </p:nvPicPr>
        <p:blipFill>
          <a:blip r:embed="rId1"/>
          <a:stretch>
            <a:fillRect/>
          </a:stretch>
        </p:blipFill>
        <p:spPr>
          <a:xfrm>
            <a:off x="675924" y="1498884"/>
            <a:ext cx="275783" cy="275783"/>
          </a:xfrm>
          <a:prstGeom prst="rect">
            <a:avLst/>
          </a:prstGeom>
        </p:spPr>
      </p:pic>
      <p:sp>
        <p:nvSpPr>
          <p:cNvPr id="5" name="text-50"/>
          <p:cNvSpPr txBox="1"/>
          <p:nvPr/>
        </p:nvSpPr>
        <p:spPr>
          <a:xfrm>
            <a:off x="1325880" y="1325880"/>
            <a:ext cx="5120640" cy="365760"/>
          </a:xfrm>
          <a:prstGeom prst="rect">
            <a:avLst/>
          </a:prstGeom>
          <a:noFill/>
          <a:ln/>
        </p:spPr>
        <p:txBody>
          <a:bodyPr wrap="square" lIns="0" tIns="0" rIns="0" bIns="0" rtlCol="0" anchor="t"/>
          <a:lstStyle/>
          <a:p>
            <a:pPr indent="0" marL="0">
              <a:buNone/>
            </a:pPr>
            <a:r>
              <a:rPr lang="en-US" sz="1800" b="1" dirty="0">
                <a:solidFill>
                  <a:schemeClr val="tx2"/>
                </a:solidFill>
              </a:rPr>
              <a:t>Traffic never stays still</a:t>
            </a:r>
            <a:endParaRPr lang="en-US" sz="1800" dirty="0"/>
          </a:p>
        </p:txBody>
      </p:sp>
      <p:sp>
        <p:nvSpPr>
          <p:cNvPr id="6" name="text-51"/>
          <p:cNvSpPr txBox="1"/>
          <p:nvPr/>
        </p:nvSpPr>
        <p:spPr>
          <a:xfrm>
            <a:off x="1325880" y="1709928"/>
            <a:ext cx="5120640" cy="640080"/>
          </a:xfrm>
          <a:prstGeom prst="rect">
            <a:avLst/>
          </a:prstGeom>
          <a:noFill/>
          <a:ln/>
        </p:spPr>
        <p:txBody>
          <a:bodyPr wrap="square" lIns="0" tIns="0" rIns="0" bIns="0" rtlCol="0" anchor="t"/>
          <a:lstStyle/>
          <a:p>
            <a:pPr indent="0" marL="0">
              <a:buNone/>
            </a:pPr>
            <a:r>
              <a:rPr lang="en-US" sz="1400" dirty="0">
                <a:solidFill>
                  <a:schemeClr val="tx1"/>
                </a:solidFill>
              </a:rPr>
              <a:t>Each router pair's traffic rises and falls through the day (peak about 1.5× the low point).</a:t>
            </a:r>
            <a:endParaRPr lang="en-US" sz="1400" dirty="0"/>
          </a:p>
        </p:txBody>
      </p:sp>
      <p:sp>
        <p:nvSpPr>
          <p:cNvPr id="7" name="icon-bg-52"/>
          <p:cNvSpPr/>
          <p:nvPr/>
        </p:nvSpPr>
        <p:spPr>
          <a:xfrm>
            <a:off x="548640" y="2487168"/>
            <a:ext cx="530352" cy="530352"/>
          </a:xfrm>
          <a:prstGeom prst="ellipse">
            <a:avLst/>
          </a:prstGeom>
          <a:solidFill>
            <a:schemeClr val="accent2"/>
          </a:solidFill>
          <a:ln w="12700">
            <a:solidFill>
              <a:schemeClr val="accent2"/>
            </a:solidFill>
            <a:prstDash val="solid"/>
          </a:ln>
        </p:spPr>
      </p:sp>
      <p:pic>
        <p:nvPicPr>
          <p:cNvPr id="8" name="icon-53" descr="preencoded.png">    </p:cNvPr>
          <p:cNvPicPr>
            <a:picLocks noChangeAspect="1"/>
          </p:cNvPicPr>
          <p:nvPr/>
        </p:nvPicPr>
        <p:blipFill>
          <a:blip r:embed="rId2"/>
          <a:stretch>
            <a:fillRect/>
          </a:stretch>
        </p:blipFill>
        <p:spPr>
          <a:xfrm>
            <a:off x="675924" y="2614452"/>
            <a:ext cx="275783" cy="275783"/>
          </a:xfrm>
          <a:prstGeom prst="rect">
            <a:avLst/>
          </a:prstGeom>
        </p:spPr>
      </p:pic>
      <p:sp>
        <p:nvSpPr>
          <p:cNvPr id="9" name="text-54"/>
          <p:cNvSpPr txBox="1"/>
          <p:nvPr/>
        </p:nvSpPr>
        <p:spPr>
          <a:xfrm>
            <a:off x="1325880" y="2441448"/>
            <a:ext cx="5120640" cy="365760"/>
          </a:xfrm>
          <a:prstGeom prst="rect">
            <a:avLst/>
          </a:prstGeom>
          <a:noFill/>
          <a:ln/>
        </p:spPr>
        <p:txBody>
          <a:bodyPr wrap="square" lIns="0" tIns="0" rIns="0" bIns="0" rtlCol="0" anchor="t"/>
          <a:lstStyle/>
          <a:p>
            <a:pPr indent="0" marL="0">
              <a:buNone/>
            </a:pPr>
            <a:r>
              <a:rPr lang="en-US" sz="1800" b="1" dirty="0">
                <a:solidFill>
                  <a:schemeClr val="tx2"/>
                </a:solidFill>
              </a:rPr>
              <a:t>Congestion is handled after the fact</a:t>
            </a:r>
            <a:endParaRPr lang="en-US" sz="1800" dirty="0"/>
          </a:p>
        </p:txBody>
      </p:sp>
      <p:sp>
        <p:nvSpPr>
          <p:cNvPr id="10" name="text-55"/>
          <p:cNvSpPr txBox="1"/>
          <p:nvPr/>
        </p:nvSpPr>
        <p:spPr>
          <a:xfrm>
            <a:off x="1325880" y="2825496"/>
            <a:ext cx="5120640" cy="640080"/>
          </a:xfrm>
          <a:prstGeom prst="rect">
            <a:avLst/>
          </a:prstGeom>
          <a:noFill/>
          <a:ln/>
        </p:spPr>
        <p:txBody>
          <a:bodyPr wrap="square" lIns="0" tIns="0" rIns="0" bIns="0" rtlCol="0" anchor="t"/>
          <a:lstStyle/>
          <a:p>
            <a:pPr indent="0" marL="0">
              <a:buNone/>
            </a:pPr>
            <a:r>
              <a:rPr lang="en-US" sz="1400" dirty="0">
                <a:solidFill>
                  <a:schemeClr val="tx1"/>
                </a:solidFill>
              </a:rPr>
              <a:t>Reactive control acts only once a link is overloaded, so users already see delay and loss.</a:t>
            </a:r>
            <a:endParaRPr lang="en-US" sz="1400" dirty="0"/>
          </a:p>
        </p:txBody>
      </p:sp>
      <p:sp>
        <p:nvSpPr>
          <p:cNvPr id="11" name="icon-bg-56"/>
          <p:cNvSpPr/>
          <p:nvPr/>
        </p:nvSpPr>
        <p:spPr>
          <a:xfrm>
            <a:off x="548640" y="3602736"/>
            <a:ext cx="530352" cy="530352"/>
          </a:xfrm>
          <a:prstGeom prst="ellipse">
            <a:avLst/>
          </a:prstGeom>
          <a:solidFill>
            <a:schemeClr val="accent1"/>
          </a:solidFill>
          <a:ln w="12700">
            <a:solidFill>
              <a:schemeClr val="accent1"/>
            </a:solidFill>
            <a:prstDash val="solid"/>
          </a:ln>
        </p:spPr>
      </p:sp>
      <p:pic>
        <p:nvPicPr>
          <p:cNvPr id="12" name="icon-57" descr="preencoded.png">    </p:cNvPr>
          <p:cNvPicPr>
            <a:picLocks noChangeAspect="1"/>
          </p:cNvPicPr>
          <p:nvPr/>
        </p:nvPicPr>
        <p:blipFill>
          <a:blip r:embed="rId3"/>
          <a:stretch>
            <a:fillRect/>
          </a:stretch>
        </p:blipFill>
        <p:spPr>
          <a:xfrm>
            <a:off x="675924" y="3730020"/>
            <a:ext cx="275783" cy="275783"/>
          </a:xfrm>
          <a:prstGeom prst="rect">
            <a:avLst/>
          </a:prstGeom>
        </p:spPr>
      </p:pic>
      <p:sp>
        <p:nvSpPr>
          <p:cNvPr id="13" name="text-58"/>
          <p:cNvSpPr txBox="1"/>
          <p:nvPr/>
        </p:nvSpPr>
        <p:spPr>
          <a:xfrm>
            <a:off x="1325880" y="3557016"/>
            <a:ext cx="5120640" cy="365760"/>
          </a:xfrm>
          <a:prstGeom prst="rect">
            <a:avLst/>
          </a:prstGeom>
          <a:noFill/>
          <a:ln/>
        </p:spPr>
        <p:txBody>
          <a:bodyPr wrap="square" lIns="0" tIns="0" rIns="0" bIns="0" rtlCol="0" anchor="t"/>
          <a:lstStyle/>
          <a:p>
            <a:pPr indent="0" marL="0">
              <a:buNone/>
            </a:pPr>
            <a:r>
              <a:rPr lang="en-US" sz="1800" b="1" dirty="0">
                <a:solidFill>
                  <a:schemeClr val="tx2"/>
                </a:solidFill>
              </a:rPr>
              <a:t>Minutes of warning are valuable</a:t>
            </a:r>
            <a:endParaRPr lang="en-US" sz="1800" dirty="0"/>
          </a:p>
        </p:txBody>
      </p:sp>
      <p:sp>
        <p:nvSpPr>
          <p:cNvPr id="14" name="text-59"/>
          <p:cNvSpPr txBox="1"/>
          <p:nvPr/>
        </p:nvSpPr>
        <p:spPr>
          <a:xfrm>
            <a:off x="1325880" y="3941064"/>
            <a:ext cx="5120640" cy="640080"/>
          </a:xfrm>
          <a:prstGeom prst="rect">
            <a:avLst/>
          </a:prstGeom>
          <a:noFill/>
          <a:ln/>
        </p:spPr>
        <p:txBody>
          <a:bodyPr wrap="square" lIns="0" tIns="0" rIns="0" bIns="0" rtlCol="0" anchor="t"/>
          <a:lstStyle/>
          <a:p>
            <a:pPr indent="0" marL="0">
              <a:buNone/>
            </a:pPr>
            <a:r>
              <a:rPr lang="en-US" sz="1400" dirty="0">
                <a:solidFill>
                  <a:schemeClr val="tx1"/>
                </a:solidFill>
              </a:rPr>
              <a:t>Forecasting traffic a few minutes ahead gives early information about future link load.</a:t>
            </a:r>
            <a:endParaRPr lang="en-US" sz="1400" dirty="0"/>
          </a:p>
        </p:txBody>
      </p:sp>
      <p:sp>
        <p:nvSpPr>
          <p:cNvPr id="15" name="card-60"/>
          <p:cNvSpPr/>
          <p:nvPr/>
        </p:nvSpPr>
        <p:spPr>
          <a:xfrm>
            <a:off x="548640" y="4800600"/>
            <a:ext cx="5897880" cy="1234440"/>
          </a:xfrm>
          <a:prstGeom prst="roundRect">
            <a:avLst>
              <a:gd name="adj" fmla="val 5926"/>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6" name="text-61"/>
          <p:cNvSpPr txBox="1"/>
          <p:nvPr/>
        </p:nvSpPr>
        <p:spPr>
          <a:xfrm>
            <a:off x="777240" y="4937760"/>
            <a:ext cx="5486400" cy="960120"/>
          </a:xfrm>
          <a:prstGeom prst="rect">
            <a:avLst/>
          </a:prstGeom>
          <a:noFill/>
          <a:ln/>
        </p:spPr>
        <p:txBody>
          <a:bodyPr wrap="square" lIns="0" tIns="0" rIns="0" bIns="0" rtlCol="0" anchor="ctr"/>
          <a:lstStyle/>
          <a:p>
            <a:pPr indent="0" marL="0">
              <a:buNone/>
            </a:pPr>
            <a:r>
              <a:rPr lang="en-US" sz="1500" b="1" dirty="0">
                <a:solidFill>
                  <a:schemeClr val="accent1"/>
                </a:solidFill>
              </a:rPr>
              <a:t>Project aim  </a:t>
            </a:r>
            <a:pPr indent="0" marL="0">
              <a:buNone/>
            </a:pPr>
            <a:r>
              <a:rPr lang="en-US" sz="1500" dirty="0">
                <a:solidFill>
                  <a:schemeClr val="tx1"/>
                </a:solidFill>
              </a:rPr>
              <a:t>Forecast the traffic of all 144 origin-destination flows 5 minutes ahead, then use the forecasts for proactive congestion warnings.</a:t>
            </a:r>
            <a:endParaRPr lang="en-US" sz="1500" dirty="0"/>
          </a:p>
        </p:txBody>
      </p:sp>
      <p:sp>
        <p:nvSpPr>
          <p:cNvPr id="17" name="chain-62"/>
          <p:cNvSpPr/>
          <p:nvPr/>
        </p:nvSpPr>
        <p:spPr>
          <a:xfrm>
            <a:off x="7223760" y="1280160"/>
            <a:ext cx="3291840" cy="621792"/>
          </a:xfrm>
          <a:prstGeom prst="roundRect">
            <a:avLst>
              <a:gd name="adj" fmla="val 11765"/>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18" name="text-63"/>
          <p:cNvSpPr txBox="1"/>
          <p:nvPr/>
        </p:nvSpPr>
        <p:spPr>
          <a:xfrm>
            <a:off x="7223760" y="1280160"/>
            <a:ext cx="3291840" cy="621792"/>
          </a:xfrm>
          <a:prstGeom prst="rect">
            <a:avLst/>
          </a:prstGeom>
          <a:noFill/>
          <a:ln/>
        </p:spPr>
        <p:txBody>
          <a:bodyPr wrap="square" lIns="0" tIns="0" rIns="0" bIns="0" rtlCol="0" anchor="ctr"/>
          <a:lstStyle/>
          <a:p>
            <a:pPr algn="ctr" indent="0" marL="0">
              <a:buNone/>
            </a:pPr>
            <a:r>
              <a:rPr lang="en-US" sz="1700" b="1" dirty="0">
                <a:solidFill>
                  <a:schemeClr val="bg1"/>
                </a:solidFill>
              </a:rPr>
              <a:t>Historical Traffic</a:t>
            </a:r>
            <a:endParaRPr lang="en-US" sz="1700" dirty="0"/>
          </a:p>
        </p:txBody>
      </p:sp>
      <p:sp>
        <p:nvSpPr>
          <p:cNvPr id="19" name="arrow-64"/>
          <p:cNvSpPr/>
          <p:nvPr/>
        </p:nvSpPr>
        <p:spPr>
          <a:xfrm>
            <a:off x="8869680" y="1929384"/>
            <a:ext cx="91" cy="274320"/>
          </a:xfrm>
          <a:prstGeom prst="line">
            <a:avLst/>
          </a:prstGeom>
          <a:noFill/>
          <a:ln w="25400">
            <a:solidFill>
              <a:schemeClr val="accent3"/>
            </a:solidFill>
            <a:prstDash val="solid"/>
            <a:tailEnd type="triangle"/>
          </a:ln>
        </p:spPr>
      </p:sp>
      <p:sp>
        <p:nvSpPr>
          <p:cNvPr id="20" name="chain-65"/>
          <p:cNvSpPr/>
          <p:nvPr/>
        </p:nvSpPr>
        <p:spPr>
          <a:xfrm>
            <a:off x="7223760" y="2231136"/>
            <a:ext cx="3291840" cy="621792"/>
          </a:xfrm>
          <a:prstGeom prst="roundRect">
            <a:avLst>
              <a:gd name="adj" fmla="val 11765"/>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21" name="text-66"/>
          <p:cNvSpPr txBox="1"/>
          <p:nvPr/>
        </p:nvSpPr>
        <p:spPr>
          <a:xfrm>
            <a:off x="7223760" y="2231136"/>
            <a:ext cx="3291840" cy="621792"/>
          </a:xfrm>
          <a:prstGeom prst="rect">
            <a:avLst/>
          </a:prstGeom>
          <a:noFill/>
          <a:ln/>
        </p:spPr>
        <p:txBody>
          <a:bodyPr wrap="square" lIns="0" tIns="0" rIns="0" bIns="0" rtlCol="0" anchor="ctr"/>
          <a:lstStyle/>
          <a:p>
            <a:pPr algn="ctr" indent="0" marL="0">
              <a:buNone/>
            </a:pPr>
            <a:r>
              <a:rPr lang="en-US" sz="1700" b="1" dirty="0">
                <a:solidFill>
                  <a:schemeClr val="bg1"/>
                </a:solidFill>
              </a:rPr>
              <a:t>Traffic Prediction</a:t>
            </a:r>
            <a:endParaRPr lang="en-US" sz="1700" dirty="0"/>
          </a:p>
        </p:txBody>
      </p:sp>
      <p:sp>
        <p:nvSpPr>
          <p:cNvPr id="22" name="arrow-67"/>
          <p:cNvSpPr/>
          <p:nvPr/>
        </p:nvSpPr>
        <p:spPr>
          <a:xfrm>
            <a:off x="8869680" y="2880360"/>
            <a:ext cx="91" cy="274320"/>
          </a:xfrm>
          <a:prstGeom prst="line">
            <a:avLst/>
          </a:prstGeom>
          <a:noFill/>
          <a:ln w="25400">
            <a:solidFill>
              <a:schemeClr val="accent3"/>
            </a:solidFill>
            <a:prstDash val="solid"/>
            <a:tailEnd type="triangle"/>
          </a:ln>
        </p:spPr>
      </p:sp>
      <p:sp>
        <p:nvSpPr>
          <p:cNvPr id="23" name="chain-68"/>
          <p:cNvSpPr/>
          <p:nvPr/>
        </p:nvSpPr>
        <p:spPr>
          <a:xfrm>
            <a:off x="7223760" y="3182112"/>
            <a:ext cx="3291840" cy="621792"/>
          </a:xfrm>
          <a:prstGeom prst="roundRect">
            <a:avLst>
              <a:gd name="adj" fmla="val 11765"/>
            </a:avLst>
          </a:prstGeom>
          <a:solidFill>
            <a:schemeClr val="bg1"/>
          </a:solidFill>
          <a:ln w="19050">
            <a:solidFill>
              <a:schemeClr val="accent2"/>
            </a:solidFill>
            <a:prstDash val="dash"/>
          </a:ln>
        </p:spPr>
      </p:sp>
      <p:sp>
        <p:nvSpPr>
          <p:cNvPr id="24" name="text-69"/>
          <p:cNvSpPr txBox="1"/>
          <p:nvPr/>
        </p:nvSpPr>
        <p:spPr>
          <a:xfrm>
            <a:off x="7223760" y="3182112"/>
            <a:ext cx="3291840" cy="621792"/>
          </a:xfrm>
          <a:prstGeom prst="rect">
            <a:avLst/>
          </a:prstGeom>
          <a:noFill/>
          <a:ln/>
        </p:spPr>
        <p:txBody>
          <a:bodyPr wrap="square" lIns="0" tIns="0" rIns="0" bIns="0" rtlCol="0" anchor="ctr"/>
          <a:lstStyle/>
          <a:p>
            <a:pPr algn="ctr" indent="0" marL="0">
              <a:buNone/>
            </a:pPr>
            <a:r>
              <a:rPr lang="en-US" sz="1700" b="1" dirty="0">
                <a:solidFill>
                  <a:schemeClr val="accent2"/>
                </a:solidFill>
              </a:rPr>
              <a:t>Future Link Load</a:t>
            </a:r>
            <a:endParaRPr lang="en-US" sz="1700" dirty="0"/>
          </a:p>
        </p:txBody>
      </p:sp>
      <p:sp>
        <p:nvSpPr>
          <p:cNvPr id="25" name="arrow-70"/>
          <p:cNvSpPr/>
          <p:nvPr/>
        </p:nvSpPr>
        <p:spPr>
          <a:xfrm>
            <a:off x="8869680" y="3831336"/>
            <a:ext cx="91" cy="274320"/>
          </a:xfrm>
          <a:prstGeom prst="line">
            <a:avLst/>
          </a:prstGeom>
          <a:noFill/>
          <a:ln w="25400">
            <a:solidFill>
              <a:schemeClr val="accent3"/>
            </a:solidFill>
            <a:prstDash val="solid"/>
            <a:tailEnd type="triangle"/>
          </a:ln>
        </p:spPr>
      </p:sp>
      <p:sp>
        <p:nvSpPr>
          <p:cNvPr id="26" name="chain-71"/>
          <p:cNvSpPr/>
          <p:nvPr/>
        </p:nvSpPr>
        <p:spPr>
          <a:xfrm>
            <a:off x="7223760" y="4133088"/>
            <a:ext cx="3291840" cy="621792"/>
          </a:xfrm>
          <a:prstGeom prst="roundRect">
            <a:avLst>
              <a:gd name="adj" fmla="val 11765"/>
            </a:avLst>
          </a:prstGeom>
          <a:solidFill>
            <a:schemeClr val="bg1"/>
          </a:solidFill>
          <a:ln w="19050">
            <a:solidFill>
              <a:schemeClr val="accent2"/>
            </a:solidFill>
            <a:prstDash val="dash"/>
          </a:ln>
        </p:spPr>
      </p:sp>
      <p:sp>
        <p:nvSpPr>
          <p:cNvPr id="27" name="text-72"/>
          <p:cNvSpPr txBox="1"/>
          <p:nvPr/>
        </p:nvSpPr>
        <p:spPr>
          <a:xfrm>
            <a:off x="7223760" y="4133088"/>
            <a:ext cx="3291840" cy="621792"/>
          </a:xfrm>
          <a:prstGeom prst="rect">
            <a:avLst/>
          </a:prstGeom>
          <a:noFill/>
          <a:ln/>
        </p:spPr>
        <p:txBody>
          <a:bodyPr wrap="square" lIns="0" tIns="0" rIns="0" bIns="0" rtlCol="0" anchor="ctr"/>
          <a:lstStyle/>
          <a:p>
            <a:pPr algn="ctr" indent="0" marL="0">
              <a:buNone/>
            </a:pPr>
            <a:r>
              <a:rPr lang="en-US" sz="1700" b="1" dirty="0">
                <a:solidFill>
                  <a:schemeClr val="accent2"/>
                </a:solidFill>
              </a:rPr>
              <a:t>Early Congestion Warning</a:t>
            </a:r>
            <a:endParaRPr lang="en-US" sz="1700" dirty="0"/>
          </a:p>
        </p:txBody>
      </p:sp>
      <p:sp>
        <p:nvSpPr>
          <p:cNvPr id="28" name="arrow-73"/>
          <p:cNvSpPr/>
          <p:nvPr/>
        </p:nvSpPr>
        <p:spPr>
          <a:xfrm>
            <a:off x="8869680" y="4782312"/>
            <a:ext cx="91" cy="274320"/>
          </a:xfrm>
          <a:prstGeom prst="line">
            <a:avLst/>
          </a:prstGeom>
          <a:noFill/>
          <a:ln w="25400">
            <a:solidFill>
              <a:schemeClr val="accent3"/>
            </a:solidFill>
            <a:prstDash val="solid"/>
            <a:tailEnd type="triangle"/>
          </a:ln>
        </p:spPr>
      </p:sp>
      <p:sp>
        <p:nvSpPr>
          <p:cNvPr id="29" name="chain-74"/>
          <p:cNvSpPr/>
          <p:nvPr/>
        </p:nvSpPr>
        <p:spPr>
          <a:xfrm>
            <a:off x="7223760" y="5084064"/>
            <a:ext cx="3291840" cy="621792"/>
          </a:xfrm>
          <a:prstGeom prst="roundRect">
            <a:avLst>
              <a:gd name="adj" fmla="val 11765"/>
            </a:avLst>
          </a:prstGeom>
          <a:solidFill>
            <a:schemeClr val="bg1"/>
          </a:solidFill>
          <a:ln w="19050">
            <a:solidFill>
              <a:schemeClr val="accent2"/>
            </a:solidFill>
            <a:prstDash val="dash"/>
          </a:ln>
        </p:spPr>
      </p:sp>
      <p:sp>
        <p:nvSpPr>
          <p:cNvPr id="30" name="text-75"/>
          <p:cNvSpPr txBox="1"/>
          <p:nvPr/>
        </p:nvSpPr>
        <p:spPr>
          <a:xfrm>
            <a:off x="7223760" y="5084064"/>
            <a:ext cx="3291840" cy="621792"/>
          </a:xfrm>
          <a:prstGeom prst="rect">
            <a:avLst/>
          </a:prstGeom>
          <a:noFill/>
          <a:ln/>
        </p:spPr>
        <p:txBody>
          <a:bodyPr wrap="square" lIns="0" tIns="0" rIns="0" bIns="0" rtlCol="0" anchor="ctr"/>
          <a:lstStyle/>
          <a:p>
            <a:pPr algn="ctr" indent="0" marL="0">
              <a:buNone/>
            </a:pPr>
            <a:r>
              <a:rPr lang="en-US" sz="1700" b="1" dirty="0">
                <a:solidFill>
                  <a:schemeClr val="accent2"/>
                </a:solidFill>
              </a:rPr>
              <a:t>Proactive Action</a:t>
            </a:r>
            <a:endParaRPr lang="en-US" sz="1700" dirty="0"/>
          </a:p>
        </p:txBody>
      </p:sp>
      <p:sp>
        <p:nvSpPr>
          <p:cNvPr id="31" name="chip-76"/>
          <p:cNvSpPr/>
          <p:nvPr/>
        </p:nvSpPr>
        <p:spPr>
          <a:xfrm>
            <a:off x="10652760" y="1481328"/>
            <a:ext cx="1933956" cy="274320"/>
          </a:xfrm>
          <a:prstGeom prst="roundRect">
            <a:avLst>
              <a:gd name="adj" fmla="val 50000"/>
            </a:avLst>
          </a:prstGeom>
          <a:solidFill>
            <a:schemeClr val="accent1"/>
          </a:solidFill>
          <a:ln w="12700">
            <a:solidFill>
              <a:schemeClr val="accent1"/>
            </a:solidFill>
            <a:prstDash val="solid"/>
          </a:ln>
        </p:spPr>
      </p:sp>
      <p:sp>
        <p:nvSpPr>
          <p:cNvPr id="32" name="text-77"/>
          <p:cNvSpPr txBox="1"/>
          <p:nvPr/>
        </p:nvSpPr>
        <p:spPr>
          <a:xfrm>
            <a:off x="10652760" y="1481328"/>
            <a:ext cx="1933956" cy="274320"/>
          </a:xfrm>
          <a:prstGeom prst="rect">
            <a:avLst/>
          </a:prstGeom>
          <a:noFill/>
          <a:ln/>
        </p:spPr>
        <p:txBody>
          <a:bodyPr wrap="square" lIns="0" tIns="0" rIns="0" bIns="0" rtlCol="0" anchor="ctr"/>
          <a:lstStyle/>
          <a:p>
            <a:pPr algn="ctr" indent="0" marL="0">
              <a:buNone/>
            </a:pPr>
            <a:r>
              <a:rPr lang="en-US" sz="1050" b="1" spc="50" kern="0" dirty="0">
                <a:solidFill>
                  <a:schemeClr val="bg1"/>
                </a:solidFill>
              </a:rPr>
              <a:t>PHASES 1–5: FORECASTING</a:t>
            </a:r>
            <a:endParaRPr lang="en-US" sz="1050" dirty="0"/>
          </a:p>
        </p:txBody>
      </p:sp>
      <p:sp>
        <p:nvSpPr>
          <p:cNvPr id="33" name="text-78"/>
          <p:cNvSpPr txBox="1"/>
          <p:nvPr/>
        </p:nvSpPr>
        <p:spPr>
          <a:xfrm>
            <a:off x="10652760" y="1801368"/>
            <a:ext cx="1188720" cy="274320"/>
          </a:xfrm>
          <a:prstGeom prst="rect">
            <a:avLst/>
          </a:prstGeom>
          <a:noFill/>
          <a:ln/>
        </p:spPr>
        <p:txBody>
          <a:bodyPr wrap="square" lIns="0" tIns="0" rIns="0" bIns="0" rtlCol="0" anchor="t"/>
          <a:lstStyle/>
          <a:p>
            <a:pPr indent="0" marL="0">
              <a:buNone/>
            </a:pPr>
            <a:r>
              <a:rPr lang="en-US" sz="1100" dirty="0">
                <a:solidFill>
                  <a:schemeClr val="accent3"/>
                </a:solidFill>
              </a:rPr>
              <a:t>in progress</a:t>
            </a:r>
            <a:endParaRPr lang="en-US" sz="1100" dirty="0"/>
          </a:p>
        </p:txBody>
      </p:sp>
      <p:sp>
        <p:nvSpPr>
          <p:cNvPr id="34" name="chip-79"/>
          <p:cNvSpPr/>
          <p:nvPr/>
        </p:nvSpPr>
        <p:spPr>
          <a:xfrm>
            <a:off x="10652760" y="3794760"/>
            <a:ext cx="1700784" cy="274320"/>
          </a:xfrm>
          <a:prstGeom prst="roundRect">
            <a:avLst>
              <a:gd name="adj" fmla="val 50000"/>
            </a:avLst>
          </a:prstGeom>
          <a:solidFill>
            <a:schemeClr val="bg1"/>
          </a:solidFill>
          <a:ln w="15875">
            <a:solidFill>
              <a:schemeClr val="accent2"/>
            </a:solidFill>
            <a:prstDash val="dash"/>
          </a:ln>
        </p:spPr>
      </p:sp>
      <p:sp>
        <p:nvSpPr>
          <p:cNvPr id="35" name="text-80"/>
          <p:cNvSpPr txBox="1"/>
          <p:nvPr/>
        </p:nvSpPr>
        <p:spPr>
          <a:xfrm>
            <a:off x="10652760" y="3794760"/>
            <a:ext cx="1700784" cy="274320"/>
          </a:xfrm>
          <a:prstGeom prst="rect">
            <a:avLst/>
          </a:prstGeom>
          <a:noFill/>
          <a:ln/>
        </p:spPr>
        <p:txBody>
          <a:bodyPr wrap="square" lIns="0" tIns="0" rIns="0" bIns="0" rtlCol="0" anchor="ctr"/>
          <a:lstStyle/>
          <a:p>
            <a:pPr algn="ctr" indent="0" marL="0">
              <a:buNone/>
            </a:pPr>
            <a:r>
              <a:rPr lang="en-US" sz="1050" b="1" spc="50" kern="0" dirty="0">
                <a:solidFill>
                  <a:schemeClr val="accent2"/>
                </a:solidFill>
              </a:rPr>
              <a:t>PHASE 6: APPLICATION</a:t>
            </a:r>
            <a:endParaRPr lang="en-US" sz="1050" dirty="0"/>
          </a:p>
        </p:txBody>
      </p:sp>
      <p:sp>
        <p:nvSpPr>
          <p:cNvPr id="36" name="text-81"/>
          <p:cNvSpPr txBox="1"/>
          <p:nvPr/>
        </p:nvSpPr>
        <p:spPr>
          <a:xfrm>
            <a:off x="10652760" y="4114800"/>
            <a:ext cx="1188720" cy="274320"/>
          </a:xfrm>
          <a:prstGeom prst="rect">
            <a:avLst/>
          </a:prstGeom>
          <a:noFill/>
          <a:ln/>
        </p:spPr>
        <p:txBody>
          <a:bodyPr wrap="square" lIns="0" tIns="0" rIns="0" bIns="0" rtlCol="0" anchor="t"/>
          <a:lstStyle/>
          <a:p>
            <a:pPr indent="0" marL="0">
              <a:buNone/>
            </a:pPr>
            <a:r>
              <a:rPr lang="en-US" sz="1100" dirty="0">
                <a:solidFill>
                  <a:schemeClr val="accent3"/>
                </a:solidFill>
              </a:rPr>
              <a:t>planned</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Abilene Dataset &amp; Data Pipeline</a:t>
            </a:r>
            <a:endParaRPr lang="en-US" sz="3200" dirty="0"/>
          </a:p>
        </p:txBody>
      </p:sp>
      <p:sp>
        <p:nvSpPr>
          <p:cNvPr id="3" name="card-82"/>
          <p:cNvSpPr/>
          <p:nvPr/>
        </p:nvSpPr>
        <p:spPr>
          <a:xfrm>
            <a:off x="548640" y="1234440"/>
            <a:ext cx="2036003" cy="1188720"/>
          </a:xfrm>
          <a:prstGeom prst="roundRect">
            <a:avLst>
              <a:gd name="adj" fmla="val 6154"/>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4" name="text-83"/>
          <p:cNvSpPr txBox="1"/>
          <p:nvPr/>
        </p:nvSpPr>
        <p:spPr>
          <a:xfrm>
            <a:off x="548640" y="1325880"/>
            <a:ext cx="2036003" cy="640080"/>
          </a:xfrm>
          <a:prstGeom prst="rect">
            <a:avLst/>
          </a:prstGeom>
          <a:noFill/>
          <a:ln/>
        </p:spPr>
        <p:txBody>
          <a:bodyPr wrap="square" lIns="0" tIns="0" rIns="0" bIns="0" rtlCol="0" anchor="ctr"/>
          <a:lstStyle/>
          <a:p>
            <a:pPr algn="ctr" indent="0" marL="0">
              <a:buNone/>
            </a:pPr>
            <a:r>
              <a:rPr lang="en-US" sz="3400" b="1" dirty="0">
                <a:solidFill>
                  <a:schemeClr val="accent1"/>
                </a:solidFill>
                <a:latin typeface="Cambria" pitchFamily="34" charset="0"/>
                <a:ea typeface="Cambria" pitchFamily="34" charset="-122"/>
                <a:cs typeface="Cambria" pitchFamily="34" charset="-120"/>
              </a:rPr>
              <a:t>12</a:t>
            </a:r>
            <a:endParaRPr lang="en-US" sz="3400" dirty="0"/>
          </a:p>
        </p:txBody>
      </p:sp>
      <p:sp>
        <p:nvSpPr>
          <p:cNvPr id="5" name="text-84"/>
          <p:cNvSpPr txBox="1"/>
          <p:nvPr/>
        </p:nvSpPr>
        <p:spPr>
          <a:xfrm>
            <a:off x="640080" y="1965960"/>
            <a:ext cx="1853123" cy="365760"/>
          </a:xfrm>
          <a:prstGeom prst="rect">
            <a:avLst/>
          </a:prstGeom>
          <a:noFill/>
          <a:ln/>
        </p:spPr>
        <p:txBody>
          <a:bodyPr wrap="square" lIns="0" tIns="0" rIns="0" bIns="0" rtlCol="0" anchor="t"/>
          <a:lstStyle/>
          <a:p>
            <a:pPr algn="ctr" indent="0" marL="0">
              <a:buNone/>
            </a:pPr>
            <a:r>
              <a:rPr lang="en-US" sz="1300" dirty="0">
                <a:solidFill>
                  <a:schemeClr val="tx1"/>
                </a:solidFill>
              </a:rPr>
              <a:t>routers</a:t>
            </a:r>
            <a:endParaRPr lang="en-US" sz="1300" dirty="0"/>
          </a:p>
        </p:txBody>
      </p:sp>
      <p:sp>
        <p:nvSpPr>
          <p:cNvPr id="6" name="card-85"/>
          <p:cNvSpPr/>
          <p:nvPr/>
        </p:nvSpPr>
        <p:spPr>
          <a:xfrm>
            <a:off x="2813243" y="1234440"/>
            <a:ext cx="2036003" cy="1188720"/>
          </a:xfrm>
          <a:prstGeom prst="roundRect">
            <a:avLst>
              <a:gd name="adj" fmla="val 6154"/>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7" name="text-86"/>
          <p:cNvSpPr txBox="1"/>
          <p:nvPr/>
        </p:nvSpPr>
        <p:spPr>
          <a:xfrm>
            <a:off x="2813243" y="1325880"/>
            <a:ext cx="2036003" cy="640080"/>
          </a:xfrm>
          <a:prstGeom prst="rect">
            <a:avLst/>
          </a:prstGeom>
          <a:noFill/>
          <a:ln/>
        </p:spPr>
        <p:txBody>
          <a:bodyPr wrap="square" lIns="0" tIns="0" rIns="0" bIns="0" rtlCol="0" anchor="ctr"/>
          <a:lstStyle/>
          <a:p>
            <a:pPr algn="ctr" indent="0" marL="0">
              <a:buNone/>
            </a:pPr>
            <a:r>
              <a:rPr lang="en-US" sz="3400" b="1" dirty="0">
                <a:solidFill>
                  <a:schemeClr val="accent1"/>
                </a:solidFill>
                <a:latin typeface="Cambria" pitchFamily="34" charset="0"/>
                <a:ea typeface="Cambria" pitchFamily="34" charset="-122"/>
                <a:cs typeface="Cambria" pitchFamily="34" charset="-120"/>
              </a:rPr>
              <a:t>144</a:t>
            </a:r>
            <a:endParaRPr lang="en-US" sz="3400" dirty="0"/>
          </a:p>
        </p:txBody>
      </p:sp>
      <p:sp>
        <p:nvSpPr>
          <p:cNvPr id="8" name="text-87"/>
          <p:cNvSpPr txBox="1"/>
          <p:nvPr/>
        </p:nvSpPr>
        <p:spPr>
          <a:xfrm>
            <a:off x="2904683" y="1965960"/>
            <a:ext cx="1853123" cy="365760"/>
          </a:xfrm>
          <a:prstGeom prst="rect">
            <a:avLst/>
          </a:prstGeom>
          <a:noFill/>
          <a:ln/>
        </p:spPr>
        <p:txBody>
          <a:bodyPr wrap="square" lIns="0" tIns="0" rIns="0" bIns="0" rtlCol="0" anchor="t"/>
          <a:lstStyle/>
          <a:p>
            <a:pPr algn="ctr" indent="0" marL="0">
              <a:buNone/>
            </a:pPr>
            <a:r>
              <a:rPr lang="en-US" sz="1300" dirty="0">
                <a:solidFill>
                  <a:schemeClr val="tx1"/>
                </a:solidFill>
              </a:rPr>
              <a:t>origin-destination flows</a:t>
            </a:r>
            <a:endParaRPr lang="en-US" sz="1300" dirty="0"/>
          </a:p>
        </p:txBody>
      </p:sp>
      <p:sp>
        <p:nvSpPr>
          <p:cNvPr id="9" name="card-88"/>
          <p:cNvSpPr/>
          <p:nvPr/>
        </p:nvSpPr>
        <p:spPr>
          <a:xfrm>
            <a:off x="5077846" y="1234440"/>
            <a:ext cx="2036003" cy="1188720"/>
          </a:xfrm>
          <a:prstGeom prst="roundRect">
            <a:avLst>
              <a:gd name="adj" fmla="val 6154"/>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0" name="text-89"/>
          <p:cNvSpPr txBox="1"/>
          <p:nvPr/>
        </p:nvSpPr>
        <p:spPr>
          <a:xfrm>
            <a:off x="5077846" y="1325880"/>
            <a:ext cx="2036003" cy="640080"/>
          </a:xfrm>
          <a:prstGeom prst="rect">
            <a:avLst/>
          </a:prstGeom>
          <a:noFill/>
          <a:ln/>
        </p:spPr>
        <p:txBody>
          <a:bodyPr wrap="square" lIns="0" tIns="0" rIns="0" bIns="0" rtlCol="0" anchor="ctr"/>
          <a:lstStyle/>
          <a:p>
            <a:pPr algn="ctr" indent="0" marL="0">
              <a:buNone/>
            </a:pPr>
            <a:r>
              <a:rPr lang="en-US" sz="3400" b="1" dirty="0">
                <a:solidFill>
                  <a:schemeClr val="accent1"/>
                </a:solidFill>
                <a:latin typeface="Cambria" pitchFamily="34" charset="0"/>
                <a:ea typeface="Cambria" pitchFamily="34" charset="-122"/>
                <a:cs typeface="Cambria" pitchFamily="34" charset="-120"/>
              </a:rPr>
              <a:t>5 min</a:t>
            </a:r>
            <a:endParaRPr lang="en-US" sz="3400" dirty="0"/>
          </a:p>
        </p:txBody>
      </p:sp>
      <p:sp>
        <p:nvSpPr>
          <p:cNvPr id="11" name="text-90"/>
          <p:cNvSpPr txBox="1"/>
          <p:nvPr/>
        </p:nvSpPr>
        <p:spPr>
          <a:xfrm>
            <a:off x="5169286" y="1965960"/>
            <a:ext cx="1853123" cy="365760"/>
          </a:xfrm>
          <a:prstGeom prst="rect">
            <a:avLst/>
          </a:prstGeom>
          <a:noFill/>
          <a:ln/>
        </p:spPr>
        <p:txBody>
          <a:bodyPr wrap="square" lIns="0" tIns="0" rIns="0" bIns="0" rtlCol="0" anchor="t"/>
          <a:lstStyle/>
          <a:p>
            <a:pPr algn="ctr" indent="0" marL="0">
              <a:buNone/>
            </a:pPr>
            <a:r>
              <a:rPr lang="en-US" sz="1300" dirty="0">
                <a:solidFill>
                  <a:schemeClr val="tx1"/>
                </a:solidFill>
              </a:rPr>
              <a:t>between readings</a:t>
            </a:r>
            <a:endParaRPr lang="en-US" sz="1300" dirty="0"/>
          </a:p>
        </p:txBody>
      </p:sp>
      <p:sp>
        <p:nvSpPr>
          <p:cNvPr id="12" name="card-91"/>
          <p:cNvSpPr/>
          <p:nvPr/>
        </p:nvSpPr>
        <p:spPr>
          <a:xfrm>
            <a:off x="7342449" y="1234440"/>
            <a:ext cx="2036003" cy="1188720"/>
          </a:xfrm>
          <a:prstGeom prst="roundRect">
            <a:avLst>
              <a:gd name="adj" fmla="val 6154"/>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3" name="text-92"/>
          <p:cNvSpPr txBox="1"/>
          <p:nvPr/>
        </p:nvSpPr>
        <p:spPr>
          <a:xfrm>
            <a:off x="7342449" y="1325880"/>
            <a:ext cx="2036003" cy="640080"/>
          </a:xfrm>
          <a:prstGeom prst="rect">
            <a:avLst/>
          </a:prstGeom>
          <a:noFill/>
          <a:ln/>
        </p:spPr>
        <p:txBody>
          <a:bodyPr wrap="square" lIns="0" tIns="0" rIns="0" bIns="0" rtlCol="0" anchor="ctr"/>
          <a:lstStyle/>
          <a:p>
            <a:pPr algn="ctr" indent="0" marL="0">
              <a:buNone/>
            </a:pPr>
            <a:r>
              <a:rPr lang="en-US" sz="3400" b="1" dirty="0">
                <a:solidFill>
                  <a:schemeClr val="accent1"/>
                </a:solidFill>
                <a:latin typeface="Cambria" pitchFamily="34" charset="0"/>
                <a:ea typeface="Cambria" pitchFamily="34" charset="-122"/>
                <a:cs typeface="Cambria" pitchFamily="34" charset="-120"/>
              </a:rPr>
              <a:t>24</a:t>
            </a:r>
            <a:endParaRPr lang="en-US" sz="3400" dirty="0"/>
          </a:p>
        </p:txBody>
      </p:sp>
      <p:sp>
        <p:nvSpPr>
          <p:cNvPr id="14" name="text-93"/>
          <p:cNvSpPr txBox="1"/>
          <p:nvPr/>
        </p:nvSpPr>
        <p:spPr>
          <a:xfrm>
            <a:off x="7433889" y="1965960"/>
            <a:ext cx="1853123" cy="365760"/>
          </a:xfrm>
          <a:prstGeom prst="rect">
            <a:avLst/>
          </a:prstGeom>
          <a:noFill/>
          <a:ln/>
        </p:spPr>
        <p:txBody>
          <a:bodyPr wrap="square" lIns="0" tIns="0" rIns="0" bIns="0" rtlCol="0" anchor="t"/>
          <a:lstStyle/>
          <a:p>
            <a:pPr algn="ctr" indent="0" marL="0">
              <a:buNone/>
            </a:pPr>
            <a:r>
              <a:rPr lang="en-US" sz="1300" dirty="0">
                <a:solidFill>
                  <a:schemeClr val="tx1"/>
                </a:solidFill>
              </a:rPr>
              <a:t>weekly files</a:t>
            </a:r>
            <a:endParaRPr lang="en-US" sz="1300" dirty="0"/>
          </a:p>
        </p:txBody>
      </p:sp>
      <p:sp>
        <p:nvSpPr>
          <p:cNvPr id="15" name="card-94"/>
          <p:cNvSpPr/>
          <p:nvPr/>
        </p:nvSpPr>
        <p:spPr>
          <a:xfrm>
            <a:off x="9607052" y="1234440"/>
            <a:ext cx="2036003" cy="1188720"/>
          </a:xfrm>
          <a:prstGeom prst="roundRect">
            <a:avLst>
              <a:gd name="adj" fmla="val 6154"/>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6" name="text-95"/>
          <p:cNvSpPr txBox="1"/>
          <p:nvPr/>
        </p:nvSpPr>
        <p:spPr>
          <a:xfrm>
            <a:off x="9607052" y="1325880"/>
            <a:ext cx="2036003" cy="640080"/>
          </a:xfrm>
          <a:prstGeom prst="rect">
            <a:avLst/>
          </a:prstGeom>
          <a:noFill/>
          <a:ln/>
        </p:spPr>
        <p:txBody>
          <a:bodyPr wrap="square" lIns="0" tIns="0" rIns="0" bIns="0" rtlCol="0" anchor="ctr"/>
          <a:lstStyle/>
          <a:p>
            <a:pPr algn="ctr" indent="0" marL="0">
              <a:buNone/>
            </a:pPr>
            <a:r>
              <a:rPr lang="en-US" sz="3400" b="1" dirty="0">
                <a:solidFill>
                  <a:schemeClr val="accent1"/>
                </a:solidFill>
                <a:latin typeface="Cambria" pitchFamily="34" charset="0"/>
                <a:ea typeface="Cambria" pitchFamily="34" charset="-122"/>
                <a:cs typeface="Cambria" pitchFamily="34" charset="-120"/>
              </a:rPr>
              <a:t>2,016</a:t>
            </a:r>
            <a:endParaRPr lang="en-US" sz="3400" dirty="0"/>
          </a:p>
        </p:txBody>
      </p:sp>
      <p:sp>
        <p:nvSpPr>
          <p:cNvPr id="17" name="text-96"/>
          <p:cNvSpPr txBox="1"/>
          <p:nvPr/>
        </p:nvSpPr>
        <p:spPr>
          <a:xfrm>
            <a:off x="9698492" y="1965960"/>
            <a:ext cx="1853123" cy="365760"/>
          </a:xfrm>
          <a:prstGeom prst="rect">
            <a:avLst/>
          </a:prstGeom>
          <a:noFill/>
          <a:ln/>
        </p:spPr>
        <p:txBody>
          <a:bodyPr wrap="square" lIns="0" tIns="0" rIns="0" bIns="0" rtlCol="0" anchor="t"/>
          <a:lstStyle/>
          <a:p>
            <a:pPr algn="ctr" indent="0" marL="0">
              <a:buNone/>
            </a:pPr>
            <a:r>
              <a:rPr lang="en-US" sz="1300" dirty="0">
                <a:solidFill>
                  <a:schemeClr val="tx1"/>
                </a:solidFill>
              </a:rPr>
              <a:t>readings per week</a:t>
            </a:r>
            <a:endParaRPr lang="en-US" sz="1300" dirty="0"/>
          </a:p>
        </p:txBody>
      </p:sp>
      <p:sp>
        <p:nvSpPr>
          <p:cNvPr id="18" name="text-97"/>
          <p:cNvSpPr txBox="1"/>
          <p:nvPr/>
        </p:nvSpPr>
        <p:spPr>
          <a:xfrm>
            <a:off x="548640" y="2606040"/>
            <a:ext cx="11094415" cy="365760"/>
          </a:xfrm>
          <a:prstGeom prst="rect">
            <a:avLst/>
          </a:prstGeom>
          <a:noFill/>
          <a:ln/>
        </p:spPr>
        <p:txBody>
          <a:bodyPr wrap="square" lIns="0" tIns="0" rIns="0" bIns="0" rtlCol="0" anchor="t"/>
          <a:lstStyle/>
          <a:p>
            <a:pPr indent="0" marL="0">
              <a:buNone/>
            </a:pPr>
            <a:r>
              <a:rPr lang="en-US" sz="1400" b="1" dirty="0">
                <a:solidFill>
                  <a:schemeClr val="accent1"/>
                </a:solidFill>
              </a:rPr>
              <a:t>realOD</a:t>
            </a:r>
            <a:pPr indent="0" marL="0">
              <a:buNone/>
            </a:pPr>
            <a:r>
              <a:rPr lang="en-US" sz="1400" dirty="0">
                <a:solidFill>
                  <a:schemeClr val="tx1"/>
                </a:solidFill>
              </a:rPr>
              <a:t> = the measured traffic (first of 5 values per flow; the other 4 are model estimates).   </a:t>
            </a:r>
            <a:pPr indent="0" marL="0">
              <a:buNone/>
            </a:pPr>
            <a:r>
              <a:rPr lang="en-US" sz="1400" b="1" dirty="0">
                <a:solidFill>
                  <a:schemeClr val="accent1"/>
                </a:solidFill>
              </a:rPr>
              <a:t>Unit:</a:t>
            </a:r>
            <a:pPr indent="0" marL="0">
              <a:buNone/>
            </a:pPr>
            <a:r>
              <a:rPr lang="en-US" sz="1400" dirty="0">
                <a:solidFill>
                  <a:schemeClr val="tx1"/>
                </a:solidFill>
              </a:rPr>
              <a:t> 100 bytes per 5 minutes.</a:t>
            </a:r>
            <a:endParaRPr lang="en-US" sz="1400" dirty="0"/>
          </a:p>
        </p:txBody>
      </p:sp>
      <p:sp>
        <p:nvSpPr>
          <p:cNvPr id="19" name="pipe-98"/>
          <p:cNvSpPr/>
          <p:nvPr/>
        </p:nvSpPr>
        <p:spPr>
          <a:xfrm>
            <a:off x="548640" y="3246120"/>
            <a:ext cx="1207008" cy="960120"/>
          </a:xfrm>
          <a:prstGeom prst="roundRect">
            <a:avLst>
              <a:gd name="adj" fmla="val 7619"/>
            </a:avLst>
          </a:prstGeom>
          <a:solidFill>
            <a:schemeClr val="accent3"/>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0" name="text-99"/>
          <p:cNvSpPr txBox="1"/>
          <p:nvPr/>
        </p:nvSpPr>
        <p:spPr>
          <a:xfrm>
            <a:off x="603504" y="3246120"/>
            <a:ext cx="1097280" cy="960120"/>
          </a:xfrm>
          <a:prstGeom prst="rect">
            <a:avLst/>
          </a:prstGeom>
          <a:noFill/>
          <a:ln/>
        </p:spPr>
        <p:txBody>
          <a:bodyPr wrap="square" lIns="0" tIns="0" rIns="0" bIns="0" rtlCol="0" anchor="ctr"/>
          <a:lstStyle/>
          <a:p>
            <a:pPr algn="ctr" indent="0" marL="0">
              <a:buNone/>
            </a:pPr>
            <a:r>
              <a:rPr lang="en-US" sz="1300" b="1" dirty="0">
                <a:solidFill>
                  <a:schemeClr val="bg1"/>
                </a:solidFill>
              </a:rPr>
              <a:t>Raw Abilene data</a:t>
            </a:r>
            <a:endParaRPr lang="en-US" sz="1300" dirty="0"/>
          </a:p>
        </p:txBody>
      </p:sp>
      <p:sp>
        <p:nvSpPr>
          <p:cNvPr id="21" name="arrow-100"/>
          <p:cNvSpPr/>
          <p:nvPr/>
        </p:nvSpPr>
        <p:spPr>
          <a:xfrm>
            <a:off x="1773936" y="3726180"/>
            <a:ext cx="168903" cy="91"/>
          </a:xfrm>
          <a:prstGeom prst="line">
            <a:avLst/>
          </a:prstGeom>
          <a:noFill/>
          <a:ln w="22225">
            <a:solidFill>
              <a:schemeClr val="accent3"/>
            </a:solidFill>
            <a:prstDash val="solid"/>
            <a:tailEnd type="triangle"/>
          </a:ln>
        </p:spPr>
      </p:sp>
      <p:sp>
        <p:nvSpPr>
          <p:cNvPr id="22" name="pipe-101"/>
          <p:cNvSpPr/>
          <p:nvPr/>
        </p:nvSpPr>
        <p:spPr>
          <a:xfrm>
            <a:off x="1961127" y="3246120"/>
            <a:ext cx="1207008" cy="960120"/>
          </a:xfrm>
          <a:prstGeom prst="roundRect">
            <a:avLst>
              <a:gd name="adj" fmla="val 7619"/>
            </a:avLst>
          </a:prstGeom>
          <a:solidFill>
            <a:schemeClr val="accent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3" name="text-102"/>
          <p:cNvSpPr txBox="1"/>
          <p:nvPr/>
        </p:nvSpPr>
        <p:spPr>
          <a:xfrm>
            <a:off x="2015991" y="3246120"/>
            <a:ext cx="1097280" cy="960120"/>
          </a:xfrm>
          <a:prstGeom prst="rect">
            <a:avLst/>
          </a:prstGeom>
          <a:noFill/>
          <a:ln/>
        </p:spPr>
        <p:txBody>
          <a:bodyPr wrap="square" lIns="0" tIns="0" rIns="0" bIns="0" rtlCol="0" anchor="ctr"/>
          <a:lstStyle/>
          <a:p>
            <a:pPr algn="ctr" indent="0" marL="0">
              <a:buNone/>
            </a:pPr>
            <a:r>
              <a:rPr lang="en-US" sz="1300" b="1" dirty="0">
                <a:solidFill>
                  <a:schemeClr val="bg1"/>
                </a:solidFill>
              </a:rPr>
              <a:t>Cleaning</a:t>
            </a:r>
            <a:endParaRPr lang="en-US" sz="1300" dirty="0"/>
          </a:p>
        </p:txBody>
      </p:sp>
      <p:sp>
        <p:nvSpPr>
          <p:cNvPr id="24" name="arrow-103"/>
          <p:cNvSpPr/>
          <p:nvPr/>
        </p:nvSpPr>
        <p:spPr>
          <a:xfrm>
            <a:off x="3186423" y="3726180"/>
            <a:ext cx="168903" cy="91"/>
          </a:xfrm>
          <a:prstGeom prst="line">
            <a:avLst/>
          </a:prstGeom>
          <a:noFill/>
          <a:ln w="22225">
            <a:solidFill>
              <a:schemeClr val="accent3"/>
            </a:solidFill>
            <a:prstDash val="solid"/>
            <a:tailEnd type="triangle"/>
          </a:ln>
        </p:spPr>
      </p:sp>
      <p:sp>
        <p:nvSpPr>
          <p:cNvPr id="25" name="pipe-104"/>
          <p:cNvSpPr/>
          <p:nvPr/>
        </p:nvSpPr>
        <p:spPr>
          <a:xfrm>
            <a:off x="3373613" y="3246120"/>
            <a:ext cx="1207008" cy="960120"/>
          </a:xfrm>
          <a:prstGeom prst="roundRect">
            <a:avLst>
              <a:gd name="adj" fmla="val 7619"/>
            </a:avLst>
          </a:prstGeom>
          <a:solidFill>
            <a:schemeClr val="accent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6" name="text-105"/>
          <p:cNvSpPr txBox="1"/>
          <p:nvPr/>
        </p:nvSpPr>
        <p:spPr>
          <a:xfrm>
            <a:off x="3428477" y="3246120"/>
            <a:ext cx="1097280" cy="960120"/>
          </a:xfrm>
          <a:prstGeom prst="rect">
            <a:avLst/>
          </a:prstGeom>
          <a:noFill/>
          <a:ln/>
        </p:spPr>
        <p:txBody>
          <a:bodyPr wrap="square" lIns="0" tIns="0" rIns="0" bIns="0" rtlCol="0" anchor="ctr"/>
          <a:lstStyle/>
          <a:p>
            <a:pPr algn="ctr" indent="0" marL="0">
              <a:buNone/>
            </a:pPr>
            <a:r>
              <a:rPr lang="en-US" sz="1300" b="1" dirty="0">
                <a:solidFill>
                  <a:schemeClr val="bg1"/>
                </a:solidFill>
              </a:rPr>
              <a:t>Remove invalid / outage periods</a:t>
            </a:r>
            <a:endParaRPr lang="en-US" sz="1300" dirty="0"/>
          </a:p>
        </p:txBody>
      </p:sp>
      <p:sp>
        <p:nvSpPr>
          <p:cNvPr id="27" name="arrow-106"/>
          <p:cNvSpPr/>
          <p:nvPr/>
        </p:nvSpPr>
        <p:spPr>
          <a:xfrm>
            <a:off x="4598909" y="3726180"/>
            <a:ext cx="168903" cy="91"/>
          </a:xfrm>
          <a:prstGeom prst="line">
            <a:avLst/>
          </a:prstGeom>
          <a:noFill/>
          <a:ln w="22225">
            <a:solidFill>
              <a:schemeClr val="accent3"/>
            </a:solidFill>
            <a:prstDash val="solid"/>
            <a:tailEnd type="triangle"/>
          </a:ln>
        </p:spPr>
      </p:sp>
      <p:sp>
        <p:nvSpPr>
          <p:cNvPr id="28" name="pipe-107"/>
          <p:cNvSpPr/>
          <p:nvPr/>
        </p:nvSpPr>
        <p:spPr>
          <a:xfrm>
            <a:off x="4786100" y="3246120"/>
            <a:ext cx="1207008" cy="960120"/>
          </a:xfrm>
          <a:prstGeom prst="roundRect">
            <a:avLst>
              <a:gd name="adj" fmla="val 7619"/>
            </a:avLst>
          </a:prstGeom>
          <a:solidFill>
            <a:schemeClr val="accent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9" name="text-108"/>
          <p:cNvSpPr txBox="1"/>
          <p:nvPr/>
        </p:nvSpPr>
        <p:spPr>
          <a:xfrm>
            <a:off x="4840964" y="3246120"/>
            <a:ext cx="1097280" cy="960120"/>
          </a:xfrm>
          <a:prstGeom prst="rect">
            <a:avLst/>
          </a:prstGeom>
          <a:noFill/>
          <a:ln/>
        </p:spPr>
        <p:txBody>
          <a:bodyPr wrap="square" lIns="0" tIns="0" rIns="0" bIns="0" rtlCol="0" anchor="ctr"/>
          <a:lstStyle/>
          <a:p>
            <a:pPr algn="ctr" indent="0" marL="0">
              <a:buNone/>
            </a:pPr>
            <a:r>
              <a:rPr lang="en-US" sz="1300" b="1" dirty="0">
                <a:solidFill>
                  <a:schemeClr val="bg1"/>
                </a:solidFill>
              </a:rPr>
              <a:t>Segment continuous periods</a:t>
            </a:r>
            <a:endParaRPr lang="en-US" sz="1300" dirty="0"/>
          </a:p>
        </p:txBody>
      </p:sp>
      <p:sp>
        <p:nvSpPr>
          <p:cNvPr id="30" name="arrow-109"/>
          <p:cNvSpPr/>
          <p:nvPr/>
        </p:nvSpPr>
        <p:spPr>
          <a:xfrm>
            <a:off x="6011396" y="3726180"/>
            <a:ext cx="168903" cy="91"/>
          </a:xfrm>
          <a:prstGeom prst="line">
            <a:avLst/>
          </a:prstGeom>
          <a:noFill/>
          <a:ln w="22225">
            <a:solidFill>
              <a:schemeClr val="accent3"/>
            </a:solidFill>
            <a:prstDash val="solid"/>
            <a:tailEnd type="triangle"/>
          </a:ln>
        </p:spPr>
      </p:sp>
      <p:sp>
        <p:nvSpPr>
          <p:cNvPr id="31" name="pipe-110"/>
          <p:cNvSpPr/>
          <p:nvPr/>
        </p:nvSpPr>
        <p:spPr>
          <a:xfrm>
            <a:off x="6198587" y="3246120"/>
            <a:ext cx="1207008" cy="960120"/>
          </a:xfrm>
          <a:prstGeom prst="roundRect">
            <a:avLst>
              <a:gd name="adj" fmla="val 7619"/>
            </a:avLst>
          </a:prstGeom>
          <a:solidFill>
            <a:schemeClr val="accent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32" name="text-111"/>
          <p:cNvSpPr txBox="1"/>
          <p:nvPr/>
        </p:nvSpPr>
        <p:spPr>
          <a:xfrm>
            <a:off x="6253451" y="3246120"/>
            <a:ext cx="1097280" cy="960120"/>
          </a:xfrm>
          <a:prstGeom prst="rect">
            <a:avLst/>
          </a:prstGeom>
          <a:noFill/>
          <a:ln/>
        </p:spPr>
        <p:txBody>
          <a:bodyPr wrap="square" lIns="0" tIns="0" rIns="0" bIns="0" rtlCol="0" anchor="ctr"/>
          <a:lstStyle/>
          <a:p>
            <a:pPr algn="ctr" indent="0" marL="0">
              <a:buNone/>
            </a:pPr>
            <a:r>
              <a:rPr lang="en-US" sz="1300" b="1" dirty="0">
                <a:solidFill>
                  <a:schemeClr val="bg1"/>
                </a:solidFill>
              </a:rPr>
              <a:t>log1p transform</a:t>
            </a:r>
            <a:endParaRPr lang="en-US" sz="1300" dirty="0"/>
          </a:p>
        </p:txBody>
      </p:sp>
      <p:sp>
        <p:nvSpPr>
          <p:cNvPr id="33" name="arrow-112"/>
          <p:cNvSpPr/>
          <p:nvPr/>
        </p:nvSpPr>
        <p:spPr>
          <a:xfrm>
            <a:off x="7423883" y="3726180"/>
            <a:ext cx="168903" cy="91"/>
          </a:xfrm>
          <a:prstGeom prst="line">
            <a:avLst/>
          </a:prstGeom>
          <a:noFill/>
          <a:ln w="22225">
            <a:solidFill>
              <a:schemeClr val="accent3"/>
            </a:solidFill>
            <a:prstDash val="solid"/>
            <a:tailEnd type="triangle"/>
          </a:ln>
        </p:spPr>
      </p:sp>
      <p:sp>
        <p:nvSpPr>
          <p:cNvPr id="34" name="pipe-113"/>
          <p:cNvSpPr/>
          <p:nvPr/>
        </p:nvSpPr>
        <p:spPr>
          <a:xfrm>
            <a:off x="7611074" y="3246120"/>
            <a:ext cx="1207008" cy="960120"/>
          </a:xfrm>
          <a:prstGeom prst="roundRect">
            <a:avLst>
              <a:gd name="adj" fmla="val 7619"/>
            </a:avLst>
          </a:prstGeom>
          <a:solidFill>
            <a:schemeClr val="accent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35" name="text-114"/>
          <p:cNvSpPr txBox="1"/>
          <p:nvPr/>
        </p:nvSpPr>
        <p:spPr>
          <a:xfrm>
            <a:off x="7665938" y="3246120"/>
            <a:ext cx="1097280" cy="960120"/>
          </a:xfrm>
          <a:prstGeom prst="rect">
            <a:avLst/>
          </a:prstGeom>
          <a:noFill/>
          <a:ln/>
        </p:spPr>
        <p:txBody>
          <a:bodyPr wrap="square" lIns="0" tIns="0" rIns="0" bIns="0" rtlCol="0" anchor="ctr"/>
          <a:lstStyle/>
          <a:p>
            <a:pPr algn="ctr" indent="0" marL="0">
              <a:buNone/>
            </a:pPr>
            <a:r>
              <a:rPr lang="en-US" sz="1300" b="1" dirty="0">
                <a:solidFill>
                  <a:schemeClr val="bg1"/>
                </a:solidFill>
              </a:rPr>
              <a:t>Per-flow min–max scaling</a:t>
            </a:r>
            <a:endParaRPr lang="en-US" sz="1300" dirty="0"/>
          </a:p>
        </p:txBody>
      </p:sp>
      <p:sp>
        <p:nvSpPr>
          <p:cNvPr id="36" name="arrow-115"/>
          <p:cNvSpPr/>
          <p:nvPr/>
        </p:nvSpPr>
        <p:spPr>
          <a:xfrm>
            <a:off x="8836370" y="3726180"/>
            <a:ext cx="168903" cy="91"/>
          </a:xfrm>
          <a:prstGeom prst="line">
            <a:avLst/>
          </a:prstGeom>
          <a:noFill/>
          <a:ln w="22225">
            <a:solidFill>
              <a:schemeClr val="accent3"/>
            </a:solidFill>
            <a:prstDash val="solid"/>
            <a:tailEnd type="triangle"/>
          </a:ln>
        </p:spPr>
      </p:sp>
      <p:sp>
        <p:nvSpPr>
          <p:cNvPr id="37" name="pipe-116"/>
          <p:cNvSpPr/>
          <p:nvPr/>
        </p:nvSpPr>
        <p:spPr>
          <a:xfrm>
            <a:off x="9023560" y="3246120"/>
            <a:ext cx="1207008" cy="960120"/>
          </a:xfrm>
          <a:prstGeom prst="roundRect">
            <a:avLst>
              <a:gd name="adj" fmla="val 7619"/>
            </a:avLst>
          </a:prstGeom>
          <a:solidFill>
            <a:schemeClr val="accent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38" name="text-117"/>
          <p:cNvSpPr txBox="1"/>
          <p:nvPr/>
        </p:nvSpPr>
        <p:spPr>
          <a:xfrm>
            <a:off x="9078424" y="3246120"/>
            <a:ext cx="1097280" cy="960120"/>
          </a:xfrm>
          <a:prstGeom prst="rect">
            <a:avLst/>
          </a:prstGeom>
          <a:noFill/>
          <a:ln/>
        </p:spPr>
        <p:txBody>
          <a:bodyPr wrap="square" lIns="0" tIns="0" rIns="0" bIns="0" rtlCol="0" anchor="ctr"/>
          <a:lstStyle/>
          <a:p>
            <a:pPr algn="ctr" indent="0" marL="0">
              <a:buNone/>
            </a:pPr>
            <a:r>
              <a:rPr lang="en-US" sz="1300" b="1" dirty="0">
                <a:solidFill>
                  <a:schemeClr val="bg1"/>
                </a:solidFill>
              </a:rPr>
              <a:t>Sliding 1-hour windows</a:t>
            </a:r>
            <a:endParaRPr lang="en-US" sz="1300" dirty="0"/>
          </a:p>
        </p:txBody>
      </p:sp>
      <p:sp>
        <p:nvSpPr>
          <p:cNvPr id="39" name="arrow-118"/>
          <p:cNvSpPr/>
          <p:nvPr/>
        </p:nvSpPr>
        <p:spPr>
          <a:xfrm>
            <a:off x="10248856" y="3726180"/>
            <a:ext cx="168903" cy="91"/>
          </a:xfrm>
          <a:prstGeom prst="line">
            <a:avLst/>
          </a:prstGeom>
          <a:noFill/>
          <a:ln w="22225">
            <a:solidFill>
              <a:schemeClr val="accent3"/>
            </a:solidFill>
            <a:prstDash val="solid"/>
            <a:tailEnd type="triangle"/>
          </a:ln>
        </p:spPr>
      </p:sp>
      <p:sp>
        <p:nvSpPr>
          <p:cNvPr id="40" name="pipe-119"/>
          <p:cNvSpPr/>
          <p:nvPr/>
        </p:nvSpPr>
        <p:spPr>
          <a:xfrm>
            <a:off x="10436047" y="3246120"/>
            <a:ext cx="1207008" cy="960120"/>
          </a:xfrm>
          <a:prstGeom prst="roundRect">
            <a:avLst>
              <a:gd name="adj" fmla="val 7619"/>
            </a:avLst>
          </a:prstGeom>
          <a:solidFill>
            <a:schemeClr val="accent2"/>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41" name="text-120"/>
          <p:cNvSpPr txBox="1"/>
          <p:nvPr/>
        </p:nvSpPr>
        <p:spPr>
          <a:xfrm>
            <a:off x="10490911" y="3246120"/>
            <a:ext cx="1097280" cy="960120"/>
          </a:xfrm>
          <a:prstGeom prst="rect">
            <a:avLst/>
          </a:prstGeom>
          <a:noFill/>
          <a:ln/>
        </p:spPr>
        <p:txBody>
          <a:bodyPr wrap="square" lIns="0" tIns="0" rIns="0" bIns="0" rtlCol="0" anchor="ctr"/>
          <a:lstStyle/>
          <a:p>
            <a:pPr algn="ctr" indent="0" marL="0">
              <a:buNone/>
            </a:pPr>
            <a:r>
              <a:rPr lang="en-US" sz="1300" b="1" dirty="0">
                <a:solidFill>
                  <a:schemeClr val="bg1"/>
                </a:solidFill>
              </a:rPr>
              <a:t>Train / Val / Test</a:t>
            </a:r>
            <a:endParaRPr lang="en-US" sz="1300" dirty="0"/>
          </a:p>
        </p:txBody>
      </p:sp>
      <p:sp>
        <p:nvSpPr>
          <p:cNvPr id="42" name="text-121"/>
          <p:cNvSpPr txBox="1"/>
          <p:nvPr/>
        </p:nvSpPr>
        <p:spPr>
          <a:xfrm>
            <a:off x="548640" y="4572000"/>
            <a:ext cx="8229600" cy="320040"/>
          </a:xfrm>
          <a:prstGeom prst="rect">
            <a:avLst/>
          </a:prstGeom>
          <a:noFill/>
          <a:ln/>
        </p:spPr>
        <p:txBody>
          <a:bodyPr wrap="square" lIns="0" tIns="0" rIns="0" bIns="0" rtlCol="0" anchor="t"/>
          <a:lstStyle/>
          <a:p>
            <a:pPr indent="0" marL="0">
              <a:buNone/>
            </a:pPr>
            <a:r>
              <a:rPr lang="en-US" sz="1500" b="1" dirty="0">
                <a:solidFill>
                  <a:schemeClr val="tx2"/>
                </a:solidFill>
              </a:rPr>
              <a:t>Chronological split: never shuffled, so the model is always tested on the future</a:t>
            </a:r>
            <a:endParaRPr lang="en-US" sz="1500" dirty="0"/>
          </a:p>
        </p:txBody>
      </p:sp>
      <p:sp>
        <p:nvSpPr>
          <p:cNvPr id="43" name="split-122"/>
          <p:cNvSpPr/>
          <p:nvPr/>
        </p:nvSpPr>
        <p:spPr>
          <a:xfrm>
            <a:off x="548640" y="4983480"/>
            <a:ext cx="6620073" cy="566928"/>
          </a:xfrm>
          <a:prstGeom prst="rect">
            <a:avLst/>
          </a:prstGeom>
          <a:solidFill>
            <a:schemeClr val="accent1"/>
          </a:solidFill>
          <a:ln w="12700">
            <a:solidFill>
              <a:schemeClr val="accent1"/>
            </a:solidFill>
            <a:prstDash val="solid"/>
          </a:ln>
        </p:spPr>
      </p:sp>
      <p:sp>
        <p:nvSpPr>
          <p:cNvPr id="44" name="text-123"/>
          <p:cNvSpPr txBox="1"/>
          <p:nvPr/>
        </p:nvSpPr>
        <p:spPr>
          <a:xfrm>
            <a:off x="685800" y="4983480"/>
            <a:ext cx="6382329" cy="566928"/>
          </a:xfrm>
          <a:prstGeom prst="rect">
            <a:avLst/>
          </a:prstGeom>
          <a:noFill/>
          <a:ln/>
        </p:spPr>
        <p:txBody>
          <a:bodyPr wrap="square" lIns="0" tIns="0" rIns="0" bIns="0" rtlCol="0" anchor="ctr"/>
          <a:lstStyle/>
          <a:p>
            <a:pPr indent="0" marL="0">
              <a:buNone/>
            </a:pPr>
            <a:r>
              <a:rPr lang="en-US" sz="1400" b="1" dirty="0">
                <a:solidFill>
                  <a:schemeClr val="bg1"/>
                </a:solidFill>
              </a:rPr>
              <a:t>Train 60%  ·  24,448 windows</a:t>
            </a:r>
            <a:endParaRPr lang="en-US" sz="1400" dirty="0"/>
          </a:p>
        </p:txBody>
      </p:sp>
      <p:sp>
        <p:nvSpPr>
          <p:cNvPr id="45" name="split-124"/>
          <p:cNvSpPr/>
          <p:nvPr/>
        </p:nvSpPr>
        <p:spPr>
          <a:xfrm>
            <a:off x="7205289" y="4983480"/>
            <a:ext cx="2182307" cy="566928"/>
          </a:xfrm>
          <a:prstGeom prst="rect">
            <a:avLst/>
          </a:prstGeom>
          <a:solidFill>
            <a:schemeClr val="accent4"/>
          </a:solidFill>
          <a:ln w="12700">
            <a:solidFill>
              <a:schemeClr val="accent4"/>
            </a:solidFill>
            <a:prstDash val="solid"/>
          </a:ln>
        </p:spPr>
      </p:sp>
      <p:sp>
        <p:nvSpPr>
          <p:cNvPr id="46" name="text-125"/>
          <p:cNvSpPr txBox="1"/>
          <p:nvPr/>
        </p:nvSpPr>
        <p:spPr>
          <a:xfrm>
            <a:off x="7342449" y="4983480"/>
            <a:ext cx="1944563" cy="566928"/>
          </a:xfrm>
          <a:prstGeom prst="rect">
            <a:avLst/>
          </a:prstGeom>
          <a:noFill/>
          <a:ln/>
        </p:spPr>
        <p:txBody>
          <a:bodyPr wrap="square" lIns="0" tIns="0" rIns="0" bIns="0" rtlCol="0" anchor="ctr"/>
          <a:lstStyle/>
          <a:p>
            <a:pPr indent="0" marL="0">
              <a:buNone/>
            </a:pPr>
            <a:r>
              <a:rPr lang="en-US" sz="1400" b="1" dirty="0">
                <a:solidFill>
                  <a:schemeClr val="tx2"/>
                </a:solidFill>
              </a:rPr>
              <a:t>Validation 20%  ·  8,149</a:t>
            </a:r>
            <a:endParaRPr lang="en-US" sz="1400" dirty="0"/>
          </a:p>
        </p:txBody>
      </p:sp>
      <p:sp>
        <p:nvSpPr>
          <p:cNvPr id="47" name="split-126"/>
          <p:cNvSpPr/>
          <p:nvPr/>
        </p:nvSpPr>
        <p:spPr>
          <a:xfrm>
            <a:off x="9424172" y="4983480"/>
            <a:ext cx="2182307" cy="566928"/>
          </a:xfrm>
          <a:prstGeom prst="rect">
            <a:avLst/>
          </a:prstGeom>
          <a:solidFill>
            <a:schemeClr val="accent2"/>
          </a:solidFill>
          <a:ln w="12700">
            <a:solidFill>
              <a:schemeClr val="accent2"/>
            </a:solidFill>
            <a:prstDash val="solid"/>
          </a:ln>
        </p:spPr>
      </p:sp>
      <p:sp>
        <p:nvSpPr>
          <p:cNvPr id="48" name="text-127"/>
          <p:cNvSpPr txBox="1"/>
          <p:nvPr/>
        </p:nvSpPr>
        <p:spPr>
          <a:xfrm>
            <a:off x="9561332" y="4983480"/>
            <a:ext cx="1944563" cy="566928"/>
          </a:xfrm>
          <a:prstGeom prst="rect">
            <a:avLst/>
          </a:prstGeom>
          <a:noFill/>
          <a:ln/>
        </p:spPr>
        <p:txBody>
          <a:bodyPr wrap="square" lIns="0" tIns="0" rIns="0" bIns="0" rtlCol="0" anchor="ctr"/>
          <a:lstStyle/>
          <a:p>
            <a:pPr indent="0" marL="0">
              <a:buNone/>
            </a:pPr>
            <a:r>
              <a:rPr lang="en-US" sz="1400" b="1" dirty="0">
                <a:solidFill>
                  <a:schemeClr val="bg1"/>
                </a:solidFill>
              </a:rPr>
              <a:t>Test 20%  ·  8,150</a:t>
            </a:r>
            <a:endParaRPr lang="en-US" sz="1400" dirty="0"/>
          </a:p>
        </p:txBody>
      </p:sp>
      <p:sp>
        <p:nvSpPr>
          <p:cNvPr id="49" name="arrow-128"/>
          <p:cNvSpPr/>
          <p:nvPr/>
        </p:nvSpPr>
        <p:spPr>
          <a:xfrm>
            <a:off x="548640" y="5806440"/>
            <a:ext cx="2011680" cy="91"/>
          </a:xfrm>
          <a:prstGeom prst="line">
            <a:avLst/>
          </a:prstGeom>
          <a:noFill/>
          <a:ln w="19050">
            <a:solidFill>
              <a:schemeClr val="accent3"/>
            </a:solidFill>
            <a:prstDash val="solid"/>
            <a:tailEnd type="triangle"/>
          </a:ln>
        </p:spPr>
      </p:sp>
      <p:sp>
        <p:nvSpPr>
          <p:cNvPr id="50" name="text-129"/>
          <p:cNvSpPr txBox="1"/>
          <p:nvPr/>
        </p:nvSpPr>
        <p:spPr>
          <a:xfrm>
            <a:off x="2697480" y="5669280"/>
            <a:ext cx="4572000" cy="274320"/>
          </a:xfrm>
          <a:prstGeom prst="rect">
            <a:avLst/>
          </a:prstGeom>
          <a:noFill/>
          <a:ln/>
        </p:spPr>
        <p:txBody>
          <a:bodyPr wrap="square" lIns="0" tIns="0" rIns="0" bIns="0" rtlCol="0" anchor="ctr"/>
          <a:lstStyle/>
          <a:p>
            <a:pPr indent="0" marL="0">
              <a:buNone/>
            </a:pPr>
            <a:r>
              <a:rPr lang="en-US" sz="1200" dirty="0">
                <a:solidFill>
                  <a:schemeClr val="accent3"/>
                </a:solidFill>
              </a:rPr>
              <a:t>time: March → September 2004</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Data Cleaning: What Was Found and Fixed</a:t>
            </a:r>
            <a:endParaRPr lang="en-US" sz="3200" dirty="0"/>
          </a:p>
        </p:txBody>
      </p:sp>
      <p:sp>
        <p:nvSpPr>
          <p:cNvPr id="3" name="text-130"/>
          <p:cNvSpPr txBox="1"/>
          <p:nvPr/>
        </p:nvSpPr>
        <p:spPr>
          <a:xfrm>
            <a:off x="548640" y="1188720"/>
            <a:ext cx="5120640" cy="365760"/>
          </a:xfrm>
          <a:prstGeom prst="rect">
            <a:avLst/>
          </a:prstGeom>
          <a:noFill/>
          <a:ln/>
        </p:spPr>
        <p:txBody>
          <a:bodyPr wrap="square" lIns="0" tIns="0" rIns="0" bIns="0" rtlCol="0" anchor="t"/>
          <a:lstStyle/>
          <a:p>
            <a:pPr indent="0" marL="0">
              <a:buNone/>
            </a:pPr>
            <a:r>
              <a:rPr lang="en-US" sz="1700" b="1" dirty="0">
                <a:solidFill>
                  <a:schemeClr val="tx2"/>
                </a:solidFill>
              </a:rPr>
              <a:t>Problems found in the raw data</a:t>
            </a:r>
            <a:endParaRPr lang="en-US" sz="1700" dirty="0"/>
          </a:p>
        </p:txBody>
      </p:sp>
      <p:sp>
        <p:nvSpPr>
          <p:cNvPr id="4" name="icon-bg-131"/>
          <p:cNvSpPr/>
          <p:nvPr/>
        </p:nvSpPr>
        <p:spPr>
          <a:xfrm>
            <a:off x="548640" y="1682496"/>
            <a:ext cx="420624" cy="420624"/>
          </a:xfrm>
          <a:prstGeom prst="ellipse">
            <a:avLst/>
          </a:prstGeom>
          <a:solidFill>
            <a:schemeClr val="accent3"/>
          </a:solidFill>
          <a:ln w="12700">
            <a:solidFill>
              <a:schemeClr val="accent3"/>
            </a:solidFill>
            <a:prstDash val="solid"/>
          </a:ln>
        </p:spPr>
      </p:sp>
      <p:pic>
        <p:nvPicPr>
          <p:cNvPr id="5" name="icon-132" descr="preencoded.png">    </p:cNvPr>
          <p:cNvPicPr>
            <a:picLocks noChangeAspect="1"/>
          </p:cNvPicPr>
          <p:nvPr/>
        </p:nvPicPr>
        <p:blipFill>
          <a:blip r:embed="rId1"/>
          <a:stretch>
            <a:fillRect/>
          </a:stretch>
        </p:blipFill>
        <p:spPr>
          <a:xfrm>
            <a:off x="649590" y="1783446"/>
            <a:ext cx="218724" cy="218724"/>
          </a:xfrm>
          <a:prstGeom prst="rect">
            <a:avLst/>
          </a:prstGeom>
        </p:spPr>
      </p:pic>
      <p:sp>
        <p:nvSpPr>
          <p:cNvPr id="6" name="text-133"/>
          <p:cNvSpPr txBox="1"/>
          <p:nvPr/>
        </p:nvSpPr>
        <p:spPr>
          <a:xfrm>
            <a:off x="1143000" y="1645920"/>
            <a:ext cx="4572000" cy="274320"/>
          </a:xfrm>
          <a:prstGeom prst="rect">
            <a:avLst/>
          </a:prstGeom>
          <a:noFill/>
          <a:ln/>
        </p:spPr>
        <p:txBody>
          <a:bodyPr wrap="square" lIns="0" tIns="0" rIns="0" bIns="0" rtlCol="0" anchor="t"/>
          <a:lstStyle/>
          <a:p>
            <a:pPr indent="0" marL="0">
              <a:buNone/>
            </a:pPr>
            <a:r>
              <a:rPr lang="en-US" sz="1500" b="1" dirty="0">
                <a:solidFill>
                  <a:schemeClr val="tx2"/>
                </a:solidFill>
              </a:rPr>
              <a:t>Discontinuous weeks</a:t>
            </a:r>
            <a:endParaRPr lang="en-US" sz="1500" dirty="0"/>
          </a:p>
        </p:txBody>
      </p:sp>
      <p:sp>
        <p:nvSpPr>
          <p:cNvPr id="7" name="text-134"/>
          <p:cNvSpPr txBox="1"/>
          <p:nvPr/>
        </p:nvSpPr>
        <p:spPr>
          <a:xfrm>
            <a:off x="1143000" y="1920240"/>
            <a:ext cx="4572000" cy="274320"/>
          </a:xfrm>
          <a:prstGeom prst="rect">
            <a:avLst/>
          </a:prstGeom>
          <a:noFill/>
          <a:ln/>
        </p:spPr>
        <p:txBody>
          <a:bodyPr wrap="square" lIns="0" tIns="0" rIns="0" bIns="0" rtlCol="0" anchor="t"/>
          <a:lstStyle/>
          <a:p>
            <a:pPr indent="0" marL="0">
              <a:buNone/>
            </a:pPr>
            <a:r>
              <a:rPr lang="en-US" sz="1300" dirty="0">
                <a:solidFill>
                  <a:schemeClr val="tx1"/>
                </a:solidFill>
              </a:rPr>
              <a:t>README dates have gaps (e.g. 8 March → 2 April)</a:t>
            </a:r>
            <a:endParaRPr lang="en-US" sz="1300" dirty="0"/>
          </a:p>
        </p:txBody>
      </p:sp>
      <p:sp>
        <p:nvSpPr>
          <p:cNvPr id="8" name="icon-bg-135"/>
          <p:cNvSpPr/>
          <p:nvPr/>
        </p:nvSpPr>
        <p:spPr>
          <a:xfrm>
            <a:off x="548640" y="2286000"/>
            <a:ext cx="420624" cy="420624"/>
          </a:xfrm>
          <a:prstGeom prst="ellipse">
            <a:avLst/>
          </a:prstGeom>
          <a:solidFill>
            <a:schemeClr val="accent3"/>
          </a:solidFill>
          <a:ln w="12700">
            <a:solidFill>
              <a:schemeClr val="accent3"/>
            </a:solidFill>
            <a:prstDash val="solid"/>
          </a:ln>
        </p:spPr>
      </p:sp>
      <p:pic>
        <p:nvPicPr>
          <p:cNvPr id="9" name="icon-136" descr="preencoded.png">    </p:cNvPr>
          <p:cNvPicPr>
            <a:picLocks noChangeAspect="1"/>
          </p:cNvPicPr>
          <p:nvPr/>
        </p:nvPicPr>
        <p:blipFill>
          <a:blip r:embed="rId2"/>
          <a:stretch>
            <a:fillRect/>
          </a:stretch>
        </p:blipFill>
        <p:spPr>
          <a:xfrm>
            <a:off x="649590" y="2386950"/>
            <a:ext cx="218724" cy="218724"/>
          </a:xfrm>
          <a:prstGeom prst="rect">
            <a:avLst/>
          </a:prstGeom>
        </p:spPr>
      </p:pic>
      <p:sp>
        <p:nvSpPr>
          <p:cNvPr id="10" name="text-137"/>
          <p:cNvSpPr txBox="1"/>
          <p:nvPr/>
        </p:nvSpPr>
        <p:spPr>
          <a:xfrm>
            <a:off x="1143000" y="2249424"/>
            <a:ext cx="4572000" cy="274320"/>
          </a:xfrm>
          <a:prstGeom prst="rect">
            <a:avLst/>
          </a:prstGeom>
          <a:noFill/>
          <a:ln/>
        </p:spPr>
        <p:txBody>
          <a:bodyPr wrap="square" lIns="0" tIns="0" rIns="0" bIns="0" rtlCol="0" anchor="t"/>
          <a:lstStyle/>
          <a:p>
            <a:pPr indent="0" marL="0">
              <a:buNone/>
            </a:pPr>
            <a:r>
              <a:rPr lang="en-US" sz="1500" b="1" dirty="0">
                <a:solidFill>
                  <a:schemeClr val="tx2"/>
                </a:solidFill>
              </a:rPr>
              <a:t>Duplicated days</a:t>
            </a:r>
            <a:endParaRPr lang="en-US" sz="1500" dirty="0"/>
          </a:p>
        </p:txBody>
      </p:sp>
      <p:sp>
        <p:nvSpPr>
          <p:cNvPr id="11" name="text-138"/>
          <p:cNvSpPr txBox="1"/>
          <p:nvPr/>
        </p:nvSpPr>
        <p:spPr>
          <a:xfrm>
            <a:off x="1143000" y="2523744"/>
            <a:ext cx="4572000" cy="274320"/>
          </a:xfrm>
          <a:prstGeom prst="rect">
            <a:avLst/>
          </a:prstGeom>
          <a:noFill/>
          <a:ln/>
        </p:spPr>
        <p:txBody>
          <a:bodyPr wrap="square" lIns="0" tIns="0" rIns="0" bIns="0" rtlCol="0" anchor="t"/>
          <a:lstStyle/>
          <a:p>
            <a:pPr indent="0" marL="0">
              <a:buNone/>
            </a:pPr>
            <a:r>
              <a:rPr lang="en-US" sz="1300" dirty="0">
                <a:solidFill>
                  <a:schemeClr val="tx1"/>
                </a:solidFill>
              </a:rPr>
              <a:t>4 weeks start with an exact copy of the previous day</a:t>
            </a:r>
            <a:endParaRPr lang="en-US" sz="1300" dirty="0"/>
          </a:p>
        </p:txBody>
      </p:sp>
      <p:sp>
        <p:nvSpPr>
          <p:cNvPr id="12" name="icon-bg-139"/>
          <p:cNvSpPr/>
          <p:nvPr/>
        </p:nvSpPr>
        <p:spPr>
          <a:xfrm>
            <a:off x="548640" y="2889504"/>
            <a:ext cx="420624" cy="420624"/>
          </a:xfrm>
          <a:prstGeom prst="ellipse">
            <a:avLst/>
          </a:prstGeom>
          <a:solidFill>
            <a:schemeClr val="accent3"/>
          </a:solidFill>
          <a:ln w="12700">
            <a:solidFill>
              <a:schemeClr val="accent3"/>
            </a:solidFill>
            <a:prstDash val="solid"/>
          </a:ln>
        </p:spPr>
      </p:sp>
      <p:pic>
        <p:nvPicPr>
          <p:cNvPr id="13" name="icon-140" descr="preencoded.png">    </p:cNvPr>
          <p:cNvPicPr>
            <a:picLocks noChangeAspect="1"/>
          </p:cNvPicPr>
          <p:nvPr/>
        </p:nvPicPr>
        <p:blipFill>
          <a:blip r:embed="rId3"/>
          <a:stretch>
            <a:fillRect/>
          </a:stretch>
        </p:blipFill>
        <p:spPr>
          <a:xfrm>
            <a:off x="649590" y="2990454"/>
            <a:ext cx="218724" cy="218724"/>
          </a:xfrm>
          <a:prstGeom prst="rect">
            <a:avLst/>
          </a:prstGeom>
        </p:spPr>
      </p:pic>
      <p:sp>
        <p:nvSpPr>
          <p:cNvPr id="14" name="text-141"/>
          <p:cNvSpPr txBox="1"/>
          <p:nvPr/>
        </p:nvSpPr>
        <p:spPr>
          <a:xfrm>
            <a:off x="1143000" y="2852928"/>
            <a:ext cx="4572000" cy="274320"/>
          </a:xfrm>
          <a:prstGeom prst="rect">
            <a:avLst/>
          </a:prstGeom>
          <a:noFill/>
          <a:ln/>
        </p:spPr>
        <p:txBody>
          <a:bodyPr wrap="square" lIns="0" tIns="0" rIns="0" bIns="0" rtlCol="0" anchor="t"/>
          <a:lstStyle/>
          <a:p>
            <a:pPr indent="0" marL="0">
              <a:buNone/>
            </a:pPr>
            <a:r>
              <a:rPr lang="en-US" sz="1500" b="1" dirty="0">
                <a:solidFill>
                  <a:schemeClr val="tx2"/>
                </a:solidFill>
              </a:rPr>
              <a:t>Long flow outage</a:t>
            </a:r>
            <a:endParaRPr lang="en-US" sz="1500" dirty="0"/>
          </a:p>
        </p:txBody>
      </p:sp>
      <p:sp>
        <p:nvSpPr>
          <p:cNvPr id="15" name="text-142"/>
          <p:cNvSpPr txBox="1"/>
          <p:nvPr/>
        </p:nvSpPr>
        <p:spPr>
          <a:xfrm>
            <a:off x="1143000" y="3127248"/>
            <a:ext cx="4572000" cy="274320"/>
          </a:xfrm>
          <a:prstGeom prst="rect">
            <a:avLst/>
          </a:prstGeom>
          <a:noFill/>
          <a:ln/>
        </p:spPr>
        <p:txBody>
          <a:bodyPr wrap="square" lIns="0" tIns="0" rIns="0" bIns="0" rtlCol="0" anchor="t"/>
          <a:lstStyle/>
          <a:p>
            <a:pPr indent="0" marL="0">
              <a:buNone/>
            </a:pPr>
            <a:r>
              <a:rPr lang="en-US" sz="1300" dirty="0">
                <a:solidFill>
                  <a:schemeClr val="tx1"/>
                </a:solidFill>
              </a:rPr>
              <a:t>All traffic into ATLA-M5 reads zero for 22 days</a:t>
            </a:r>
            <a:endParaRPr lang="en-US" sz="1300" dirty="0"/>
          </a:p>
        </p:txBody>
      </p:sp>
      <p:sp>
        <p:nvSpPr>
          <p:cNvPr id="16" name="icon-bg-143"/>
          <p:cNvSpPr/>
          <p:nvPr/>
        </p:nvSpPr>
        <p:spPr>
          <a:xfrm>
            <a:off x="548640" y="3493008"/>
            <a:ext cx="420624" cy="420624"/>
          </a:xfrm>
          <a:prstGeom prst="ellipse">
            <a:avLst/>
          </a:prstGeom>
          <a:solidFill>
            <a:schemeClr val="accent3"/>
          </a:solidFill>
          <a:ln w="12700">
            <a:solidFill>
              <a:schemeClr val="accent3"/>
            </a:solidFill>
            <a:prstDash val="solid"/>
          </a:ln>
        </p:spPr>
      </p:sp>
      <p:pic>
        <p:nvPicPr>
          <p:cNvPr id="17" name="icon-144" descr="preencoded.png">    </p:cNvPr>
          <p:cNvPicPr>
            <a:picLocks noChangeAspect="1"/>
          </p:cNvPicPr>
          <p:nvPr/>
        </p:nvPicPr>
        <p:blipFill>
          <a:blip r:embed="rId4"/>
          <a:stretch>
            <a:fillRect/>
          </a:stretch>
        </p:blipFill>
        <p:spPr>
          <a:xfrm>
            <a:off x="649590" y="3593958"/>
            <a:ext cx="218724" cy="218724"/>
          </a:xfrm>
          <a:prstGeom prst="rect">
            <a:avLst/>
          </a:prstGeom>
        </p:spPr>
      </p:pic>
      <p:sp>
        <p:nvSpPr>
          <p:cNvPr id="18" name="text-145"/>
          <p:cNvSpPr txBox="1"/>
          <p:nvPr/>
        </p:nvSpPr>
        <p:spPr>
          <a:xfrm>
            <a:off x="1143000" y="3456432"/>
            <a:ext cx="4572000" cy="274320"/>
          </a:xfrm>
          <a:prstGeom prst="rect">
            <a:avLst/>
          </a:prstGeom>
          <a:noFill/>
          <a:ln/>
        </p:spPr>
        <p:txBody>
          <a:bodyPr wrap="square" lIns="0" tIns="0" rIns="0" bIns="0" rtlCol="0" anchor="t"/>
          <a:lstStyle/>
          <a:p>
            <a:pPr indent="0" marL="0">
              <a:buNone/>
            </a:pPr>
            <a:r>
              <a:rPr lang="en-US" sz="1500" b="1" dirty="0">
                <a:solidFill>
                  <a:schemeClr val="tx2"/>
                </a:solidFill>
              </a:rPr>
              <a:t>Router outages</a:t>
            </a:r>
            <a:endParaRPr lang="en-US" sz="1500" dirty="0"/>
          </a:p>
        </p:txBody>
      </p:sp>
      <p:sp>
        <p:nvSpPr>
          <p:cNvPr id="19" name="text-146"/>
          <p:cNvSpPr txBox="1"/>
          <p:nvPr/>
        </p:nvSpPr>
        <p:spPr>
          <a:xfrm>
            <a:off x="1143000" y="3730752"/>
            <a:ext cx="4572000" cy="274320"/>
          </a:xfrm>
          <a:prstGeom prst="rect">
            <a:avLst/>
          </a:prstGeom>
          <a:noFill/>
          <a:ln/>
        </p:spPr>
        <p:txBody>
          <a:bodyPr wrap="square" lIns="0" tIns="0" rIns="0" bIns="0" rtlCol="0" anchor="t"/>
          <a:lstStyle/>
          <a:p>
            <a:pPr indent="0" marL="0">
              <a:buNone/>
            </a:pPr>
            <a:r>
              <a:rPr lang="en-US" sz="1300" dirty="0">
                <a:solidFill>
                  <a:schemeClr val="tx1"/>
                </a:solidFill>
              </a:rPr>
              <a:t>KSCY (1.5 h) and LOSA (~2 h) report nothing</a:t>
            </a:r>
            <a:endParaRPr lang="en-US" sz="1300" dirty="0"/>
          </a:p>
        </p:txBody>
      </p:sp>
      <p:sp>
        <p:nvSpPr>
          <p:cNvPr id="20" name="icon-bg-147"/>
          <p:cNvSpPr/>
          <p:nvPr/>
        </p:nvSpPr>
        <p:spPr>
          <a:xfrm>
            <a:off x="548640" y="4096512"/>
            <a:ext cx="420624" cy="420624"/>
          </a:xfrm>
          <a:prstGeom prst="ellipse">
            <a:avLst/>
          </a:prstGeom>
          <a:solidFill>
            <a:schemeClr val="accent5"/>
          </a:solidFill>
          <a:ln w="12700">
            <a:solidFill>
              <a:schemeClr val="accent5"/>
            </a:solidFill>
            <a:prstDash val="solid"/>
          </a:ln>
        </p:spPr>
      </p:sp>
      <p:pic>
        <p:nvPicPr>
          <p:cNvPr id="21" name="icon-148" descr="preencoded.png">    </p:cNvPr>
          <p:cNvPicPr>
            <a:picLocks noChangeAspect="1"/>
          </p:cNvPicPr>
          <p:nvPr/>
        </p:nvPicPr>
        <p:blipFill>
          <a:blip r:embed="rId5"/>
          <a:stretch>
            <a:fillRect/>
          </a:stretch>
        </p:blipFill>
        <p:spPr>
          <a:xfrm>
            <a:off x="649590" y="4197462"/>
            <a:ext cx="218724" cy="218724"/>
          </a:xfrm>
          <a:prstGeom prst="rect">
            <a:avLst/>
          </a:prstGeom>
        </p:spPr>
      </p:pic>
      <p:sp>
        <p:nvSpPr>
          <p:cNvPr id="22" name="text-149"/>
          <p:cNvSpPr txBox="1"/>
          <p:nvPr/>
        </p:nvSpPr>
        <p:spPr>
          <a:xfrm>
            <a:off x="1143000" y="4059936"/>
            <a:ext cx="4572000" cy="274320"/>
          </a:xfrm>
          <a:prstGeom prst="rect">
            <a:avLst/>
          </a:prstGeom>
          <a:noFill/>
          <a:ln/>
        </p:spPr>
        <p:txBody>
          <a:bodyPr wrap="square" lIns="0" tIns="0" rIns="0" bIns="0" rtlCol="0" anchor="t"/>
          <a:lstStyle/>
          <a:p>
            <a:pPr indent="0" marL="0">
              <a:buNone/>
            </a:pPr>
            <a:r>
              <a:rPr lang="en-US" sz="1500" b="1" dirty="0">
                <a:solidFill>
                  <a:schemeClr val="tx2"/>
                </a:solidFill>
              </a:rPr>
              <a:t>Impossible value</a:t>
            </a:r>
            <a:endParaRPr lang="en-US" sz="1500" dirty="0"/>
          </a:p>
        </p:txBody>
      </p:sp>
      <p:sp>
        <p:nvSpPr>
          <p:cNvPr id="23" name="text-150"/>
          <p:cNvSpPr txBox="1"/>
          <p:nvPr/>
        </p:nvSpPr>
        <p:spPr>
          <a:xfrm>
            <a:off x="1143000" y="4334256"/>
            <a:ext cx="4572000" cy="274320"/>
          </a:xfrm>
          <a:prstGeom prst="rect">
            <a:avLst/>
          </a:prstGeom>
          <a:noFill/>
          <a:ln/>
        </p:spPr>
        <p:txBody>
          <a:bodyPr wrap="square" lIns="0" tIns="0" rIns="0" bIns="0" rtlCol="0" anchor="t"/>
          <a:lstStyle/>
          <a:p>
            <a:pPr indent="0" marL="0">
              <a:buNone/>
            </a:pPr>
            <a:r>
              <a:rPr lang="en-US" sz="1300" dirty="0">
                <a:solidFill>
                  <a:schemeClr val="tx1"/>
                </a:solidFill>
              </a:rPr>
              <a:t>~142 Tbit/s on a network whose fastest link is 9.92 Gbit/s</a:t>
            </a:r>
            <a:endParaRPr lang="en-US" sz="1300" dirty="0"/>
          </a:p>
        </p:txBody>
      </p:sp>
      <p:sp>
        <p:nvSpPr>
          <p:cNvPr id="24" name="icon-bg-151"/>
          <p:cNvSpPr/>
          <p:nvPr/>
        </p:nvSpPr>
        <p:spPr>
          <a:xfrm>
            <a:off x="548640" y="4700016"/>
            <a:ext cx="420624" cy="420624"/>
          </a:xfrm>
          <a:prstGeom prst="ellipse">
            <a:avLst/>
          </a:prstGeom>
          <a:solidFill>
            <a:schemeClr val="accent6"/>
          </a:solidFill>
          <a:ln w="12700">
            <a:solidFill>
              <a:schemeClr val="accent6"/>
            </a:solidFill>
            <a:prstDash val="solid"/>
          </a:ln>
        </p:spPr>
      </p:sp>
      <p:pic>
        <p:nvPicPr>
          <p:cNvPr id="25" name="icon-152" descr="preencoded.png">    </p:cNvPr>
          <p:cNvPicPr>
            <a:picLocks noChangeAspect="1"/>
          </p:cNvPicPr>
          <p:nvPr/>
        </p:nvPicPr>
        <p:blipFill>
          <a:blip r:embed="rId6"/>
          <a:stretch>
            <a:fillRect/>
          </a:stretch>
        </p:blipFill>
        <p:spPr>
          <a:xfrm>
            <a:off x="649590" y="4800966"/>
            <a:ext cx="218724" cy="218724"/>
          </a:xfrm>
          <a:prstGeom prst="rect">
            <a:avLst/>
          </a:prstGeom>
        </p:spPr>
      </p:pic>
      <p:sp>
        <p:nvSpPr>
          <p:cNvPr id="26" name="text-153"/>
          <p:cNvSpPr txBox="1"/>
          <p:nvPr/>
        </p:nvSpPr>
        <p:spPr>
          <a:xfrm>
            <a:off x="1143000" y="4663440"/>
            <a:ext cx="4572000" cy="274320"/>
          </a:xfrm>
          <a:prstGeom prst="rect">
            <a:avLst/>
          </a:prstGeom>
          <a:noFill/>
          <a:ln/>
        </p:spPr>
        <p:txBody>
          <a:bodyPr wrap="square" lIns="0" tIns="0" rIns="0" bIns="0" rtlCol="0" anchor="t"/>
          <a:lstStyle/>
          <a:p>
            <a:pPr indent="0" marL="0">
              <a:buNone/>
            </a:pPr>
            <a:r>
              <a:rPr lang="en-US" sz="1500" b="1" dirty="0">
                <a:solidFill>
                  <a:schemeClr val="tx2"/>
                </a:solidFill>
              </a:rPr>
              <a:t>Normal zeros in small flows</a:t>
            </a:r>
            <a:endParaRPr lang="en-US" sz="1500" dirty="0"/>
          </a:p>
        </p:txBody>
      </p:sp>
      <p:sp>
        <p:nvSpPr>
          <p:cNvPr id="27" name="text-154"/>
          <p:cNvSpPr txBox="1"/>
          <p:nvPr/>
        </p:nvSpPr>
        <p:spPr>
          <a:xfrm>
            <a:off x="1143000" y="4937760"/>
            <a:ext cx="4572000" cy="274320"/>
          </a:xfrm>
          <a:prstGeom prst="rect">
            <a:avLst/>
          </a:prstGeom>
          <a:noFill/>
          <a:ln/>
        </p:spPr>
        <p:txBody>
          <a:bodyPr wrap="square" lIns="0" tIns="0" rIns="0" bIns="0" rtlCol="0" anchor="t"/>
          <a:lstStyle/>
          <a:p>
            <a:pPr indent="0" marL="0">
              <a:buNone/>
            </a:pPr>
            <a:r>
              <a:rPr lang="en-US" sz="1300" dirty="0">
                <a:solidFill>
                  <a:schemeClr val="tx1"/>
                </a:solidFill>
              </a:rPr>
              <a:t>Kept: real readings under 1-in-100 packet sampling</a:t>
            </a:r>
            <a:endParaRPr lang="en-US" sz="1300" dirty="0"/>
          </a:p>
        </p:txBody>
      </p:sp>
      <p:graphicFrame>
        <p:nvGraphicFramePr>
          <p:cNvPr id="5" name="rules-155"/>
          <p:cNvGraphicFramePr>
            <a:graphicFrameLocks noGrp="1"/>
          </p:cNvGraphicFramePr>
          <p:nvPr>
            <p:extLst>
              <p:ext uri="{D42A27DB-BD31-4B8C-83A1-F6EECF244321}">
                <p14:modId xmlns:p14="http://schemas.microsoft.com/office/powerpoint/2010/main" val="1579011935"/>
              </p:ext>
            </p:extLst>
          </p:nvPr>
        </p:nvGraphicFramePr>
        <p:xfrm>
          <a:off x="6172200" y="1234440"/>
          <a:ext cx="5470855" cy="914400"/>
        </p:xfrm>
        <a:graphic>
          <a:graphicData uri="http://schemas.openxmlformats.org/drawingml/2006/table">
            <a:tbl>
              <a:tblPr/>
              <a:tblGrid>
                <a:gridCol w="1691640"/>
                <a:gridCol w="2514600"/>
                <a:gridCol w="1261872"/>
              </a:tblGrid>
              <a:tr h="384048">
                <a:tc>
                  <a:txBody>
                    <a:bodyPr/>
                    <a:lstStyle/>
                    <a:p>
                      <a:pPr indent="0" marL="0">
                        <a:buNone/>
                      </a:pPr>
                      <a:r>
                        <a:rPr lang="en-US" sz="1300" b="1" dirty="0">
                          <a:solidFill>
                            <a:schemeClr val="bg1"/>
                          </a:solidFill>
                        </a:rPr>
                        <a:t>Rule</a:t>
                      </a:r>
                      <a:endParaRPr lang="en-US" sz="1300" dirty="0"/>
                    </a:p>
                  </a:txBody>
                  <a:tcPr marL="73152" marR="73152" marT="36576" marB="36576"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Detects</a:t>
                      </a:r>
                      <a:endParaRPr lang="en-US" sz="1300" dirty="0"/>
                    </a:p>
                  </a:txBody>
                  <a:tcPr marL="73152" marR="73152" marT="36576" marB="36576"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Steps removed</a:t>
                      </a:r>
                      <a:endParaRPr lang="en-US" sz="1300" dirty="0"/>
                    </a:p>
                  </a:txBody>
                  <a:tcPr marL="73152" marR="73152" marT="36576" marB="36576"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tx2"/>
                    </a:solidFill>
                  </a:tcPr>
                </a:tc>
              </a:tr>
              <a:tr h="384048">
                <a:tc>
                  <a:txBody>
                    <a:bodyPr/>
                    <a:lstStyle/>
                    <a:p>
                      <a:pPr indent="0" marL="0">
                        <a:buNone/>
                      </a:pPr>
                      <a:r>
                        <a:rPr lang="en-US" sz="1300" b="1" dirty="0">
                          <a:solidFill>
                            <a:schemeClr val="tx1"/>
                          </a:solidFill>
                        </a:rPr>
                        <a:t>R1 Duplicate</a:t>
                      </a:r>
                      <a:endParaRPr lang="en-US" sz="1300" dirty="0"/>
                    </a:p>
                  </a:txBody>
                  <a:tcPr marL="73152" marR="73152" marT="36576" marB="36576"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Exact copy of the previous week's last day</a:t>
                      </a:r>
                      <a:endParaRPr lang="en-US" sz="1300" dirty="0"/>
                    </a:p>
                  </a:txBody>
                  <a:tcPr marL="73152" marR="73152" marT="36576" marB="36576"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1,152</a:t>
                      </a:r>
                      <a:endParaRPr lang="en-US" sz="1300" dirty="0"/>
                    </a:p>
                  </a:txBody>
                  <a:tcPr marL="73152" marR="73152" marT="36576" marB="36576"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1"/>
                          </a:solidFill>
                        </a:rPr>
                        <a:t>R2 Flow outage</a:t>
                      </a:r>
                      <a:endParaRPr lang="en-US" sz="1300" dirty="0"/>
                    </a:p>
                  </a:txBody>
                  <a:tcPr marL="73152" marR="73152" marT="36576" marB="36576"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Active flow at zero for ≥ 1 day</a:t>
                      </a:r>
                      <a:endParaRPr lang="en-US" sz="1300" dirty="0"/>
                    </a:p>
                  </a:txBody>
                  <a:tcPr marL="73152" marR="73152" marT="36576" marB="36576"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6,336</a:t>
                      </a:r>
                      <a:endParaRPr lang="en-US" sz="1300" dirty="0"/>
                    </a:p>
                  </a:txBody>
                  <a:tcPr marL="73152" marR="73152" marT="36576" marB="36576"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1"/>
                          </a:solidFill>
                        </a:rPr>
                        <a:t>R3 Router outage</a:t>
                      </a:r>
                      <a:endParaRPr lang="en-US" sz="1300" dirty="0"/>
                    </a:p>
                  </a:txBody>
                  <a:tcPr marL="73152" marR="73152" marT="36576" marB="36576"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All traffic in/out of a router zero ≥ 1 h</a:t>
                      </a:r>
                      <a:endParaRPr lang="en-US" sz="1300" dirty="0"/>
                    </a:p>
                  </a:txBody>
                  <a:tcPr marL="73152" marR="73152" marT="36576" marB="36576"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40</a:t>
                      </a:r>
                      <a:endParaRPr lang="en-US" sz="1300" dirty="0"/>
                    </a:p>
                  </a:txBody>
                  <a:tcPr marL="73152" marR="73152" marT="36576" marB="36576"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1"/>
                          </a:solidFill>
                        </a:rPr>
                        <a:t>R4 Impossible value</a:t>
                      </a:r>
                      <a:endParaRPr lang="en-US" sz="1300" dirty="0"/>
                    </a:p>
                  </a:txBody>
                  <a:tcPr marL="73152" marR="73152" marT="36576" marB="36576"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Above the 9.92 Gbit/s link capacity</a:t>
                      </a:r>
                      <a:endParaRPr lang="en-US" sz="1300" dirty="0"/>
                    </a:p>
                  </a:txBody>
                  <a:tcPr marL="73152" marR="73152" marT="36576" marB="36576"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a:t>
                      </a:r>
                      <a:endParaRPr lang="en-US" sz="1300" dirty="0"/>
                    </a:p>
                  </a:txBody>
                  <a:tcPr marL="73152" marR="73152" marT="36576" marB="36576"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r>
            </a:tbl>
          </a:graphicData>
        </a:graphic>
      </p:graphicFrame>
      <p:sp>
        <p:nvSpPr>
          <p:cNvPr id="29" name="card-156"/>
          <p:cNvSpPr/>
          <p:nvPr/>
        </p:nvSpPr>
        <p:spPr>
          <a:xfrm>
            <a:off x="6172200" y="3429000"/>
            <a:ext cx="5470855" cy="1417320"/>
          </a:xfrm>
          <a:prstGeom prst="roundRect">
            <a:avLst>
              <a:gd name="adj" fmla="val 5161"/>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30" name="text-157"/>
          <p:cNvSpPr txBox="1"/>
          <p:nvPr/>
        </p:nvSpPr>
        <p:spPr>
          <a:xfrm>
            <a:off x="6400800" y="3520440"/>
            <a:ext cx="2103120" cy="868680"/>
          </a:xfrm>
          <a:prstGeom prst="rect">
            <a:avLst/>
          </a:prstGeom>
          <a:noFill/>
          <a:ln/>
        </p:spPr>
        <p:txBody>
          <a:bodyPr wrap="square" lIns="0" tIns="0" rIns="0" bIns="0" rtlCol="0" anchor="ctr"/>
          <a:lstStyle/>
          <a:p>
            <a:pPr indent="0" marL="0">
              <a:buNone/>
            </a:pPr>
            <a:r>
              <a:rPr lang="en-US" sz="5000" b="1" dirty="0">
                <a:solidFill>
                  <a:schemeClr val="accent1"/>
                </a:solidFill>
                <a:latin typeface="Cambria" pitchFamily="34" charset="0"/>
                <a:ea typeface="Cambria" pitchFamily="34" charset="-122"/>
                <a:cs typeface="Cambria" pitchFamily="34" charset="-120"/>
              </a:rPr>
              <a:t>84.4%</a:t>
            </a:r>
            <a:endParaRPr lang="en-US" sz="5000" dirty="0"/>
          </a:p>
        </p:txBody>
      </p:sp>
      <p:sp>
        <p:nvSpPr>
          <p:cNvPr id="31" name="text-158"/>
          <p:cNvSpPr txBox="1"/>
          <p:nvPr/>
        </p:nvSpPr>
        <p:spPr>
          <a:xfrm>
            <a:off x="6400800" y="4370832"/>
            <a:ext cx="2194560" cy="457200"/>
          </a:xfrm>
          <a:prstGeom prst="rect">
            <a:avLst/>
          </a:prstGeom>
          <a:noFill/>
          <a:ln/>
        </p:spPr>
        <p:txBody>
          <a:bodyPr wrap="square" lIns="0" tIns="0" rIns="0" bIns="0" rtlCol="0" anchor="t"/>
          <a:lstStyle/>
          <a:p>
            <a:pPr indent="0" marL="0">
              <a:buNone/>
            </a:pPr>
            <a:r>
              <a:rPr lang="en-US" sz="1200" dirty="0">
                <a:solidFill>
                  <a:schemeClr val="accent3"/>
                </a:solidFill>
              </a:rPr>
              <a:t>of all time steps kept</a:t>
            </a:r>
            <a:endParaRPr lang="en-US" sz="1200" dirty="0"/>
          </a:p>
          <a:p>
            <a:pPr indent="0" marL="0">
              <a:buNone/>
            </a:pPr>
            <a:r>
              <a:rPr lang="en-US" sz="1200" dirty="0">
                <a:solidFill>
                  <a:schemeClr val="accent3"/>
                </a:solidFill>
              </a:rPr>
              <a:t>(40,855 of 48,384)</a:t>
            </a:r>
            <a:endParaRPr lang="en-US" sz="1200" dirty="0"/>
          </a:p>
        </p:txBody>
      </p:sp>
      <p:sp>
        <p:nvSpPr>
          <p:cNvPr id="32" name="text-159"/>
          <p:cNvSpPr txBox="1"/>
          <p:nvPr/>
        </p:nvSpPr>
        <p:spPr>
          <a:xfrm>
            <a:off x="8686800" y="3566160"/>
            <a:ext cx="2727655" cy="1188720"/>
          </a:xfrm>
          <a:prstGeom prst="rect">
            <a:avLst/>
          </a:prstGeom>
          <a:noFill/>
          <a:ln/>
        </p:spPr>
        <p:txBody>
          <a:bodyPr wrap="square" lIns="0" tIns="0" rIns="0" bIns="0" rtlCol="0" anchor="ctr"/>
          <a:lstStyle/>
          <a:p>
            <a:pPr indent="0" marL="0">
              <a:buNone/>
            </a:pPr>
            <a:r>
              <a:rPr lang="en-US" sz="1300" b="1" dirty="0">
                <a:solidFill>
                  <a:schemeClr val="accent6"/>
                </a:solidFill>
              </a:rPr>
              <a:t>Why keep normal zeros? </a:t>
            </a:r>
            <a:pPr indent="0" marL="0">
              <a:buNone/>
            </a:pPr>
            <a:r>
              <a:rPr lang="en-US" sz="1300" dirty="0">
                <a:solidFill>
                  <a:schemeClr val="tx1"/>
                </a:solidFill>
              </a:rPr>
              <a:t>With only 1 packet in 100 sampled, small flows really record nothing in some 5-minute slots. Removing them would delete real data.</a:t>
            </a:r>
            <a:endParaRPr lang="en-US" sz="1300" dirty="0"/>
          </a:p>
        </p:txBody>
      </p:sp>
      <p:sp>
        <p:nvSpPr>
          <p:cNvPr id="33" name="flow-160"/>
          <p:cNvSpPr/>
          <p:nvPr/>
        </p:nvSpPr>
        <p:spPr>
          <a:xfrm>
            <a:off x="548640" y="5440680"/>
            <a:ext cx="2464994" cy="566928"/>
          </a:xfrm>
          <a:prstGeom prst="roundRect">
            <a:avLst>
              <a:gd name="adj" fmla="val 12903"/>
            </a:avLst>
          </a:prstGeom>
          <a:solidFill>
            <a:schemeClr val="accent1"/>
          </a:solidFill>
          <a:ln w="12700">
            <a:solidFill>
              <a:schemeClr val="bg1"/>
            </a:solidFill>
            <a:prstDash val="solid"/>
          </a:ln>
        </p:spPr>
      </p:sp>
      <p:sp>
        <p:nvSpPr>
          <p:cNvPr id="34" name="text-161"/>
          <p:cNvSpPr txBox="1"/>
          <p:nvPr/>
        </p:nvSpPr>
        <p:spPr>
          <a:xfrm>
            <a:off x="548640" y="5440680"/>
            <a:ext cx="2464994" cy="566928"/>
          </a:xfrm>
          <a:prstGeom prst="rect">
            <a:avLst/>
          </a:prstGeom>
          <a:noFill/>
          <a:ln/>
        </p:spPr>
        <p:txBody>
          <a:bodyPr wrap="square" lIns="0" tIns="0" rIns="0" bIns="0" rtlCol="0" anchor="ctr"/>
          <a:lstStyle/>
          <a:p>
            <a:pPr algn="ctr" indent="0" marL="0">
              <a:buNone/>
            </a:pPr>
            <a:r>
              <a:rPr lang="en-US" sz="1400" b="1" dirty="0">
                <a:solidFill>
                  <a:schemeClr val="bg1"/>
                </a:solidFill>
              </a:rPr>
              <a:t>Clean data</a:t>
            </a:r>
            <a:endParaRPr lang="en-US" sz="1400" dirty="0"/>
          </a:p>
        </p:txBody>
      </p:sp>
      <p:sp>
        <p:nvSpPr>
          <p:cNvPr id="35" name="arrow-162"/>
          <p:cNvSpPr/>
          <p:nvPr/>
        </p:nvSpPr>
        <p:spPr>
          <a:xfrm>
            <a:off x="3059354" y="5724144"/>
            <a:ext cx="320040" cy="91"/>
          </a:xfrm>
          <a:prstGeom prst="line">
            <a:avLst/>
          </a:prstGeom>
          <a:noFill/>
          <a:ln w="22225">
            <a:solidFill>
              <a:schemeClr val="accent3"/>
            </a:solidFill>
            <a:prstDash val="solid"/>
            <a:tailEnd type="triangle"/>
          </a:ln>
        </p:spPr>
      </p:sp>
      <p:sp>
        <p:nvSpPr>
          <p:cNvPr id="36" name="flow-163"/>
          <p:cNvSpPr/>
          <p:nvPr/>
        </p:nvSpPr>
        <p:spPr>
          <a:xfrm>
            <a:off x="3425114" y="5440680"/>
            <a:ext cx="2464994" cy="566928"/>
          </a:xfrm>
          <a:prstGeom prst="roundRect">
            <a:avLst>
              <a:gd name="adj" fmla="val 12903"/>
            </a:avLst>
          </a:prstGeom>
          <a:solidFill>
            <a:schemeClr val="accent1"/>
          </a:solidFill>
          <a:ln w="12700">
            <a:solidFill>
              <a:schemeClr val="bg1"/>
            </a:solidFill>
            <a:prstDash val="solid"/>
          </a:ln>
        </p:spPr>
      </p:sp>
      <p:sp>
        <p:nvSpPr>
          <p:cNvPr id="37" name="text-164"/>
          <p:cNvSpPr txBox="1"/>
          <p:nvPr/>
        </p:nvSpPr>
        <p:spPr>
          <a:xfrm>
            <a:off x="3425114" y="5440680"/>
            <a:ext cx="2464994" cy="566928"/>
          </a:xfrm>
          <a:prstGeom prst="rect">
            <a:avLst/>
          </a:prstGeom>
          <a:noFill/>
          <a:ln/>
        </p:spPr>
        <p:txBody>
          <a:bodyPr wrap="square" lIns="0" tIns="0" rIns="0" bIns="0" rtlCol="0" anchor="ctr"/>
          <a:lstStyle/>
          <a:p>
            <a:pPr algn="ctr" indent="0" marL="0">
              <a:buNone/>
            </a:pPr>
            <a:r>
              <a:rPr lang="en-US" sz="1400" b="1" dirty="0">
                <a:solidFill>
                  <a:schemeClr val="bg1"/>
                </a:solidFill>
              </a:rPr>
              <a:t>9 continuous segments</a:t>
            </a:r>
            <a:endParaRPr lang="en-US" sz="1400" dirty="0"/>
          </a:p>
        </p:txBody>
      </p:sp>
      <p:sp>
        <p:nvSpPr>
          <p:cNvPr id="38" name="arrow-165"/>
          <p:cNvSpPr/>
          <p:nvPr/>
        </p:nvSpPr>
        <p:spPr>
          <a:xfrm>
            <a:off x="5935828" y="5724144"/>
            <a:ext cx="320040" cy="91"/>
          </a:xfrm>
          <a:prstGeom prst="line">
            <a:avLst/>
          </a:prstGeom>
          <a:noFill/>
          <a:ln w="22225">
            <a:solidFill>
              <a:schemeClr val="accent3"/>
            </a:solidFill>
            <a:prstDash val="solid"/>
            <a:tailEnd type="triangle"/>
          </a:ln>
        </p:spPr>
      </p:sp>
      <p:sp>
        <p:nvSpPr>
          <p:cNvPr id="39" name="flow-166"/>
          <p:cNvSpPr/>
          <p:nvPr/>
        </p:nvSpPr>
        <p:spPr>
          <a:xfrm>
            <a:off x="6301588" y="5440680"/>
            <a:ext cx="2464994" cy="566928"/>
          </a:xfrm>
          <a:prstGeom prst="roundRect">
            <a:avLst>
              <a:gd name="adj" fmla="val 12903"/>
            </a:avLst>
          </a:prstGeom>
          <a:solidFill>
            <a:schemeClr val="accent1"/>
          </a:solidFill>
          <a:ln w="12700">
            <a:solidFill>
              <a:schemeClr val="bg1"/>
            </a:solidFill>
            <a:prstDash val="solid"/>
          </a:ln>
        </p:spPr>
      </p:sp>
      <p:sp>
        <p:nvSpPr>
          <p:cNvPr id="40" name="text-167"/>
          <p:cNvSpPr txBox="1"/>
          <p:nvPr/>
        </p:nvSpPr>
        <p:spPr>
          <a:xfrm>
            <a:off x="6301588" y="5440680"/>
            <a:ext cx="2464994" cy="566928"/>
          </a:xfrm>
          <a:prstGeom prst="rect">
            <a:avLst/>
          </a:prstGeom>
          <a:noFill/>
          <a:ln/>
        </p:spPr>
        <p:txBody>
          <a:bodyPr wrap="square" lIns="0" tIns="0" rIns="0" bIns="0" rtlCol="0" anchor="ctr"/>
          <a:lstStyle/>
          <a:p>
            <a:pPr algn="ctr" indent="0" marL="0">
              <a:buNone/>
            </a:pPr>
            <a:r>
              <a:rPr lang="en-US" sz="1400" b="1" dirty="0">
                <a:solidFill>
                  <a:schemeClr val="bg1"/>
                </a:solidFill>
              </a:rPr>
              <a:t>1-hour windows (12 × 144)</a:t>
            </a:r>
            <a:endParaRPr lang="en-US" sz="1400" dirty="0"/>
          </a:p>
        </p:txBody>
      </p:sp>
      <p:sp>
        <p:nvSpPr>
          <p:cNvPr id="41" name="arrow-168"/>
          <p:cNvSpPr/>
          <p:nvPr/>
        </p:nvSpPr>
        <p:spPr>
          <a:xfrm>
            <a:off x="8812301" y="5724144"/>
            <a:ext cx="320040" cy="91"/>
          </a:xfrm>
          <a:prstGeom prst="line">
            <a:avLst/>
          </a:prstGeom>
          <a:noFill/>
          <a:ln w="22225">
            <a:solidFill>
              <a:schemeClr val="accent3"/>
            </a:solidFill>
            <a:prstDash val="solid"/>
            <a:tailEnd type="triangle"/>
          </a:ln>
        </p:spPr>
      </p:sp>
      <p:sp>
        <p:nvSpPr>
          <p:cNvPr id="42" name="flow-169"/>
          <p:cNvSpPr/>
          <p:nvPr/>
        </p:nvSpPr>
        <p:spPr>
          <a:xfrm>
            <a:off x="9178061" y="5440680"/>
            <a:ext cx="2464994" cy="566928"/>
          </a:xfrm>
          <a:prstGeom prst="roundRect">
            <a:avLst>
              <a:gd name="adj" fmla="val 12903"/>
            </a:avLst>
          </a:prstGeom>
          <a:solidFill>
            <a:schemeClr val="accent2"/>
          </a:solidFill>
          <a:ln w="12700">
            <a:solidFill>
              <a:schemeClr val="bg1"/>
            </a:solidFill>
            <a:prstDash val="solid"/>
          </a:ln>
        </p:spPr>
      </p:sp>
      <p:sp>
        <p:nvSpPr>
          <p:cNvPr id="43" name="text-170"/>
          <p:cNvSpPr txBox="1"/>
          <p:nvPr/>
        </p:nvSpPr>
        <p:spPr>
          <a:xfrm>
            <a:off x="9178061" y="5440680"/>
            <a:ext cx="2464994" cy="566928"/>
          </a:xfrm>
          <a:prstGeom prst="rect">
            <a:avLst/>
          </a:prstGeom>
          <a:noFill/>
          <a:ln/>
        </p:spPr>
        <p:txBody>
          <a:bodyPr wrap="square" lIns="0" tIns="0" rIns="0" bIns="0" rtlCol="0" anchor="ctr"/>
          <a:lstStyle/>
          <a:p>
            <a:pPr algn="ctr" indent="0" marL="0">
              <a:buNone/>
            </a:pPr>
            <a:r>
              <a:rPr lang="en-US" sz="1400" b="1" dirty="0">
                <a:solidFill>
                  <a:schemeClr val="bg1"/>
                </a:solidFill>
              </a:rPr>
              <a:t>Prediction target (next 5 min)</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Input/Output Design &amp; CNN-LSTM Architecture</a:t>
            </a:r>
            <a:endParaRPr lang="en-US" sz="3200" dirty="0"/>
          </a:p>
        </p:txBody>
      </p:sp>
      <p:sp>
        <p:nvSpPr>
          <p:cNvPr id="3" name="text-171"/>
          <p:cNvSpPr txBox="1"/>
          <p:nvPr/>
        </p:nvSpPr>
        <p:spPr>
          <a:xfrm>
            <a:off x="548640" y="1234440"/>
            <a:ext cx="4389120" cy="320040"/>
          </a:xfrm>
          <a:prstGeom prst="rect">
            <a:avLst/>
          </a:prstGeom>
          <a:noFill/>
          <a:ln/>
        </p:spPr>
        <p:txBody>
          <a:bodyPr wrap="square" lIns="0" tIns="0" rIns="0" bIns="0" rtlCol="0" anchor="t"/>
          <a:lstStyle/>
          <a:p>
            <a:pPr indent="0" marL="0">
              <a:buNone/>
            </a:pPr>
            <a:r>
              <a:rPr lang="en-US" sz="1700" b="1" dirty="0">
                <a:solidFill>
                  <a:schemeClr val="tx2"/>
                </a:solidFill>
              </a:rPr>
              <a:t>Input</a:t>
            </a:r>
            <a:endParaRPr lang="en-US" sz="1700" dirty="0"/>
          </a:p>
        </p:txBody>
      </p:sp>
      <p:sp>
        <p:nvSpPr>
          <p:cNvPr id="4" name="cell-172"/>
          <p:cNvSpPr/>
          <p:nvPr/>
        </p:nvSpPr>
        <p:spPr>
          <a:xfrm>
            <a:off x="548640" y="1645920"/>
            <a:ext cx="155448" cy="155448"/>
          </a:xfrm>
          <a:prstGeom prst="rect">
            <a:avLst/>
          </a:prstGeom>
          <a:solidFill>
            <a:schemeClr val="accent1">
              <a:alpha val="67000"/>
            </a:schemeClr>
          </a:solidFill>
          <a:ln w="12700">
            <a:solidFill>
              <a:schemeClr val="accent1">
                <a:alpha val="0"/>
              </a:schemeClr>
            </a:solidFill>
            <a:prstDash val="solid"/>
          </a:ln>
        </p:spPr>
      </p:sp>
      <p:sp>
        <p:nvSpPr>
          <p:cNvPr id="5" name="cell-173"/>
          <p:cNvSpPr/>
          <p:nvPr/>
        </p:nvSpPr>
        <p:spPr>
          <a:xfrm>
            <a:off x="722376" y="1645920"/>
            <a:ext cx="155448" cy="155448"/>
          </a:xfrm>
          <a:prstGeom prst="rect">
            <a:avLst/>
          </a:prstGeom>
          <a:solidFill>
            <a:schemeClr val="accent1">
              <a:alpha val="80000"/>
            </a:schemeClr>
          </a:solidFill>
          <a:ln w="12700">
            <a:solidFill>
              <a:schemeClr val="accent1">
                <a:alpha val="0"/>
              </a:schemeClr>
            </a:solidFill>
            <a:prstDash val="solid"/>
          </a:ln>
        </p:spPr>
      </p:sp>
      <p:sp>
        <p:nvSpPr>
          <p:cNvPr id="6" name="cell-174"/>
          <p:cNvSpPr/>
          <p:nvPr/>
        </p:nvSpPr>
        <p:spPr>
          <a:xfrm>
            <a:off x="896112" y="1645920"/>
            <a:ext cx="155448" cy="155448"/>
          </a:xfrm>
          <a:prstGeom prst="rect">
            <a:avLst/>
          </a:prstGeom>
          <a:solidFill>
            <a:schemeClr val="accent1">
              <a:alpha val="80000"/>
            </a:schemeClr>
          </a:solidFill>
          <a:ln w="12700">
            <a:solidFill>
              <a:schemeClr val="accent1">
                <a:alpha val="0"/>
              </a:schemeClr>
            </a:solidFill>
            <a:prstDash val="solid"/>
          </a:ln>
        </p:spPr>
      </p:sp>
      <p:sp>
        <p:nvSpPr>
          <p:cNvPr id="7" name="cell-175"/>
          <p:cNvSpPr/>
          <p:nvPr/>
        </p:nvSpPr>
        <p:spPr>
          <a:xfrm>
            <a:off x="1069848" y="1645920"/>
            <a:ext cx="155448" cy="155448"/>
          </a:xfrm>
          <a:prstGeom prst="rect">
            <a:avLst/>
          </a:prstGeom>
          <a:solidFill>
            <a:schemeClr val="accent1">
              <a:alpha val="65000"/>
            </a:schemeClr>
          </a:solidFill>
          <a:ln w="12700">
            <a:solidFill>
              <a:schemeClr val="accent1">
                <a:alpha val="0"/>
              </a:schemeClr>
            </a:solidFill>
            <a:prstDash val="solid"/>
          </a:ln>
        </p:spPr>
      </p:sp>
      <p:sp>
        <p:nvSpPr>
          <p:cNvPr id="8" name="cell-176"/>
          <p:cNvSpPr/>
          <p:nvPr/>
        </p:nvSpPr>
        <p:spPr>
          <a:xfrm>
            <a:off x="1243584" y="1645920"/>
            <a:ext cx="155448" cy="155448"/>
          </a:xfrm>
          <a:prstGeom prst="rect">
            <a:avLst/>
          </a:prstGeom>
          <a:solidFill>
            <a:schemeClr val="accent1">
              <a:alpha val="44000"/>
            </a:schemeClr>
          </a:solidFill>
          <a:ln w="12700">
            <a:solidFill>
              <a:schemeClr val="accent1">
                <a:alpha val="0"/>
              </a:schemeClr>
            </a:solidFill>
            <a:prstDash val="solid"/>
          </a:ln>
        </p:spPr>
      </p:sp>
      <p:sp>
        <p:nvSpPr>
          <p:cNvPr id="9" name="cell-177"/>
          <p:cNvSpPr/>
          <p:nvPr/>
        </p:nvSpPr>
        <p:spPr>
          <a:xfrm>
            <a:off x="1417320" y="1645920"/>
            <a:ext cx="155448" cy="155448"/>
          </a:xfrm>
          <a:prstGeom prst="rect">
            <a:avLst/>
          </a:prstGeom>
          <a:solidFill>
            <a:schemeClr val="accent1">
              <a:alpha val="28000"/>
            </a:schemeClr>
          </a:solidFill>
          <a:ln w="12700">
            <a:solidFill>
              <a:schemeClr val="accent1">
                <a:alpha val="0"/>
              </a:schemeClr>
            </a:solidFill>
            <a:prstDash val="solid"/>
          </a:ln>
        </p:spPr>
      </p:sp>
      <p:sp>
        <p:nvSpPr>
          <p:cNvPr id="10" name="cell-178"/>
          <p:cNvSpPr/>
          <p:nvPr/>
        </p:nvSpPr>
        <p:spPr>
          <a:xfrm>
            <a:off x="1591056" y="1645920"/>
            <a:ext cx="155448" cy="155448"/>
          </a:xfrm>
          <a:prstGeom prst="rect">
            <a:avLst/>
          </a:prstGeom>
          <a:solidFill>
            <a:schemeClr val="accent1">
              <a:alpha val="26000"/>
            </a:schemeClr>
          </a:solidFill>
          <a:ln w="12700">
            <a:solidFill>
              <a:schemeClr val="accent1">
                <a:alpha val="0"/>
              </a:schemeClr>
            </a:solidFill>
            <a:prstDash val="solid"/>
          </a:ln>
        </p:spPr>
      </p:sp>
      <p:sp>
        <p:nvSpPr>
          <p:cNvPr id="11" name="cell-179"/>
          <p:cNvSpPr/>
          <p:nvPr/>
        </p:nvSpPr>
        <p:spPr>
          <a:xfrm>
            <a:off x="1764792" y="1645920"/>
            <a:ext cx="155448" cy="155448"/>
          </a:xfrm>
          <a:prstGeom prst="rect">
            <a:avLst/>
          </a:prstGeom>
          <a:solidFill>
            <a:schemeClr val="accent1">
              <a:alpha val="35000"/>
            </a:schemeClr>
          </a:solidFill>
          <a:ln w="12700">
            <a:solidFill>
              <a:schemeClr val="accent1">
                <a:alpha val="0"/>
              </a:schemeClr>
            </a:solidFill>
            <a:prstDash val="solid"/>
          </a:ln>
        </p:spPr>
      </p:sp>
      <p:sp>
        <p:nvSpPr>
          <p:cNvPr id="12" name="cell-180"/>
          <p:cNvSpPr/>
          <p:nvPr/>
        </p:nvSpPr>
        <p:spPr>
          <a:xfrm>
            <a:off x="1938528" y="1645920"/>
            <a:ext cx="155448" cy="155448"/>
          </a:xfrm>
          <a:prstGeom prst="rect">
            <a:avLst/>
          </a:prstGeom>
          <a:solidFill>
            <a:schemeClr val="accent1">
              <a:alpha val="47000"/>
            </a:schemeClr>
          </a:solidFill>
          <a:ln w="12700">
            <a:solidFill>
              <a:schemeClr val="accent1">
                <a:alpha val="0"/>
              </a:schemeClr>
            </a:solidFill>
            <a:prstDash val="solid"/>
          </a:ln>
        </p:spPr>
      </p:sp>
      <p:sp>
        <p:nvSpPr>
          <p:cNvPr id="13" name="cell-181"/>
          <p:cNvSpPr/>
          <p:nvPr/>
        </p:nvSpPr>
        <p:spPr>
          <a:xfrm>
            <a:off x="2112264" y="1645920"/>
            <a:ext cx="155448" cy="155448"/>
          </a:xfrm>
          <a:prstGeom prst="rect">
            <a:avLst/>
          </a:prstGeom>
          <a:solidFill>
            <a:schemeClr val="accent1">
              <a:alpha val="50000"/>
            </a:schemeClr>
          </a:solidFill>
          <a:ln w="12700">
            <a:solidFill>
              <a:schemeClr val="accent1">
                <a:alpha val="0"/>
              </a:schemeClr>
            </a:solidFill>
            <a:prstDash val="solid"/>
          </a:ln>
        </p:spPr>
      </p:sp>
      <p:sp>
        <p:nvSpPr>
          <p:cNvPr id="14" name="cell-182"/>
          <p:cNvSpPr/>
          <p:nvPr/>
        </p:nvSpPr>
        <p:spPr>
          <a:xfrm>
            <a:off x="2286000" y="1645920"/>
            <a:ext cx="155448" cy="155448"/>
          </a:xfrm>
          <a:prstGeom prst="rect">
            <a:avLst/>
          </a:prstGeom>
          <a:solidFill>
            <a:schemeClr val="accent1">
              <a:alpha val="42000"/>
            </a:schemeClr>
          </a:solidFill>
          <a:ln w="12700">
            <a:solidFill>
              <a:schemeClr val="accent1">
                <a:alpha val="0"/>
              </a:schemeClr>
            </a:solidFill>
            <a:prstDash val="solid"/>
          </a:ln>
        </p:spPr>
      </p:sp>
      <p:sp>
        <p:nvSpPr>
          <p:cNvPr id="15" name="cell-183"/>
          <p:cNvSpPr/>
          <p:nvPr/>
        </p:nvSpPr>
        <p:spPr>
          <a:xfrm>
            <a:off x="2459736" y="1645920"/>
            <a:ext cx="155448" cy="155448"/>
          </a:xfrm>
          <a:prstGeom prst="rect">
            <a:avLst/>
          </a:prstGeom>
          <a:solidFill>
            <a:schemeClr val="accent1">
              <a:alpha val="32000"/>
            </a:schemeClr>
          </a:solidFill>
          <a:ln w="12700">
            <a:solidFill>
              <a:schemeClr val="accent1">
                <a:alpha val="0"/>
              </a:schemeClr>
            </a:solidFill>
            <a:prstDash val="solid"/>
          </a:ln>
        </p:spPr>
      </p:sp>
      <p:sp>
        <p:nvSpPr>
          <p:cNvPr id="16" name="cell-184"/>
          <p:cNvSpPr/>
          <p:nvPr/>
        </p:nvSpPr>
        <p:spPr>
          <a:xfrm>
            <a:off x="2633472" y="1645920"/>
            <a:ext cx="155448" cy="155448"/>
          </a:xfrm>
          <a:prstGeom prst="rect">
            <a:avLst/>
          </a:prstGeom>
          <a:solidFill>
            <a:schemeClr val="accent1">
              <a:alpha val="28000"/>
            </a:schemeClr>
          </a:solidFill>
          <a:ln w="12700">
            <a:solidFill>
              <a:schemeClr val="accent1">
                <a:alpha val="0"/>
              </a:schemeClr>
            </a:solidFill>
            <a:prstDash val="solid"/>
          </a:ln>
        </p:spPr>
      </p:sp>
      <p:sp>
        <p:nvSpPr>
          <p:cNvPr id="17" name="cell-185"/>
          <p:cNvSpPr/>
          <p:nvPr/>
        </p:nvSpPr>
        <p:spPr>
          <a:xfrm>
            <a:off x="2807208" y="1645920"/>
            <a:ext cx="155448" cy="155448"/>
          </a:xfrm>
          <a:prstGeom prst="rect">
            <a:avLst/>
          </a:prstGeom>
          <a:solidFill>
            <a:schemeClr val="accent1">
              <a:alpha val="38000"/>
            </a:schemeClr>
          </a:solidFill>
          <a:ln w="12700">
            <a:solidFill>
              <a:schemeClr val="accent1">
                <a:alpha val="0"/>
              </a:schemeClr>
            </a:solidFill>
            <a:prstDash val="solid"/>
          </a:ln>
        </p:spPr>
      </p:sp>
      <p:sp>
        <p:nvSpPr>
          <p:cNvPr id="18" name="cell-186"/>
          <p:cNvSpPr/>
          <p:nvPr/>
        </p:nvSpPr>
        <p:spPr>
          <a:xfrm>
            <a:off x="2980944" y="1645920"/>
            <a:ext cx="155448" cy="155448"/>
          </a:xfrm>
          <a:prstGeom prst="rect">
            <a:avLst/>
          </a:prstGeom>
          <a:solidFill>
            <a:schemeClr val="accent1">
              <a:alpha val="58000"/>
            </a:schemeClr>
          </a:solidFill>
          <a:ln w="12700">
            <a:solidFill>
              <a:schemeClr val="accent1">
                <a:alpha val="0"/>
              </a:schemeClr>
            </a:solidFill>
            <a:prstDash val="solid"/>
          </a:ln>
        </p:spPr>
      </p:sp>
      <p:sp>
        <p:nvSpPr>
          <p:cNvPr id="19" name="cell-187"/>
          <p:cNvSpPr/>
          <p:nvPr/>
        </p:nvSpPr>
        <p:spPr>
          <a:xfrm>
            <a:off x="3154680" y="1645920"/>
            <a:ext cx="155448" cy="155448"/>
          </a:xfrm>
          <a:prstGeom prst="rect">
            <a:avLst/>
          </a:prstGeom>
          <a:solidFill>
            <a:schemeClr val="accent1">
              <a:alpha val="77000"/>
            </a:schemeClr>
          </a:solidFill>
          <a:ln w="12700">
            <a:solidFill>
              <a:schemeClr val="accent1">
                <a:alpha val="0"/>
              </a:schemeClr>
            </a:solidFill>
            <a:prstDash val="solid"/>
          </a:ln>
        </p:spPr>
      </p:sp>
      <p:sp>
        <p:nvSpPr>
          <p:cNvPr id="20" name="cell-188"/>
          <p:cNvSpPr/>
          <p:nvPr/>
        </p:nvSpPr>
        <p:spPr>
          <a:xfrm>
            <a:off x="3328416" y="1645920"/>
            <a:ext cx="155448" cy="155448"/>
          </a:xfrm>
          <a:prstGeom prst="rect">
            <a:avLst/>
          </a:prstGeom>
          <a:solidFill>
            <a:schemeClr val="accent1">
              <a:alpha val="83000"/>
            </a:schemeClr>
          </a:solidFill>
          <a:ln w="12700">
            <a:solidFill>
              <a:schemeClr val="accent1">
                <a:alpha val="0"/>
              </a:schemeClr>
            </a:solidFill>
            <a:prstDash val="solid"/>
          </a:ln>
        </p:spPr>
      </p:sp>
      <p:sp>
        <p:nvSpPr>
          <p:cNvPr id="21" name="cell-189"/>
          <p:cNvSpPr/>
          <p:nvPr/>
        </p:nvSpPr>
        <p:spPr>
          <a:xfrm>
            <a:off x="3502152" y="1645920"/>
            <a:ext cx="155448" cy="155448"/>
          </a:xfrm>
          <a:prstGeom prst="rect">
            <a:avLst/>
          </a:prstGeom>
          <a:solidFill>
            <a:schemeClr val="accent1">
              <a:alpha val="74000"/>
            </a:schemeClr>
          </a:solidFill>
          <a:ln w="12700">
            <a:solidFill>
              <a:schemeClr val="accent1">
                <a:alpha val="0"/>
              </a:schemeClr>
            </a:solidFill>
            <a:prstDash val="solid"/>
          </a:ln>
        </p:spPr>
      </p:sp>
      <p:sp>
        <p:nvSpPr>
          <p:cNvPr id="22" name="cell-190"/>
          <p:cNvSpPr/>
          <p:nvPr/>
        </p:nvSpPr>
        <p:spPr>
          <a:xfrm>
            <a:off x="3675888" y="1645920"/>
            <a:ext cx="155448" cy="155448"/>
          </a:xfrm>
          <a:prstGeom prst="rect">
            <a:avLst/>
          </a:prstGeom>
          <a:solidFill>
            <a:schemeClr val="accent1">
              <a:alpha val="58000"/>
            </a:schemeClr>
          </a:solidFill>
          <a:ln w="12700">
            <a:solidFill>
              <a:schemeClr val="accent1">
                <a:alpha val="0"/>
              </a:schemeClr>
            </a:solidFill>
            <a:prstDash val="solid"/>
          </a:ln>
        </p:spPr>
      </p:sp>
      <p:sp>
        <p:nvSpPr>
          <p:cNvPr id="23" name="cell-191"/>
          <p:cNvSpPr/>
          <p:nvPr/>
        </p:nvSpPr>
        <p:spPr>
          <a:xfrm>
            <a:off x="3849624" y="1645920"/>
            <a:ext cx="155448" cy="155448"/>
          </a:xfrm>
          <a:prstGeom prst="rect">
            <a:avLst/>
          </a:prstGeom>
          <a:solidFill>
            <a:schemeClr val="accent1">
              <a:alpha val="46000"/>
            </a:schemeClr>
          </a:solidFill>
          <a:ln w="12700">
            <a:solidFill>
              <a:schemeClr val="accent1">
                <a:alpha val="0"/>
              </a:schemeClr>
            </a:solidFill>
            <a:prstDash val="solid"/>
          </a:ln>
        </p:spPr>
      </p:sp>
      <p:sp>
        <p:nvSpPr>
          <p:cNvPr id="24" name="cell-192"/>
          <p:cNvSpPr/>
          <p:nvPr/>
        </p:nvSpPr>
        <p:spPr>
          <a:xfrm>
            <a:off x="4023360" y="1645920"/>
            <a:ext cx="155448" cy="155448"/>
          </a:xfrm>
          <a:prstGeom prst="rect">
            <a:avLst/>
          </a:prstGeom>
          <a:solidFill>
            <a:schemeClr val="accent1">
              <a:alpha val="45000"/>
            </a:schemeClr>
          </a:solidFill>
          <a:ln w="12700">
            <a:solidFill>
              <a:schemeClr val="accent1">
                <a:alpha val="0"/>
              </a:schemeClr>
            </a:solidFill>
            <a:prstDash val="solid"/>
          </a:ln>
        </p:spPr>
      </p:sp>
      <p:sp>
        <p:nvSpPr>
          <p:cNvPr id="25" name="cell-193"/>
          <p:cNvSpPr/>
          <p:nvPr/>
        </p:nvSpPr>
        <p:spPr>
          <a:xfrm>
            <a:off x="4197096" y="1645920"/>
            <a:ext cx="155448" cy="155448"/>
          </a:xfrm>
          <a:prstGeom prst="rect">
            <a:avLst/>
          </a:prstGeom>
          <a:solidFill>
            <a:schemeClr val="accent1">
              <a:alpha val="52000"/>
            </a:schemeClr>
          </a:solidFill>
          <a:ln w="12700">
            <a:solidFill>
              <a:schemeClr val="accent1">
                <a:alpha val="0"/>
              </a:schemeClr>
            </a:solidFill>
            <a:prstDash val="solid"/>
          </a:ln>
        </p:spPr>
      </p:sp>
      <p:sp>
        <p:nvSpPr>
          <p:cNvPr id="26" name="cell-194"/>
          <p:cNvSpPr/>
          <p:nvPr/>
        </p:nvSpPr>
        <p:spPr>
          <a:xfrm>
            <a:off x="4370832" y="1645920"/>
            <a:ext cx="155448" cy="155448"/>
          </a:xfrm>
          <a:prstGeom prst="rect">
            <a:avLst/>
          </a:prstGeom>
          <a:solidFill>
            <a:schemeClr val="accent1">
              <a:alpha val="59000"/>
            </a:schemeClr>
          </a:solidFill>
          <a:ln w="12700">
            <a:solidFill>
              <a:schemeClr val="accent1">
                <a:alpha val="0"/>
              </a:schemeClr>
            </a:solidFill>
            <a:prstDash val="solid"/>
          </a:ln>
        </p:spPr>
      </p:sp>
      <p:sp>
        <p:nvSpPr>
          <p:cNvPr id="27" name="cell-195"/>
          <p:cNvSpPr/>
          <p:nvPr/>
        </p:nvSpPr>
        <p:spPr>
          <a:xfrm>
            <a:off x="4544568" y="1645920"/>
            <a:ext cx="155448" cy="155448"/>
          </a:xfrm>
          <a:prstGeom prst="rect">
            <a:avLst/>
          </a:prstGeom>
          <a:solidFill>
            <a:schemeClr val="accent1">
              <a:alpha val="56000"/>
            </a:schemeClr>
          </a:solidFill>
          <a:ln w="12700">
            <a:solidFill>
              <a:schemeClr val="accent1">
                <a:alpha val="0"/>
              </a:schemeClr>
            </a:solidFill>
            <a:prstDash val="solid"/>
          </a:ln>
        </p:spPr>
      </p:sp>
      <p:sp>
        <p:nvSpPr>
          <p:cNvPr id="28" name="cell-196"/>
          <p:cNvSpPr/>
          <p:nvPr/>
        </p:nvSpPr>
        <p:spPr>
          <a:xfrm>
            <a:off x="548640" y="1819656"/>
            <a:ext cx="155448" cy="155448"/>
          </a:xfrm>
          <a:prstGeom prst="rect">
            <a:avLst/>
          </a:prstGeom>
          <a:solidFill>
            <a:schemeClr val="accent1">
              <a:alpha val="70000"/>
            </a:schemeClr>
          </a:solidFill>
          <a:ln w="12700">
            <a:solidFill>
              <a:schemeClr val="accent1">
                <a:alpha val="0"/>
              </a:schemeClr>
            </a:solidFill>
            <a:prstDash val="solid"/>
          </a:ln>
        </p:spPr>
      </p:sp>
      <p:sp>
        <p:nvSpPr>
          <p:cNvPr id="29" name="cell-197"/>
          <p:cNvSpPr/>
          <p:nvPr/>
        </p:nvSpPr>
        <p:spPr>
          <a:xfrm>
            <a:off x="722376" y="1819656"/>
            <a:ext cx="155448" cy="155448"/>
          </a:xfrm>
          <a:prstGeom prst="rect">
            <a:avLst/>
          </a:prstGeom>
          <a:solidFill>
            <a:schemeClr val="accent1">
              <a:alpha val="84000"/>
            </a:schemeClr>
          </a:solidFill>
          <a:ln w="12700">
            <a:solidFill>
              <a:schemeClr val="accent1">
                <a:alpha val="0"/>
              </a:schemeClr>
            </a:solidFill>
            <a:prstDash val="solid"/>
          </a:ln>
        </p:spPr>
      </p:sp>
      <p:sp>
        <p:nvSpPr>
          <p:cNvPr id="30" name="cell-198"/>
          <p:cNvSpPr/>
          <p:nvPr/>
        </p:nvSpPr>
        <p:spPr>
          <a:xfrm>
            <a:off x="896112" y="1819656"/>
            <a:ext cx="155448" cy="155448"/>
          </a:xfrm>
          <a:prstGeom prst="rect">
            <a:avLst/>
          </a:prstGeom>
          <a:solidFill>
            <a:schemeClr val="accent1">
              <a:alpha val="82000"/>
            </a:schemeClr>
          </a:solidFill>
          <a:ln w="12700">
            <a:solidFill>
              <a:schemeClr val="accent1">
                <a:alpha val="0"/>
              </a:schemeClr>
            </a:solidFill>
            <a:prstDash val="solid"/>
          </a:ln>
        </p:spPr>
      </p:sp>
      <p:sp>
        <p:nvSpPr>
          <p:cNvPr id="31" name="cell-199"/>
          <p:cNvSpPr/>
          <p:nvPr/>
        </p:nvSpPr>
        <p:spPr>
          <a:xfrm>
            <a:off x="1069848" y="1819656"/>
            <a:ext cx="155448" cy="155448"/>
          </a:xfrm>
          <a:prstGeom prst="rect">
            <a:avLst/>
          </a:prstGeom>
          <a:solidFill>
            <a:schemeClr val="accent1">
              <a:alpha val="67000"/>
            </a:schemeClr>
          </a:solidFill>
          <a:ln w="12700">
            <a:solidFill>
              <a:schemeClr val="accent1">
                <a:alpha val="0"/>
              </a:schemeClr>
            </a:solidFill>
            <a:prstDash val="solid"/>
          </a:ln>
        </p:spPr>
      </p:sp>
      <p:sp>
        <p:nvSpPr>
          <p:cNvPr id="32" name="cell-200"/>
          <p:cNvSpPr/>
          <p:nvPr/>
        </p:nvSpPr>
        <p:spPr>
          <a:xfrm>
            <a:off x="1243584" y="1819656"/>
            <a:ext cx="155448" cy="155448"/>
          </a:xfrm>
          <a:prstGeom prst="rect">
            <a:avLst/>
          </a:prstGeom>
          <a:solidFill>
            <a:schemeClr val="accent1">
              <a:alpha val="48000"/>
            </a:schemeClr>
          </a:solidFill>
          <a:ln w="12700">
            <a:solidFill>
              <a:schemeClr val="accent1">
                <a:alpha val="0"/>
              </a:schemeClr>
            </a:solidFill>
            <a:prstDash val="solid"/>
          </a:ln>
        </p:spPr>
      </p:sp>
      <p:sp>
        <p:nvSpPr>
          <p:cNvPr id="33" name="cell-201"/>
          <p:cNvSpPr/>
          <p:nvPr/>
        </p:nvSpPr>
        <p:spPr>
          <a:xfrm>
            <a:off x="1417320" y="1819656"/>
            <a:ext cx="155448" cy="155448"/>
          </a:xfrm>
          <a:prstGeom prst="rect">
            <a:avLst/>
          </a:prstGeom>
          <a:solidFill>
            <a:schemeClr val="accent1">
              <a:alpha val="38000"/>
            </a:schemeClr>
          </a:solidFill>
          <a:ln w="12700">
            <a:solidFill>
              <a:schemeClr val="accent1">
                <a:alpha val="0"/>
              </a:schemeClr>
            </a:solidFill>
            <a:prstDash val="solid"/>
          </a:ln>
        </p:spPr>
      </p:sp>
      <p:sp>
        <p:nvSpPr>
          <p:cNvPr id="34" name="cell-202"/>
          <p:cNvSpPr/>
          <p:nvPr/>
        </p:nvSpPr>
        <p:spPr>
          <a:xfrm>
            <a:off x="1591056" y="1819656"/>
            <a:ext cx="155448" cy="155448"/>
          </a:xfrm>
          <a:prstGeom prst="rect">
            <a:avLst/>
          </a:prstGeom>
          <a:solidFill>
            <a:schemeClr val="accent1">
              <a:alpha val="40000"/>
            </a:schemeClr>
          </a:solidFill>
          <a:ln w="12700">
            <a:solidFill>
              <a:schemeClr val="accent1">
                <a:alpha val="0"/>
              </a:schemeClr>
            </a:solidFill>
            <a:prstDash val="solid"/>
          </a:ln>
        </p:spPr>
      </p:sp>
      <p:sp>
        <p:nvSpPr>
          <p:cNvPr id="35" name="cell-203"/>
          <p:cNvSpPr/>
          <p:nvPr/>
        </p:nvSpPr>
        <p:spPr>
          <a:xfrm>
            <a:off x="1764792" y="1819656"/>
            <a:ext cx="155448" cy="155448"/>
          </a:xfrm>
          <a:prstGeom prst="rect">
            <a:avLst/>
          </a:prstGeom>
          <a:solidFill>
            <a:schemeClr val="accent1">
              <a:alpha val="49000"/>
            </a:schemeClr>
          </a:solidFill>
          <a:ln w="12700">
            <a:solidFill>
              <a:schemeClr val="accent1">
                <a:alpha val="0"/>
              </a:schemeClr>
            </a:solidFill>
            <a:prstDash val="solid"/>
          </a:ln>
        </p:spPr>
      </p:sp>
      <p:sp>
        <p:nvSpPr>
          <p:cNvPr id="36" name="cell-204"/>
          <p:cNvSpPr/>
          <p:nvPr/>
        </p:nvSpPr>
        <p:spPr>
          <a:xfrm>
            <a:off x="1938528" y="1819656"/>
            <a:ext cx="155448" cy="155448"/>
          </a:xfrm>
          <a:prstGeom prst="rect">
            <a:avLst/>
          </a:prstGeom>
          <a:solidFill>
            <a:schemeClr val="accent1">
              <a:alpha val="54000"/>
            </a:schemeClr>
          </a:solidFill>
          <a:ln w="12700">
            <a:solidFill>
              <a:schemeClr val="accent1">
                <a:alpha val="0"/>
              </a:schemeClr>
            </a:solidFill>
            <a:prstDash val="solid"/>
          </a:ln>
        </p:spPr>
      </p:sp>
      <p:sp>
        <p:nvSpPr>
          <p:cNvPr id="37" name="cell-205"/>
          <p:cNvSpPr/>
          <p:nvPr/>
        </p:nvSpPr>
        <p:spPr>
          <a:xfrm>
            <a:off x="2112264" y="1819656"/>
            <a:ext cx="155448" cy="155448"/>
          </a:xfrm>
          <a:prstGeom prst="rect">
            <a:avLst/>
          </a:prstGeom>
          <a:solidFill>
            <a:schemeClr val="accent1">
              <a:alpha val="48000"/>
            </a:schemeClr>
          </a:solidFill>
          <a:ln w="12700">
            <a:solidFill>
              <a:schemeClr val="accent1">
                <a:alpha val="0"/>
              </a:schemeClr>
            </a:solidFill>
            <a:prstDash val="solid"/>
          </a:ln>
        </p:spPr>
      </p:sp>
      <p:sp>
        <p:nvSpPr>
          <p:cNvPr id="38" name="cell-206"/>
          <p:cNvSpPr/>
          <p:nvPr/>
        </p:nvSpPr>
        <p:spPr>
          <a:xfrm>
            <a:off x="2286000" y="1819656"/>
            <a:ext cx="155448" cy="155448"/>
          </a:xfrm>
          <a:prstGeom prst="rect">
            <a:avLst/>
          </a:prstGeom>
          <a:solidFill>
            <a:schemeClr val="accent1">
              <a:alpha val="34000"/>
            </a:schemeClr>
          </a:solidFill>
          <a:ln w="12700">
            <a:solidFill>
              <a:schemeClr val="accent1">
                <a:alpha val="0"/>
              </a:schemeClr>
            </a:solidFill>
            <a:prstDash val="solid"/>
          </a:ln>
        </p:spPr>
      </p:sp>
      <p:sp>
        <p:nvSpPr>
          <p:cNvPr id="39" name="cell-207"/>
          <p:cNvSpPr/>
          <p:nvPr/>
        </p:nvSpPr>
        <p:spPr>
          <a:xfrm>
            <a:off x="2459736" y="1819656"/>
            <a:ext cx="155448" cy="155448"/>
          </a:xfrm>
          <a:prstGeom prst="rect">
            <a:avLst/>
          </a:prstGeom>
          <a:solidFill>
            <a:schemeClr val="accent1">
              <a:alpha val="21000"/>
            </a:schemeClr>
          </a:solidFill>
          <a:ln w="12700">
            <a:solidFill>
              <a:schemeClr val="accent1">
                <a:alpha val="0"/>
              </a:schemeClr>
            </a:solidFill>
            <a:prstDash val="solid"/>
          </a:ln>
        </p:spPr>
      </p:sp>
      <p:sp>
        <p:nvSpPr>
          <p:cNvPr id="40" name="cell-208"/>
          <p:cNvSpPr/>
          <p:nvPr/>
        </p:nvSpPr>
        <p:spPr>
          <a:xfrm>
            <a:off x="2633472" y="1819656"/>
            <a:ext cx="155448" cy="155448"/>
          </a:xfrm>
          <a:prstGeom prst="rect">
            <a:avLst/>
          </a:prstGeom>
          <a:solidFill>
            <a:schemeClr val="accent1">
              <a:alpha val="19000"/>
            </a:schemeClr>
          </a:solidFill>
          <a:ln w="12700">
            <a:solidFill>
              <a:schemeClr val="accent1">
                <a:alpha val="0"/>
              </a:schemeClr>
            </a:solidFill>
            <a:prstDash val="solid"/>
          </a:ln>
        </p:spPr>
      </p:sp>
      <p:sp>
        <p:nvSpPr>
          <p:cNvPr id="41" name="cell-209"/>
          <p:cNvSpPr/>
          <p:nvPr/>
        </p:nvSpPr>
        <p:spPr>
          <a:xfrm>
            <a:off x="2807208" y="1819656"/>
            <a:ext cx="155448" cy="155448"/>
          </a:xfrm>
          <a:prstGeom prst="rect">
            <a:avLst/>
          </a:prstGeom>
          <a:solidFill>
            <a:schemeClr val="accent1">
              <a:alpha val="33000"/>
            </a:schemeClr>
          </a:solidFill>
          <a:ln w="12700">
            <a:solidFill>
              <a:schemeClr val="accent1">
                <a:alpha val="0"/>
              </a:schemeClr>
            </a:solidFill>
            <a:prstDash val="solid"/>
          </a:ln>
        </p:spPr>
      </p:sp>
      <p:sp>
        <p:nvSpPr>
          <p:cNvPr id="42" name="cell-210"/>
          <p:cNvSpPr/>
          <p:nvPr/>
        </p:nvSpPr>
        <p:spPr>
          <a:xfrm>
            <a:off x="2980944" y="1819656"/>
            <a:ext cx="155448" cy="155448"/>
          </a:xfrm>
          <a:prstGeom prst="rect">
            <a:avLst/>
          </a:prstGeom>
          <a:solidFill>
            <a:schemeClr val="accent1">
              <a:alpha val="54000"/>
            </a:schemeClr>
          </a:solidFill>
          <a:ln w="12700">
            <a:solidFill>
              <a:schemeClr val="accent1">
                <a:alpha val="0"/>
              </a:schemeClr>
            </a:solidFill>
            <a:prstDash val="solid"/>
          </a:ln>
        </p:spPr>
      </p:sp>
      <p:sp>
        <p:nvSpPr>
          <p:cNvPr id="43" name="cell-211"/>
          <p:cNvSpPr/>
          <p:nvPr/>
        </p:nvSpPr>
        <p:spPr>
          <a:xfrm>
            <a:off x="3154680" y="1819656"/>
            <a:ext cx="155448" cy="155448"/>
          </a:xfrm>
          <a:prstGeom prst="rect">
            <a:avLst/>
          </a:prstGeom>
          <a:solidFill>
            <a:schemeClr val="accent1">
              <a:alpha val="71000"/>
            </a:schemeClr>
          </a:solidFill>
          <a:ln w="12700">
            <a:solidFill>
              <a:schemeClr val="accent1">
                <a:alpha val="0"/>
              </a:schemeClr>
            </a:solidFill>
            <a:prstDash val="solid"/>
          </a:ln>
        </p:spPr>
      </p:sp>
      <p:sp>
        <p:nvSpPr>
          <p:cNvPr id="44" name="cell-212"/>
          <p:cNvSpPr/>
          <p:nvPr/>
        </p:nvSpPr>
        <p:spPr>
          <a:xfrm>
            <a:off x="3328416" y="1819656"/>
            <a:ext cx="155448" cy="155448"/>
          </a:xfrm>
          <a:prstGeom prst="rect">
            <a:avLst/>
          </a:prstGeom>
          <a:solidFill>
            <a:schemeClr val="accent1">
              <a:alpha val="74000"/>
            </a:schemeClr>
          </a:solidFill>
          <a:ln w="12700">
            <a:solidFill>
              <a:schemeClr val="accent1">
                <a:alpha val="0"/>
              </a:schemeClr>
            </a:solidFill>
            <a:prstDash val="solid"/>
          </a:ln>
        </p:spPr>
      </p:sp>
      <p:sp>
        <p:nvSpPr>
          <p:cNvPr id="45" name="cell-213"/>
          <p:cNvSpPr/>
          <p:nvPr/>
        </p:nvSpPr>
        <p:spPr>
          <a:xfrm>
            <a:off x="3502152" y="1819656"/>
            <a:ext cx="155448" cy="155448"/>
          </a:xfrm>
          <a:prstGeom prst="rect">
            <a:avLst/>
          </a:prstGeom>
          <a:solidFill>
            <a:schemeClr val="accent1">
              <a:alpha val="66000"/>
            </a:schemeClr>
          </a:solidFill>
          <a:ln w="12700">
            <a:solidFill>
              <a:schemeClr val="accent1">
                <a:alpha val="0"/>
              </a:schemeClr>
            </a:solidFill>
            <a:prstDash val="solid"/>
          </a:ln>
        </p:spPr>
      </p:sp>
      <p:sp>
        <p:nvSpPr>
          <p:cNvPr id="46" name="cell-214"/>
          <p:cNvSpPr/>
          <p:nvPr/>
        </p:nvSpPr>
        <p:spPr>
          <a:xfrm>
            <a:off x="3675888" y="1819656"/>
            <a:ext cx="155448" cy="155448"/>
          </a:xfrm>
          <a:prstGeom prst="rect">
            <a:avLst/>
          </a:prstGeom>
          <a:solidFill>
            <a:schemeClr val="accent1">
              <a:alpha val="54000"/>
            </a:schemeClr>
          </a:solidFill>
          <a:ln w="12700">
            <a:solidFill>
              <a:schemeClr val="accent1">
                <a:alpha val="0"/>
              </a:schemeClr>
            </a:solidFill>
            <a:prstDash val="solid"/>
          </a:ln>
        </p:spPr>
      </p:sp>
      <p:sp>
        <p:nvSpPr>
          <p:cNvPr id="47" name="cell-215"/>
          <p:cNvSpPr/>
          <p:nvPr/>
        </p:nvSpPr>
        <p:spPr>
          <a:xfrm>
            <a:off x="3849624" y="1819656"/>
            <a:ext cx="155448" cy="155448"/>
          </a:xfrm>
          <a:prstGeom prst="rect">
            <a:avLst/>
          </a:prstGeom>
          <a:solidFill>
            <a:schemeClr val="accent1">
              <a:alpha val="50000"/>
            </a:schemeClr>
          </a:solidFill>
          <a:ln w="12700">
            <a:solidFill>
              <a:schemeClr val="accent1">
                <a:alpha val="0"/>
              </a:schemeClr>
            </a:solidFill>
            <a:prstDash val="solid"/>
          </a:ln>
        </p:spPr>
      </p:sp>
      <p:sp>
        <p:nvSpPr>
          <p:cNvPr id="48" name="cell-216"/>
          <p:cNvSpPr/>
          <p:nvPr/>
        </p:nvSpPr>
        <p:spPr>
          <a:xfrm>
            <a:off x="4023360" y="1819656"/>
            <a:ext cx="155448" cy="155448"/>
          </a:xfrm>
          <a:prstGeom prst="rect">
            <a:avLst/>
          </a:prstGeom>
          <a:solidFill>
            <a:schemeClr val="accent1">
              <a:alpha val="57000"/>
            </a:schemeClr>
          </a:solidFill>
          <a:ln w="12700">
            <a:solidFill>
              <a:schemeClr val="accent1">
                <a:alpha val="0"/>
              </a:schemeClr>
            </a:solidFill>
            <a:prstDash val="solid"/>
          </a:ln>
        </p:spPr>
      </p:sp>
      <p:sp>
        <p:nvSpPr>
          <p:cNvPr id="49" name="cell-217"/>
          <p:cNvSpPr/>
          <p:nvPr/>
        </p:nvSpPr>
        <p:spPr>
          <a:xfrm>
            <a:off x="4197096" y="1819656"/>
            <a:ext cx="155448" cy="155448"/>
          </a:xfrm>
          <a:prstGeom prst="rect">
            <a:avLst/>
          </a:prstGeom>
          <a:solidFill>
            <a:schemeClr val="accent1">
              <a:alpha val="68000"/>
            </a:schemeClr>
          </a:solidFill>
          <a:ln w="12700">
            <a:solidFill>
              <a:schemeClr val="accent1">
                <a:alpha val="0"/>
              </a:schemeClr>
            </a:solidFill>
            <a:prstDash val="solid"/>
          </a:ln>
        </p:spPr>
      </p:sp>
      <p:sp>
        <p:nvSpPr>
          <p:cNvPr id="50" name="cell-218"/>
          <p:cNvSpPr/>
          <p:nvPr/>
        </p:nvSpPr>
        <p:spPr>
          <a:xfrm>
            <a:off x="4370832" y="1819656"/>
            <a:ext cx="155448" cy="155448"/>
          </a:xfrm>
          <a:prstGeom prst="rect">
            <a:avLst/>
          </a:prstGeom>
          <a:solidFill>
            <a:schemeClr val="accent1">
              <a:alpha val="72000"/>
            </a:schemeClr>
          </a:solidFill>
          <a:ln w="12700">
            <a:solidFill>
              <a:schemeClr val="accent1">
                <a:alpha val="0"/>
              </a:schemeClr>
            </a:solidFill>
            <a:prstDash val="solid"/>
          </a:ln>
        </p:spPr>
      </p:sp>
      <p:sp>
        <p:nvSpPr>
          <p:cNvPr id="51" name="cell-219"/>
          <p:cNvSpPr/>
          <p:nvPr/>
        </p:nvSpPr>
        <p:spPr>
          <a:xfrm>
            <a:off x="4544568" y="1819656"/>
            <a:ext cx="155448" cy="155448"/>
          </a:xfrm>
          <a:prstGeom prst="rect">
            <a:avLst/>
          </a:prstGeom>
          <a:solidFill>
            <a:schemeClr val="accent1">
              <a:alpha val="63000"/>
            </a:schemeClr>
          </a:solidFill>
          <a:ln w="12700">
            <a:solidFill>
              <a:schemeClr val="accent1">
                <a:alpha val="0"/>
              </a:schemeClr>
            </a:solidFill>
            <a:prstDash val="solid"/>
          </a:ln>
        </p:spPr>
      </p:sp>
      <p:sp>
        <p:nvSpPr>
          <p:cNvPr id="52" name="cell-220"/>
          <p:cNvSpPr/>
          <p:nvPr/>
        </p:nvSpPr>
        <p:spPr>
          <a:xfrm>
            <a:off x="548640" y="1993392"/>
            <a:ext cx="155448" cy="155448"/>
          </a:xfrm>
          <a:prstGeom prst="rect">
            <a:avLst/>
          </a:prstGeom>
          <a:solidFill>
            <a:schemeClr val="accent1">
              <a:alpha val="68000"/>
            </a:schemeClr>
          </a:solidFill>
          <a:ln w="12700">
            <a:solidFill>
              <a:schemeClr val="accent1">
                <a:alpha val="0"/>
              </a:schemeClr>
            </a:solidFill>
            <a:prstDash val="solid"/>
          </a:ln>
        </p:spPr>
      </p:sp>
      <p:sp>
        <p:nvSpPr>
          <p:cNvPr id="53" name="cell-221"/>
          <p:cNvSpPr/>
          <p:nvPr/>
        </p:nvSpPr>
        <p:spPr>
          <a:xfrm>
            <a:off x="722376" y="1993392"/>
            <a:ext cx="155448" cy="155448"/>
          </a:xfrm>
          <a:prstGeom prst="rect">
            <a:avLst/>
          </a:prstGeom>
          <a:solidFill>
            <a:schemeClr val="accent1">
              <a:alpha val="79000"/>
            </a:schemeClr>
          </a:solidFill>
          <a:ln w="12700">
            <a:solidFill>
              <a:schemeClr val="accent1">
                <a:alpha val="0"/>
              </a:schemeClr>
            </a:solidFill>
            <a:prstDash val="solid"/>
          </a:ln>
        </p:spPr>
      </p:sp>
      <p:sp>
        <p:nvSpPr>
          <p:cNvPr id="54" name="cell-222"/>
          <p:cNvSpPr/>
          <p:nvPr/>
        </p:nvSpPr>
        <p:spPr>
          <a:xfrm>
            <a:off x="896112" y="1993392"/>
            <a:ext cx="155448" cy="155448"/>
          </a:xfrm>
          <a:prstGeom prst="rect">
            <a:avLst/>
          </a:prstGeom>
          <a:solidFill>
            <a:schemeClr val="accent1">
              <a:alpha val="76000"/>
            </a:schemeClr>
          </a:solidFill>
          <a:ln w="12700">
            <a:solidFill>
              <a:schemeClr val="accent1">
                <a:alpha val="0"/>
              </a:schemeClr>
            </a:solidFill>
            <a:prstDash val="solid"/>
          </a:ln>
        </p:spPr>
      </p:sp>
      <p:sp>
        <p:nvSpPr>
          <p:cNvPr id="55" name="cell-223"/>
          <p:cNvSpPr/>
          <p:nvPr/>
        </p:nvSpPr>
        <p:spPr>
          <a:xfrm>
            <a:off x="1069848" y="1993392"/>
            <a:ext cx="155448" cy="155448"/>
          </a:xfrm>
          <a:prstGeom prst="rect">
            <a:avLst/>
          </a:prstGeom>
          <a:solidFill>
            <a:schemeClr val="accent1">
              <a:alpha val="63000"/>
            </a:schemeClr>
          </a:solidFill>
          <a:ln w="12700">
            <a:solidFill>
              <a:schemeClr val="accent1">
                <a:alpha val="0"/>
              </a:schemeClr>
            </a:solidFill>
            <a:prstDash val="solid"/>
          </a:ln>
        </p:spPr>
      </p:sp>
      <p:sp>
        <p:nvSpPr>
          <p:cNvPr id="56" name="cell-224"/>
          <p:cNvSpPr/>
          <p:nvPr/>
        </p:nvSpPr>
        <p:spPr>
          <a:xfrm>
            <a:off x="1243584" y="1993392"/>
            <a:ext cx="155448" cy="155448"/>
          </a:xfrm>
          <a:prstGeom prst="rect">
            <a:avLst/>
          </a:prstGeom>
          <a:solidFill>
            <a:schemeClr val="accent1">
              <a:alpha val="51000"/>
            </a:schemeClr>
          </a:solidFill>
          <a:ln w="12700">
            <a:solidFill>
              <a:schemeClr val="accent1">
                <a:alpha val="0"/>
              </a:schemeClr>
            </a:solidFill>
            <a:prstDash val="solid"/>
          </a:ln>
        </p:spPr>
      </p:sp>
      <p:sp>
        <p:nvSpPr>
          <p:cNvPr id="57" name="cell-225"/>
          <p:cNvSpPr/>
          <p:nvPr/>
        </p:nvSpPr>
        <p:spPr>
          <a:xfrm>
            <a:off x="1417320" y="1993392"/>
            <a:ext cx="155448" cy="155448"/>
          </a:xfrm>
          <a:prstGeom prst="rect">
            <a:avLst/>
          </a:prstGeom>
          <a:solidFill>
            <a:schemeClr val="accent1">
              <a:alpha val="48000"/>
            </a:schemeClr>
          </a:solidFill>
          <a:ln w="12700">
            <a:solidFill>
              <a:schemeClr val="accent1">
                <a:alpha val="0"/>
              </a:schemeClr>
            </a:solidFill>
            <a:prstDash val="solid"/>
          </a:ln>
        </p:spPr>
      </p:sp>
      <p:sp>
        <p:nvSpPr>
          <p:cNvPr id="58" name="cell-226"/>
          <p:cNvSpPr/>
          <p:nvPr/>
        </p:nvSpPr>
        <p:spPr>
          <a:xfrm>
            <a:off x="1591056" y="1993392"/>
            <a:ext cx="155448" cy="155448"/>
          </a:xfrm>
          <a:prstGeom prst="rect">
            <a:avLst/>
          </a:prstGeom>
          <a:solidFill>
            <a:schemeClr val="accent1">
              <a:alpha val="56000"/>
            </a:schemeClr>
          </a:solidFill>
          <a:ln w="12700">
            <a:solidFill>
              <a:schemeClr val="accent1">
                <a:alpha val="0"/>
              </a:schemeClr>
            </a:solidFill>
            <a:prstDash val="solid"/>
          </a:ln>
        </p:spPr>
      </p:sp>
      <p:sp>
        <p:nvSpPr>
          <p:cNvPr id="59" name="cell-227"/>
          <p:cNvSpPr/>
          <p:nvPr/>
        </p:nvSpPr>
        <p:spPr>
          <a:xfrm>
            <a:off x="1764792" y="1993392"/>
            <a:ext cx="155448" cy="155448"/>
          </a:xfrm>
          <a:prstGeom prst="rect">
            <a:avLst/>
          </a:prstGeom>
          <a:solidFill>
            <a:schemeClr val="accent1">
              <a:alpha val="65000"/>
            </a:schemeClr>
          </a:solidFill>
          <a:ln w="12700">
            <a:solidFill>
              <a:schemeClr val="accent1">
                <a:alpha val="0"/>
              </a:schemeClr>
            </a:solidFill>
            <a:prstDash val="solid"/>
          </a:ln>
        </p:spPr>
      </p:sp>
      <p:sp>
        <p:nvSpPr>
          <p:cNvPr id="60" name="cell-228"/>
          <p:cNvSpPr/>
          <p:nvPr/>
        </p:nvSpPr>
        <p:spPr>
          <a:xfrm>
            <a:off x="1938528" y="1993392"/>
            <a:ext cx="155448" cy="155448"/>
          </a:xfrm>
          <a:prstGeom prst="rect">
            <a:avLst/>
          </a:prstGeom>
          <a:solidFill>
            <a:schemeClr val="accent1">
              <a:alpha val="64000"/>
            </a:schemeClr>
          </a:solidFill>
          <a:ln w="12700">
            <a:solidFill>
              <a:schemeClr val="accent1">
                <a:alpha val="0"/>
              </a:schemeClr>
            </a:solidFill>
            <a:prstDash val="solid"/>
          </a:ln>
        </p:spPr>
      </p:sp>
      <p:sp>
        <p:nvSpPr>
          <p:cNvPr id="61" name="cell-229"/>
          <p:cNvSpPr/>
          <p:nvPr/>
        </p:nvSpPr>
        <p:spPr>
          <a:xfrm>
            <a:off x="2112264" y="1993392"/>
            <a:ext cx="155448" cy="155448"/>
          </a:xfrm>
          <a:prstGeom prst="rect">
            <a:avLst/>
          </a:prstGeom>
          <a:solidFill>
            <a:schemeClr val="accent1">
              <a:alpha val="51000"/>
            </a:schemeClr>
          </a:solidFill>
          <a:ln w="12700">
            <a:solidFill>
              <a:schemeClr val="accent1">
                <a:alpha val="0"/>
              </a:schemeClr>
            </a:solidFill>
            <a:prstDash val="solid"/>
          </a:ln>
        </p:spPr>
      </p:sp>
      <p:sp>
        <p:nvSpPr>
          <p:cNvPr id="62" name="cell-230"/>
          <p:cNvSpPr/>
          <p:nvPr/>
        </p:nvSpPr>
        <p:spPr>
          <a:xfrm>
            <a:off x="2286000" y="1993392"/>
            <a:ext cx="155448" cy="155448"/>
          </a:xfrm>
          <a:prstGeom prst="rect">
            <a:avLst/>
          </a:prstGeom>
          <a:solidFill>
            <a:schemeClr val="accent1">
              <a:alpha val="31000"/>
            </a:schemeClr>
          </a:solidFill>
          <a:ln w="12700">
            <a:solidFill>
              <a:schemeClr val="accent1">
                <a:alpha val="0"/>
              </a:schemeClr>
            </a:solidFill>
            <a:prstDash val="solid"/>
          </a:ln>
        </p:spPr>
      </p:sp>
      <p:sp>
        <p:nvSpPr>
          <p:cNvPr id="63" name="cell-231"/>
          <p:cNvSpPr/>
          <p:nvPr/>
        </p:nvSpPr>
        <p:spPr>
          <a:xfrm>
            <a:off x="2459736" y="1993392"/>
            <a:ext cx="155448" cy="155448"/>
          </a:xfrm>
          <a:prstGeom prst="rect">
            <a:avLst/>
          </a:prstGeom>
          <a:solidFill>
            <a:schemeClr val="accent1">
              <a:alpha val="17000"/>
            </a:schemeClr>
          </a:solidFill>
          <a:ln w="12700">
            <a:solidFill>
              <a:schemeClr val="accent1">
                <a:alpha val="0"/>
              </a:schemeClr>
            </a:solidFill>
            <a:prstDash val="solid"/>
          </a:ln>
        </p:spPr>
      </p:sp>
      <p:sp>
        <p:nvSpPr>
          <p:cNvPr id="64" name="cell-232"/>
          <p:cNvSpPr/>
          <p:nvPr/>
        </p:nvSpPr>
        <p:spPr>
          <a:xfrm>
            <a:off x="2633472" y="1993392"/>
            <a:ext cx="155448" cy="155448"/>
          </a:xfrm>
          <a:prstGeom prst="rect">
            <a:avLst/>
          </a:prstGeom>
          <a:solidFill>
            <a:schemeClr val="accent1">
              <a:alpha val="17000"/>
            </a:schemeClr>
          </a:solidFill>
          <a:ln w="12700">
            <a:solidFill>
              <a:schemeClr val="accent1">
                <a:alpha val="0"/>
              </a:schemeClr>
            </a:solidFill>
            <a:prstDash val="solid"/>
          </a:ln>
        </p:spPr>
      </p:sp>
      <p:sp>
        <p:nvSpPr>
          <p:cNvPr id="65" name="cell-233"/>
          <p:cNvSpPr/>
          <p:nvPr/>
        </p:nvSpPr>
        <p:spPr>
          <a:xfrm>
            <a:off x="2807208" y="1993392"/>
            <a:ext cx="155448" cy="155448"/>
          </a:xfrm>
          <a:prstGeom prst="rect">
            <a:avLst/>
          </a:prstGeom>
          <a:solidFill>
            <a:schemeClr val="accent1">
              <a:alpha val="31000"/>
            </a:schemeClr>
          </a:solidFill>
          <a:ln w="12700">
            <a:solidFill>
              <a:schemeClr val="accent1">
                <a:alpha val="0"/>
              </a:schemeClr>
            </a:solidFill>
            <a:prstDash val="solid"/>
          </a:ln>
        </p:spPr>
      </p:sp>
      <p:sp>
        <p:nvSpPr>
          <p:cNvPr id="66" name="cell-234"/>
          <p:cNvSpPr/>
          <p:nvPr/>
        </p:nvSpPr>
        <p:spPr>
          <a:xfrm>
            <a:off x="2980944" y="1993392"/>
            <a:ext cx="155448" cy="155448"/>
          </a:xfrm>
          <a:prstGeom prst="rect">
            <a:avLst/>
          </a:prstGeom>
          <a:solidFill>
            <a:schemeClr val="accent1">
              <a:alpha val="50000"/>
            </a:schemeClr>
          </a:solidFill>
          <a:ln w="12700">
            <a:solidFill>
              <a:schemeClr val="accent1">
                <a:alpha val="0"/>
              </a:schemeClr>
            </a:solidFill>
            <a:prstDash val="solid"/>
          </a:ln>
        </p:spPr>
      </p:sp>
      <p:sp>
        <p:nvSpPr>
          <p:cNvPr id="67" name="cell-235"/>
          <p:cNvSpPr/>
          <p:nvPr/>
        </p:nvSpPr>
        <p:spPr>
          <a:xfrm>
            <a:off x="3154680" y="1993392"/>
            <a:ext cx="155448" cy="155448"/>
          </a:xfrm>
          <a:prstGeom prst="rect">
            <a:avLst/>
          </a:prstGeom>
          <a:solidFill>
            <a:schemeClr val="accent1">
              <a:alpha val="61000"/>
            </a:schemeClr>
          </a:solidFill>
          <a:ln w="12700">
            <a:solidFill>
              <a:schemeClr val="accent1">
                <a:alpha val="0"/>
              </a:schemeClr>
            </a:solidFill>
            <a:prstDash val="solid"/>
          </a:ln>
        </p:spPr>
      </p:sp>
      <p:sp>
        <p:nvSpPr>
          <p:cNvPr id="68" name="cell-236"/>
          <p:cNvSpPr/>
          <p:nvPr/>
        </p:nvSpPr>
        <p:spPr>
          <a:xfrm>
            <a:off x="3328416" y="1993392"/>
            <a:ext cx="155448" cy="155448"/>
          </a:xfrm>
          <a:prstGeom prst="rect">
            <a:avLst/>
          </a:prstGeom>
          <a:solidFill>
            <a:schemeClr val="accent1">
              <a:alpha val="60000"/>
            </a:schemeClr>
          </a:solidFill>
          <a:ln w="12700">
            <a:solidFill>
              <a:schemeClr val="accent1">
                <a:alpha val="0"/>
              </a:schemeClr>
            </a:solidFill>
            <a:prstDash val="solid"/>
          </a:ln>
        </p:spPr>
      </p:sp>
      <p:sp>
        <p:nvSpPr>
          <p:cNvPr id="69" name="cell-237"/>
          <p:cNvSpPr/>
          <p:nvPr/>
        </p:nvSpPr>
        <p:spPr>
          <a:xfrm>
            <a:off x="3502152" y="1993392"/>
            <a:ext cx="155448" cy="155448"/>
          </a:xfrm>
          <a:prstGeom prst="rect">
            <a:avLst/>
          </a:prstGeom>
          <a:solidFill>
            <a:schemeClr val="accent1">
              <a:alpha val="51000"/>
            </a:schemeClr>
          </a:solidFill>
          <a:ln w="12700">
            <a:solidFill>
              <a:schemeClr val="accent1">
                <a:alpha val="0"/>
              </a:schemeClr>
            </a:solidFill>
            <a:prstDash val="solid"/>
          </a:ln>
        </p:spPr>
      </p:sp>
      <p:sp>
        <p:nvSpPr>
          <p:cNvPr id="70" name="cell-238"/>
          <p:cNvSpPr/>
          <p:nvPr/>
        </p:nvSpPr>
        <p:spPr>
          <a:xfrm>
            <a:off x="3675888" y="1993392"/>
            <a:ext cx="155448" cy="155448"/>
          </a:xfrm>
          <a:prstGeom prst="rect">
            <a:avLst/>
          </a:prstGeom>
          <a:solidFill>
            <a:schemeClr val="accent1">
              <a:alpha val="46000"/>
            </a:schemeClr>
          </a:solidFill>
          <a:ln w="12700">
            <a:solidFill>
              <a:schemeClr val="accent1">
                <a:alpha val="0"/>
              </a:schemeClr>
            </a:solidFill>
            <a:prstDash val="solid"/>
          </a:ln>
        </p:spPr>
      </p:sp>
      <p:sp>
        <p:nvSpPr>
          <p:cNvPr id="71" name="cell-239"/>
          <p:cNvSpPr/>
          <p:nvPr/>
        </p:nvSpPr>
        <p:spPr>
          <a:xfrm>
            <a:off x="3849624" y="1993392"/>
            <a:ext cx="155448" cy="155448"/>
          </a:xfrm>
          <a:prstGeom prst="rect">
            <a:avLst/>
          </a:prstGeom>
          <a:solidFill>
            <a:schemeClr val="accent1">
              <a:alpha val="51000"/>
            </a:schemeClr>
          </a:solidFill>
          <a:ln w="12700">
            <a:solidFill>
              <a:schemeClr val="accent1">
                <a:alpha val="0"/>
              </a:schemeClr>
            </a:solidFill>
            <a:prstDash val="solid"/>
          </a:ln>
        </p:spPr>
      </p:sp>
      <p:sp>
        <p:nvSpPr>
          <p:cNvPr id="72" name="cell-240"/>
          <p:cNvSpPr/>
          <p:nvPr/>
        </p:nvSpPr>
        <p:spPr>
          <a:xfrm>
            <a:off x="4023360" y="1993392"/>
            <a:ext cx="155448" cy="155448"/>
          </a:xfrm>
          <a:prstGeom prst="rect">
            <a:avLst/>
          </a:prstGeom>
          <a:solidFill>
            <a:schemeClr val="accent1">
              <a:alpha val="65000"/>
            </a:schemeClr>
          </a:solidFill>
          <a:ln w="12700">
            <a:solidFill>
              <a:schemeClr val="accent1">
                <a:alpha val="0"/>
              </a:schemeClr>
            </a:solidFill>
            <a:prstDash val="solid"/>
          </a:ln>
        </p:spPr>
      </p:sp>
      <p:sp>
        <p:nvSpPr>
          <p:cNvPr id="73" name="cell-241"/>
          <p:cNvSpPr/>
          <p:nvPr/>
        </p:nvSpPr>
        <p:spPr>
          <a:xfrm>
            <a:off x="4197096" y="1993392"/>
            <a:ext cx="155448" cy="155448"/>
          </a:xfrm>
          <a:prstGeom prst="rect">
            <a:avLst/>
          </a:prstGeom>
          <a:solidFill>
            <a:schemeClr val="accent1">
              <a:alpha val="79000"/>
            </a:schemeClr>
          </a:solidFill>
          <a:ln w="12700">
            <a:solidFill>
              <a:schemeClr val="accent1">
                <a:alpha val="0"/>
              </a:schemeClr>
            </a:solidFill>
            <a:prstDash val="solid"/>
          </a:ln>
        </p:spPr>
      </p:sp>
      <p:sp>
        <p:nvSpPr>
          <p:cNvPr id="74" name="cell-242"/>
          <p:cNvSpPr/>
          <p:nvPr/>
        </p:nvSpPr>
        <p:spPr>
          <a:xfrm>
            <a:off x="4370832" y="1993392"/>
            <a:ext cx="155448" cy="155448"/>
          </a:xfrm>
          <a:prstGeom prst="rect">
            <a:avLst/>
          </a:prstGeom>
          <a:solidFill>
            <a:schemeClr val="accent1">
              <a:alpha val="81000"/>
            </a:schemeClr>
          </a:solidFill>
          <a:ln w="12700">
            <a:solidFill>
              <a:schemeClr val="accent1">
                <a:alpha val="0"/>
              </a:schemeClr>
            </a:solidFill>
            <a:prstDash val="solid"/>
          </a:ln>
        </p:spPr>
      </p:sp>
      <p:sp>
        <p:nvSpPr>
          <p:cNvPr id="75" name="cell-243"/>
          <p:cNvSpPr/>
          <p:nvPr/>
        </p:nvSpPr>
        <p:spPr>
          <a:xfrm>
            <a:off x="4544568" y="1993392"/>
            <a:ext cx="155448" cy="155448"/>
          </a:xfrm>
          <a:prstGeom prst="rect">
            <a:avLst/>
          </a:prstGeom>
          <a:solidFill>
            <a:schemeClr val="accent1">
              <a:alpha val="69000"/>
            </a:schemeClr>
          </a:solidFill>
          <a:ln w="12700">
            <a:solidFill>
              <a:schemeClr val="accent1">
                <a:alpha val="0"/>
              </a:schemeClr>
            </a:solidFill>
            <a:prstDash val="solid"/>
          </a:ln>
        </p:spPr>
      </p:sp>
      <p:sp>
        <p:nvSpPr>
          <p:cNvPr id="76" name="cell-244"/>
          <p:cNvSpPr/>
          <p:nvPr/>
        </p:nvSpPr>
        <p:spPr>
          <a:xfrm>
            <a:off x="548640" y="2167128"/>
            <a:ext cx="155448" cy="155448"/>
          </a:xfrm>
          <a:prstGeom prst="rect">
            <a:avLst/>
          </a:prstGeom>
          <a:solidFill>
            <a:schemeClr val="accent1">
              <a:alpha val="61000"/>
            </a:schemeClr>
          </a:solidFill>
          <a:ln w="12700">
            <a:solidFill>
              <a:schemeClr val="accent1">
                <a:alpha val="0"/>
              </a:schemeClr>
            </a:solidFill>
            <a:prstDash val="solid"/>
          </a:ln>
        </p:spPr>
      </p:sp>
      <p:sp>
        <p:nvSpPr>
          <p:cNvPr id="77" name="cell-245"/>
          <p:cNvSpPr/>
          <p:nvPr/>
        </p:nvSpPr>
        <p:spPr>
          <a:xfrm>
            <a:off x="722376" y="2167128"/>
            <a:ext cx="155448" cy="155448"/>
          </a:xfrm>
          <a:prstGeom prst="rect">
            <a:avLst/>
          </a:prstGeom>
          <a:solidFill>
            <a:schemeClr val="accent1">
              <a:alpha val="69000"/>
            </a:schemeClr>
          </a:solidFill>
          <a:ln w="12700">
            <a:solidFill>
              <a:schemeClr val="accent1">
                <a:alpha val="0"/>
              </a:schemeClr>
            </a:solidFill>
            <a:prstDash val="solid"/>
          </a:ln>
        </p:spPr>
      </p:sp>
      <p:sp>
        <p:nvSpPr>
          <p:cNvPr id="78" name="cell-246"/>
          <p:cNvSpPr/>
          <p:nvPr/>
        </p:nvSpPr>
        <p:spPr>
          <a:xfrm>
            <a:off x="896112" y="2167128"/>
            <a:ext cx="155448" cy="155448"/>
          </a:xfrm>
          <a:prstGeom prst="rect">
            <a:avLst/>
          </a:prstGeom>
          <a:solidFill>
            <a:schemeClr val="accent1">
              <a:alpha val="64000"/>
            </a:schemeClr>
          </a:solidFill>
          <a:ln w="12700">
            <a:solidFill>
              <a:schemeClr val="accent1">
                <a:alpha val="0"/>
              </a:schemeClr>
            </a:solidFill>
            <a:prstDash val="solid"/>
          </a:ln>
        </p:spPr>
      </p:sp>
      <p:sp>
        <p:nvSpPr>
          <p:cNvPr id="79" name="cell-247"/>
          <p:cNvSpPr/>
          <p:nvPr/>
        </p:nvSpPr>
        <p:spPr>
          <a:xfrm>
            <a:off x="1069848" y="2167128"/>
            <a:ext cx="155448" cy="155448"/>
          </a:xfrm>
          <a:prstGeom prst="rect">
            <a:avLst/>
          </a:prstGeom>
          <a:solidFill>
            <a:schemeClr val="accent1">
              <a:alpha val="53000"/>
            </a:schemeClr>
          </a:solidFill>
          <a:ln w="12700">
            <a:solidFill>
              <a:schemeClr val="accent1">
                <a:alpha val="0"/>
              </a:schemeClr>
            </a:solidFill>
            <a:prstDash val="solid"/>
          </a:ln>
        </p:spPr>
      </p:sp>
      <p:sp>
        <p:nvSpPr>
          <p:cNvPr id="80" name="cell-248"/>
          <p:cNvSpPr/>
          <p:nvPr/>
        </p:nvSpPr>
        <p:spPr>
          <a:xfrm>
            <a:off x="1243584" y="2167128"/>
            <a:ext cx="155448" cy="155448"/>
          </a:xfrm>
          <a:prstGeom prst="rect">
            <a:avLst/>
          </a:prstGeom>
          <a:solidFill>
            <a:schemeClr val="accent1">
              <a:alpha val="49000"/>
            </a:schemeClr>
          </a:solidFill>
          <a:ln w="12700">
            <a:solidFill>
              <a:schemeClr val="accent1">
                <a:alpha val="0"/>
              </a:schemeClr>
            </a:solidFill>
            <a:prstDash val="solid"/>
          </a:ln>
        </p:spPr>
      </p:sp>
      <p:sp>
        <p:nvSpPr>
          <p:cNvPr id="81" name="cell-249"/>
          <p:cNvSpPr/>
          <p:nvPr/>
        </p:nvSpPr>
        <p:spPr>
          <a:xfrm>
            <a:off x="1417320" y="2167128"/>
            <a:ext cx="155448" cy="155448"/>
          </a:xfrm>
          <a:prstGeom prst="rect">
            <a:avLst/>
          </a:prstGeom>
          <a:solidFill>
            <a:schemeClr val="accent1">
              <a:alpha val="56000"/>
            </a:schemeClr>
          </a:solidFill>
          <a:ln w="12700">
            <a:solidFill>
              <a:schemeClr val="accent1">
                <a:alpha val="0"/>
              </a:schemeClr>
            </a:solidFill>
            <a:prstDash val="solid"/>
          </a:ln>
        </p:spPr>
      </p:sp>
      <p:sp>
        <p:nvSpPr>
          <p:cNvPr id="82" name="cell-250"/>
          <p:cNvSpPr/>
          <p:nvPr/>
        </p:nvSpPr>
        <p:spPr>
          <a:xfrm>
            <a:off x="1591056" y="2167128"/>
            <a:ext cx="155448" cy="155448"/>
          </a:xfrm>
          <a:prstGeom prst="rect">
            <a:avLst/>
          </a:prstGeom>
          <a:solidFill>
            <a:schemeClr val="accent1">
              <a:alpha val="69000"/>
            </a:schemeClr>
          </a:solidFill>
          <a:ln w="12700">
            <a:solidFill>
              <a:schemeClr val="accent1">
                <a:alpha val="0"/>
              </a:schemeClr>
            </a:solidFill>
            <a:prstDash val="solid"/>
          </a:ln>
        </p:spPr>
      </p:sp>
      <p:sp>
        <p:nvSpPr>
          <p:cNvPr id="83" name="cell-251"/>
          <p:cNvSpPr/>
          <p:nvPr/>
        </p:nvSpPr>
        <p:spPr>
          <a:xfrm>
            <a:off x="1764792" y="2167128"/>
            <a:ext cx="155448" cy="155448"/>
          </a:xfrm>
          <a:prstGeom prst="rect">
            <a:avLst/>
          </a:prstGeom>
          <a:solidFill>
            <a:schemeClr val="accent1">
              <a:alpha val="78000"/>
            </a:schemeClr>
          </a:solidFill>
          <a:ln w="12700">
            <a:solidFill>
              <a:schemeClr val="accent1">
                <a:alpha val="0"/>
              </a:schemeClr>
            </a:solidFill>
            <a:prstDash val="solid"/>
          </a:ln>
        </p:spPr>
      </p:sp>
      <p:sp>
        <p:nvSpPr>
          <p:cNvPr id="84" name="cell-252"/>
          <p:cNvSpPr/>
          <p:nvPr/>
        </p:nvSpPr>
        <p:spPr>
          <a:xfrm>
            <a:off x="1938528" y="2167128"/>
            <a:ext cx="155448" cy="155448"/>
          </a:xfrm>
          <a:prstGeom prst="rect">
            <a:avLst/>
          </a:prstGeom>
          <a:solidFill>
            <a:schemeClr val="accent1">
              <a:alpha val="73000"/>
            </a:schemeClr>
          </a:solidFill>
          <a:ln w="12700">
            <a:solidFill>
              <a:schemeClr val="accent1">
                <a:alpha val="0"/>
              </a:schemeClr>
            </a:solidFill>
            <a:prstDash val="solid"/>
          </a:ln>
        </p:spPr>
      </p:sp>
      <p:sp>
        <p:nvSpPr>
          <p:cNvPr id="85" name="cell-253"/>
          <p:cNvSpPr/>
          <p:nvPr/>
        </p:nvSpPr>
        <p:spPr>
          <a:xfrm>
            <a:off x="2112264" y="2167128"/>
            <a:ext cx="155448" cy="155448"/>
          </a:xfrm>
          <a:prstGeom prst="rect">
            <a:avLst/>
          </a:prstGeom>
          <a:solidFill>
            <a:schemeClr val="accent1">
              <a:alpha val="55000"/>
            </a:schemeClr>
          </a:solidFill>
          <a:ln w="12700">
            <a:solidFill>
              <a:schemeClr val="accent1">
                <a:alpha val="0"/>
              </a:schemeClr>
            </a:solidFill>
            <a:prstDash val="solid"/>
          </a:ln>
        </p:spPr>
      </p:sp>
      <p:sp>
        <p:nvSpPr>
          <p:cNvPr id="86" name="cell-254"/>
          <p:cNvSpPr/>
          <p:nvPr/>
        </p:nvSpPr>
        <p:spPr>
          <a:xfrm>
            <a:off x="2286000" y="2167128"/>
            <a:ext cx="155448" cy="155448"/>
          </a:xfrm>
          <a:prstGeom prst="rect">
            <a:avLst/>
          </a:prstGeom>
          <a:solidFill>
            <a:schemeClr val="accent1">
              <a:alpha val="34000"/>
            </a:schemeClr>
          </a:solidFill>
          <a:ln w="12700">
            <a:solidFill>
              <a:schemeClr val="accent1">
                <a:alpha val="0"/>
              </a:schemeClr>
            </a:solidFill>
            <a:prstDash val="solid"/>
          </a:ln>
        </p:spPr>
      </p:sp>
      <p:sp>
        <p:nvSpPr>
          <p:cNvPr id="87" name="cell-255"/>
          <p:cNvSpPr/>
          <p:nvPr/>
        </p:nvSpPr>
        <p:spPr>
          <a:xfrm>
            <a:off x="2459736" y="2167128"/>
            <a:ext cx="155448" cy="155448"/>
          </a:xfrm>
          <a:prstGeom prst="rect">
            <a:avLst/>
          </a:prstGeom>
          <a:solidFill>
            <a:schemeClr val="accent1">
              <a:alpha val="21000"/>
            </a:schemeClr>
          </a:solidFill>
          <a:ln w="12700">
            <a:solidFill>
              <a:schemeClr val="accent1">
                <a:alpha val="0"/>
              </a:schemeClr>
            </a:solidFill>
            <a:prstDash val="solid"/>
          </a:ln>
        </p:spPr>
      </p:sp>
      <p:sp>
        <p:nvSpPr>
          <p:cNvPr id="88" name="cell-256"/>
          <p:cNvSpPr/>
          <p:nvPr/>
        </p:nvSpPr>
        <p:spPr>
          <a:xfrm>
            <a:off x="2633472" y="2167128"/>
            <a:ext cx="155448" cy="155448"/>
          </a:xfrm>
          <a:prstGeom prst="rect">
            <a:avLst/>
          </a:prstGeom>
          <a:solidFill>
            <a:schemeClr val="accent1">
              <a:alpha val="23000"/>
            </a:schemeClr>
          </a:solidFill>
          <a:ln w="12700">
            <a:solidFill>
              <a:schemeClr val="accent1">
                <a:alpha val="0"/>
              </a:schemeClr>
            </a:solidFill>
            <a:prstDash val="solid"/>
          </a:ln>
        </p:spPr>
      </p:sp>
      <p:sp>
        <p:nvSpPr>
          <p:cNvPr id="89" name="cell-257"/>
          <p:cNvSpPr/>
          <p:nvPr/>
        </p:nvSpPr>
        <p:spPr>
          <a:xfrm>
            <a:off x="2807208" y="2167128"/>
            <a:ext cx="155448" cy="155448"/>
          </a:xfrm>
          <a:prstGeom prst="rect">
            <a:avLst/>
          </a:prstGeom>
          <a:solidFill>
            <a:schemeClr val="accent1">
              <a:alpha val="36000"/>
            </a:schemeClr>
          </a:solidFill>
          <a:ln w="12700">
            <a:solidFill>
              <a:schemeClr val="accent1">
                <a:alpha val="0"/>
              </a:schemeClr>
            </a:solidFill>
            <a:prstDash val="solid"/>
          </a:ln>
        </p:spPr>
      </p:sp>
      <p:sp>
        <p:nvSpPr>
          <p:cNvPr id="90" name="cell-258"/>
          <p:cNvSpPr/>
          <p:nvPr/>
        </p:nvSpPr>
        <p:spPr>
          <a:xfrm>
            <a:off x="2980944" y="2167128"/>
            <a:ext cx="155448" cy="155448"/>
          </a:xfrm>
          <a:prstGeom prst="rect">
            <a:avLst/>
          </a:prstGeom>
          <a:solidFill>
            <a:schemeClr val="accent1">
              <a:alpha val="48000"/>
            </a:schemeClr>
          </a:solidFill>
          <a:ln w="12700">
            <a:solidFill>
              <a:schemeClr val="accent1">
                <a:alpha val="0"/>
              </a:schemeClr>
            </a:solidFill>
            <a:prstDash val="solid"/>
          </a:ln>
        </p:spPr>
      </p:sp>
      <p:sp>
        <p:nvSpPr>
          <p:cNvPr id="91" name="cell-259"/>
          <p:cNvSpPr/>
          <p:nvPr/>
        </p:nvSpPr>
        <p:spPr>
          <a:xfrm>
            <a:off x="3154680" y="2167128"/>
            <a:ext cx="155448" cy="155448"/>
          </a:xfrm>
          <a:prstGeom prst="rect">
            <a:avLst/>
          </a:prstGeom>
          <a:solidFill>
            <a:schemeClr val="accent1">
              <a:alpha val="52000"/>
            </a:schemeClr>
          </a:solidFill>
          <a:ln w="12700">
            <a:solidFill>
              <a:schemeClr val="accent1">
                <a:alpha val="0"/>
              </a:schemeClr>
            </a:solidFill>
            <a:prstDash val="solid"/>
          </a:ln>
        </p:spPr>
      </p:sp>
      <p:sp>
        <p:nvSpPr>
          <p:cNvPr id="92" name="cell-260"/>
          <p:cNvSpPr/>
          <p:nvPr/>
        </p:nvSpPr>
        <p:spPr>
          <a:xfrm>
            <a:off x="3328416" y="2167128"/>
            <a:ext cx="155448" cy="155448"/>
          </a:xfrm>
          <a:prstGeom prst="rect">
            <a:avLst/>
          </a:prstGeom>
          <a:solidFill>
            <a:schemeClr val="accent1">
              <a:alpha val="45000"/>
            </a:schemeClr>
          </a:solidFill>
          <a:ln w="12700">
            <a:solidFill>
              <a:schemeClr val="accent1">
                <a:alpha val="0"/>
              </a:schemeClr>
            </a:solidFill>
            <a:prstDash val="solid"/>
          </a:ln>
        </p:spPr>
      </p:sp>
      <p:sp>
        <p:nvSpPr>
          <p:cNvPr id="93" name="cell-261"/>
          <p:cNvSpPr/>
          <p:nvPr/>
        </p:nvSpPr>
        <p:spPr>
          <a:xfrm>
            <a:off x="3502152" y="2167128"/>
            <a:ext cx="155448" cy="155448"/>
          </a:xfrm>
          <a:prstGeom prst="rect">
            <a:avLst/>
          </a:prstGeom>
          <a:solidFill>
            <a:schemeClr val="accent1">
              <a:alpha val="36000"/>
            </a:schemeClr>
          </a:solidFill>
          <a:ln w="12700">
            <a:solidFill>
              <a:schemeClr val="accent1">
                <a:alpha val="0"/>
              </a:schemeClr>
            </a:solidFill>
            <a:prstDash val="solid"/>
          </a:ln>
        </p:spPr>
      </p:sp>
      <p:sp>
        <p:nvSpPr>
          <p:cNvPr id="94" name="cell-262"/>
          <p:cNvSpPr/>
          <p:nvPr/>
        </p:nvSpPr>
        <p:spPr>
          <a:xfrm>
            <a:off x="3675888" y="2167128"/>
            <a:ext cx="155448" cy="155448"/>
          </a:xfrm>
          <a:prstGeom prst="rect">
            <a:avLst/>
          </a:prstGeom>
          <a:solidFill>
            <a:schemeClr val="accent1">
              <a:alpha val="35000"/>
            </a:schemeClr>
          </a:solidFill>
          <a:ln w="12700">
            <a:solidFill>
              <a:schemeClr val="accent1">
                <a:alpha val="0"/>
              </a:schemeClr>
            </a:solidFill>
            <a:prstDash val="solid"/>
          </a:ln>
        </p:spPr>
      </p:sp>
      <p:sp>
        <p:nvSpPr>
          <p:cNvPr id="95" name="cell-263"/>
          <p:cNvSpPr/>
          <p:nvPr/>
        </p:nvSpPr>
        <p:spPr>
          <a:xfrm>
            <a:off x="3849624" y="2167128"/>
            <a:ext cx="155448" cy="155448"/>
          </a:xfrm>
          <a:prstGeom prst="rect">
            <a:avLst/>
          </a:prstGeom>
          <a:solidFill>
            <a:schemeClr val="accent1">
              <a:alpha val="47000"/>
            </a:schemeClr>
          </a:solidFill>
          <a:ln w="12700">
            <a:solidFill>
              <a:schemeClr val="accent1">
                <a:alpha val="0"/>
              </a:schemeClr>
            </a:solidFill>
            <a:prstDash val="solid"/>
          </a:ln>
        </p:spPr>
      </p:sp>
      <p:sp>
        <p:nvSpPr>
          <p:cNvPr id="96" name="cell-264"/>
          <p:cNvSpPr/>
          <p:nvPr/>
        </p:nvSpPr>
        <p:spPr>
          <a:xfrm>
            <a:off x="4023360" y="2167128"/>
            <a:ext cx="155448" cy="155448"/>
          </a:xfrm>
          <a:prstGeom prst="rect">
            <a:avLst/>
          </a:prstGeom>
          <a:solidFill>
            <a:schemeClr val="accent1">
              <a:alpha val="67000"/>
            </a:schemeClr>
          </a:solidFill>
          <a:ln w="12700">
            <a:solidFill>
              <a:schemeClr val="accent1">
                <a:alpha val="0"/>
              </a:schemeClr>
            </a:solidFill>
            <a:prstDash val="solid"/>
          </a:ln>
        </p:spPr>
      </p:sp>
      <p:sp>
        <p:nvSpPr>
          <p:cNvPr id="97" name="cell-265"/>
          <p:cNvSpPr/>
          <p:nvPr/>
        </p:nvSpPr>
        <p:spPr>
          <a:xfrm>
            <a:off x="4197096" y="2167128"/>
            <a:ext cx="155448" cy="155448"/>
          </a:xfrm>
          <a:prstGeom prst="rect">
            <a:avLst/>
          </a:prstGeom>
          <a:solidFill>
            <a:schemeClr val="accent1">
              <a:alpha val="82000"/>
            </a:schemeClr>
          </a:solidFill>
          <a:ln w="12700">
            <a:solidFill>
              <a:schemeClr val="accent1">
                <a:alpha val="0"/>
              </a:schemeClr>
            </a:solidFill>
            <a:prstDash val="solid"/>
          </a:ln>
        </p:spPr>
      </p:sp>
      <p:sp>
        <p:nvSpPr>
          <p:cNvPr id="98" name="cell-266"/>
          <p:cNvSpPr/>
          <p:nvPr/>
        </p:nvSpPr>
        <p:spPr>
          <a:xfrm>
            <a:off x="4370832" y="2167128"/>
            <a:ext cx="155448" cy="155448"/>
          </a:xfrm>
          <a:prstGeom prst="rect">
            <a:avLst/>
          </a:prstGeom>
          <a:solidFill>
            <a:schemeClr val="accent1">
              <a:alpha val="83000"/>
            </a:schemeClr>
          </a:solidFill>
          <a:ln w="12700">
            <a:solidFill>
              <a:schemeClr val="accent1">
                <a:alpha val="0"/>
              </a:schemeClr>
            </a:solidFill>
            <a:prstDash val="solid"/>
          </a:ln>
        </p:spPr>
      </p:sp>
      <p:sp>
        <p:nvSpPr>
          <p:cNvPr id="99" name="cell-267"/>
          <p:cNvSpPr/>
          <p:nvPr/>
        </p:nvSpPr>
        <p:spPr>
          <a:xfrm>
            <a:off x="4544568" y="2167128"/>
            <a:ext cx="155448" cy="155448"/>
          </a:xfrm>
          <a:prstGeom prst="rect">
            <a:avLst/>
          </a:prstGeom>
          <a:solidFill>
            <a:schemeClr val="accent1">
              <a:alpha val="70000"/>
            </a:schemeClr>
          </a:solidFill>
          <a:ln w="12700">
            <a:solidFill>
              <a:schemeClr val="accent1">
                <a:alpha val="0"/>
              </a:schemeClr>
            </a:solidFill>
            <a:prstDash val="solid"/>
          </a:ln>
        </p:spPr>
      </p:sp>
      <p:sp>
        <p:nvSpPr>
          <p:cNvPr id="100" name="cell-268"/>
          <p:cNvSpPr/>
          <p:nvPr/>
        </p:nvSpPr>
        <p:spPr>
          <a:xfrm>
            <a:off x="548640" y="2340864"/>
            <a:ext cx="155448" cy="155448"/>
          </a:xfrm>
          <a:prstGeom prst="rect">
            <a:avLst/>
          </a:prstGeom>
          <a:solidFill>
            <a:schemeClr val="accent1">
              <a:alpha val="54000"/>
            </a:schemeClr>
          </a:solidFill>
          <a:ln w="12700">
            <a:solidFill>
              <a:schemeClr val="accent1">
                <a:alpha val="0"/>
              </a:schemeClr>
            </a:solidFill>
            <a:prstDash val="solid"/>
          </a:ln>
        </p:spPr>
      </p:sp>
      <p:sp>
        <p:nvSpPr>
          <p:cNvPr id="101" name="cell-269"/>
          <p:cNvSpPr/>
          <p:nvPr/>
        </p:nvSpPr>
        <p:spPr>
          <a:xfrm>
            <a:off x="722376" y="2340864"/>
            <a:ext cx="155448" cy="155448"/>
          </a:xfrm>
          <a:prstGeom prst="rect">
            <a:avLst/>
          </a:prstGeom>
          <a:solidFill>
            <a:schemeClr val="accent1">
              <a:alpha val="55000"/>
            </a:schemeClr>
          </a:solidFill>
          <a:ln w="12700">
            <a:solidFill>
              <a:schemeClr val="accent1">
                <a:alpha val="0"/>
              </a:schemeClr>
            </a:solidFill>
            <a:prstDash val="solid"/>
          </a:ln>
        </p:spPr>
      </p:sp>
      <p:sp>
        <p:nvSpPr>
          <p:cNvPr id="102" name="cell-270"/>
          <p:cNvSpPr/>
          <p:nvPr/>
        </p:nvSpPr>
        <p:spPr>
          <a:xfrm>
            <a:off x="896112" y="2340864"/>
            <a:ext cx="155448" cy="155448"/>
          </a:xfrm>
          <a:prstGeom prst="rect">
            <a:avLst/>
          </a:prstGeom>
          <a:solidFill>
            <a:schemeClr val="accent1">
              <a:alpha val="47000"/>
            </a:schemeClr>
          </a:solidFill>
          <a:ln w="12700">
            <a:solidFill>
              <a:schemeClr val="accent1">
                <a:alpha val="0"/>
              </a:schemeClr>
            </a:solidFill>
            <a:prstDash val="solid"/>
          </a:ln>
        </p:spPr>
      </p:sp>
      <p:sp>
        <p:nvSpPr>
          <p:cNvPr id="103" name="cell-271"/>
          <p:cNvSpPr/>
          <p:nvPr/>
        </p:nvSpPr>
        <p:spPr>
          <a:xfrm>
            <a:off x="1069848" y="2340864"/>
            <a:ext cx="155448" cy="155448"/>
          </a:xfrm>
          <a:prstGeom prst="rect">
            <a:avLst/>
          </a:prstGeom>
          <a:solidFill>
            <a:schemeClr val="accent1">
              <a:alpha val="41000"/>
            </a:schemeClr>
          </a:solidFill>
          <a:ln w="12700">
            <a:solidFill>
              <a:schemeClr val="accent1">
                <a:alpha val="0"/>
              </a:schemeClr>
            </a:solidFill>
            <a:prstDash val="solid"/>
          </a:ln>
        </p:spPr>
      </p:sp>
      <p:sp>
        <p:nvSpPr>
          <p:cNvPr id="104" name="cell-272"/>
          <p:cNvSpPr/>
          <p:nvPr/>
        </p:nvSpPr>
        <p:spPr>
          <a:xfrm>
            <a:off x="1243584" y="2340864"/>
            <a:ext cx="155448" cy="155448"/>
          </a:xfrm>
          <a:prstGeom prst="rect">
            <a:avLst/>
          </a:prstGeom>
          <a:solidFill>
            <a:schemeClr val="accent1">
              <a:alpha val="44000"/>
            </a:schemeClr>
          </a:solidFill>
          <a:ln w="12700">
            <a:solidFill>
              <a:schemeClr val="accent1">
                <a:alpha val="0"/>
              </a:schemeClr>
            </a:solidFill>
            <a:prstDash val="solid"/>
          </a:ln>
        </p:spPr>
      </p:sp>
      <p:sp>
        <p:nvSpPr>
          <p:cNvPr id="105" name="cell-273"/>
          <p:cNvSpPr/>
          <p:nvPr/>
        </p:nvSpPr>
        <p:spPr>
          <a:xfrm>
            <a:off x="1417320" y="2340864"/>
            <a:ext cx="155448" cy="155448"/>
          </a:xfrm>
          <a:prstGeom prst="rect">
            <a:avLst/>
          </a:prstGeom>
          <a:solidFill>
            <a:schemeClr val="accent1">
              <a:alpha val="58000"/>
            </a:schemeClr>
          </a:solidFill>
          <a:ln w="12700">
            <a:solidFill>
              <a:schemeClr val="accent1">
                <a:alpha val="0"/>
              </a:schemeClr>
            </a:solidFill>
            <a:prstDash val="solid"/>
          </a:ln>
        </p:spPr>
      </p:sp>
      <p:sp>
        <p:nvSpPr>
          <p:cNvPr id="106" name="cell-274"/>
          <p:cNvSpPr/>
          <p:nvPr/>
        </p:nvSpPr>
        <p:spPr>
          <a:xfrm>
            <a:off x="1591056" y="2340864"/>
            <a:ext cx="155448" cy="155448"/>
          </a:xfrm>
          <a:prstGeom prst="rect">
            <a:avLst/>
          </a:prstGeom>
          <a:solidFill>
            <a:schemeClr val="accent1">
              <a:alpha val="76000"/>
            </a:schemeClr>
          </a:solidFill>
          <a:ln w="12700">
            <a:solidFill>
              <a:schemeClr val="accent1">
                <a:alpha val="0"/>
              </a:schemeClr>
            </a:solidFill>
            <a:prstDash val="solid"/>
          </a:ln>
        </p:spPr>
      </p:sp>
      <p:sp>
        <p:nvSpPr>
          <p:cNvPr id="107" name="cell-275"/>
          <p:cNvSpPr/>
          <p:nvPr/>
        </p:nvSpPr>
        <p:spPr>
          <a:xfrm>
            <a:off x="1764792" y="2340864"/>
            <a:ext cx="155448" cy="155448"/>
          </a:xfrm>
          <a:prstGeom prst="rect">
            <a:avLst/>
          </a:prstGeom>
          <a:solidFill>
            <a:schemeClr val="accent1">
              <a:alpha val="84000"/>
            </a:schemeClr>
          </a:solidFill>
          <a:ln w="12700">
            <a:solidFill>
              <a:schemeClr val="accent1">
                <a:alpha val="0"/>
              </a:schemeClr>
            </a:solidFill>
            <a:prstDash val="solid"/>
          </a:ln>
        </p:spPr>
      </p:sp>
      <p:sp>
        <p:nvSpPr>
          <p:cNvPr id="108" name="cell-276"/>
          <p:cNvSpPr/>
          <p:nvPr/>
        </p:nvSpPr>
        <p:spPr>
          <a:xfrm>
            <a:off x="1938528" y="2340864"/>
            <a:ext cx="155448" cy="155448"/>
          </a:xfrm>
          <a:prstGeom prst="rect">
            <a:avLst/>
          </a:prstGeom>
          <a:solidFill>
            <a:schemeClr val="accent1">
              <a:alpha val="78000"/>
            </a:schemeClr>
          </a:solidFill>
          <a:ln w="12700">
            <a:solidFill>
              <a:schemeClr val="accent1">
                <a:alpha val="0"/>
              </a:schemeClr>
            </a:solidFill>
            <a:prstDash val="solid"/>
          </a:ln>
        </p:spPr>
      </p:sp>
      <p:sp>
        <p:nvSpPr>
          <p:cNvPr id="109" name="cell-277"/>
          <p:cNvSpPr/>
          <p:nvPr/>
        </p:nvSpPr>
        <p:spPr>
          <a:xfrm>
            <a:off x="2112264" y="2340864"/>
            <a:ext cx="155448" cy="155448"/>
          </a:xfrm>
          <a:prstGeom prst="rect">
            <a:avLst/>
          </a:prstGeom>
          <a:solidFill>
            <a:schemeClr val="accent1">
              <a:alpha val="59000"/>
            </a:schemeClr>
          </a:solidFill>
          <a:ln w="12700">
            <a:solidFill>
              <a:schemeClr val="accent1">
                <a:alpha val="0"/>
              </a:schemeClr>
            </a:solidFill>
            <a:prstDash val="solid"/>
          </a:ln>
        </p:spPr>
      </p:sp>
      <p:sp>
        <p:nvSpPr>
          <p:cNvPr id="110" name="cell-278"/>
          <p:cNvSpPr/>
          <p:nvPr/>
        </p:nvSpPr>
        <p:spPr>
          <a:xfrm>
            <a:off x="2286000" y="2340864"/>
            <a:ext cx="155448" cy="155448"/>
          </a:xfrm>
          <a:prstGeom prst="rect">
            <a:avLst/>
          </a:prstGeom>
          <a:solidFill>
            <a:schemeClr val="accent1">
              <a:alpha val="40000"/>
            </a:schemeClr>
          </a:solidFill>
          <a:ln w="12700">
            <a:solidFill>
              <a:schemeClr val="accent1">
                <a:alpha val="0"/>
              </a:schemeClr>
            </a:solidFill>
            <a:prstDash val="solid"/>
          </a:ln>
        </p:spPr>
      </p:sp>
      <p:sp>
        <p:nvSpPr>
          <p:cNvPr id="111" name="cell-279"/>
          <p:cNvSpPr/>
          <p:nvPr/>
        </p:nvSpPr>
        <p:spPr>
          <a:xfrm>
            <a:off x="2459736" y="2340864"/>
            <a:ext cx="155448" cy="155448"/>
          </a:xfrm>
          <a:prstGeom prst="rect">
            <a:avLst/>
          </a:prstGeom>
          <a:solidFill>
            <a:schemeClr val="accent1">
              <a:alpha val="32000"/>
            </a:schemeClr>
          </a:solidFill>
          <a:ln w="12700">
            <a:solidFill>
              <a:schemeClr val="accent1">
                <a:alpha val="0"/>
              </a:schemeClr>
            </a:solidFill>
            <a:prstDash val="solid"/>
          </a:ln>
        </p:spPr>
      </p:sp>
      <p:sp>
        <p:nvSpPr>
          <p:cNvPr id="112" name="cell-280"/>
          <p:cNvSpPr/>
          <p:nvPr/>
        </p:nvSpPr>
        <p:spPr>
          <a:xfrm>
            <a:off x="2633472" y="2340864"/>
            <a:ext cx="155448" cy="155448"/>
          </a:xfrm>
          <a:prstGeom prst="rect">
            <a:avLst/>
          </a:prstGeom>
          <a:solidFill>
            <a:schemeClr val="accent1">
              <a:alpha val="36000"/>
            </a:schemeClr>
          </a:solidFill>
          <a:ln w="12700">
            <a:solidFill>
              <a:schemeClr val="accent1">
                <a:alpha val="0"/>
              </a:schemeClr>
            </a:solidFill>
            <a:prstDash val="solid"/>
          </a:ln>
        </p:spPr>
      </p:sp>
      <p:sp>
        <p:nvSpPr>
          <p:cNvPr id="113" name="cell-281"/>
          <p:cNvSpPr/>
          <p:nvPr/>
        </p:nvSpPr>
        <p:spPr>
          <a:xfrm>
            <a:off x="2807208" y="2340864"/>
            <a:ext cx="155448" cy="155448"/>
          </a:xfrm>
          <a:prstGeom prst="rect">
            <a:avLst/>
          </a:prstGeom>
          <a:solidFill>
            <a:schemeClr val="accent1">
              <a:alpha val="46000"/>
            </a:schemeClr>
          </a:solidFill>
          <a:ln w="12700">
            <a:solidFill>
              <a:schemeClr val="accent1">
                <a:alpha val="0"/>
              </a:schemeClr>
            </a:solidFill>
            <a:prstDash val="solid"/>
          </a:ln>
        </p:spPr>
      </p:sp>
      <p:sp>
        <p:nvSpPr>
          <p:cNvPr id="114" name="cell-282"/>
          <p:cNvSpPr/>
          <p:nvPr/>
        </p:nvSpPr>
        <p:spPr>
          <a:xfrm>
            <a:off x="2980944" y="2340864"/>
            <a:ext cx="155448" cy="155448"/>
          </a:xfrm>
          <a:prstGeom prst="rect">
            <a:avLst/>
          </a:prstGeom>
          <a:solidFill>
            <a:schemeClr val="accent1">
              <a:alpha val="51000"/>
            </a:schemeClr>
          </a:solidFill>
          <a:ln w="12700">
            <a:solidFill>
              <a:schemeClr val="accent1">
                <a:alpha val="0"/>
              </a:schemeClr>
            </a:solidFill>
            <a:prstDash val="solid"/>
          </a:ln>
        </p:spPr>
      </p:sp>
      <p:sp>
        <p:nvSpPr>
          <p:cNvPr id="115" name="cell-283"/>
          <p:cNvSpPr/>
          <p:nvPr/>
        </p:nvSpPr>
        <p:spPr>
          <a:xfrm>
            <a:off x="3154680" y="2340864"/>
            <a:ext cx="155448" cy="155448"/>
          </a:xfrm>
          <a:prstGeom prst="rect">
            <a:avLst/>
          </a:prstGeom>
          <a:solidFill>
            <a:schemeClr val="accent1">
              <a:alpha val="45000"/>
            </a:schemeClr>
          </a:solidFill>
          <a:ln w="12700">
            <a:solidFill>
              <a:schemeClr val="accent1">
                <a:alpha val="0"/>
              </a:schemeClr>
            </a:solidFill>
            <a:prstDash val="solid"/>
          </a:ln>
        </p:spPr>
      </p:sp>
      <p:sp>
        <p:nvSpPr>
          <p:cNvPr id="116" name="cell-284"/>
          <p:cNvSpPr/>
          <p:nvPr/>
        </p:nvSpPr>
        <p:spPr>
          <a:xfrm>
            <a:off x="3328416" y="2340864"/>
            <a:ext cx="155448" cy="155448"/>
          </a:xfrm>
          <a:prstGeom prst="rect">
            <a:avLst/>
          </a:prstGeom>
          <a:solidFill>
            <a:schemeClr val="accent1">
              <a:alpha val="32000"/>
            </a:schemeClr>
          </a:solidFill>
          <a:ln w="12700">
            <a:solidFill>
              <a:schemeClr val="accent1">
                <a:alpha val="0"/>
              </a:schemeClr>
            </a:solidFill>
            <a:prstDash val="solid"/>
          </a:ln>
        </p:spPr>
      </p:sp>
      <p:sp>
        <p:nvSpPr>
          <p:cNvPr id="117" name="cell-285"/>
          <p:cNvSpPr/>
          <p:nvPr/>
        </p:nvSpPr>
        <p:spPr>
          <a:xfrm>
            <a:off x="3502152" y="2340864"/>
            <a:ext cx="155448" cy="155448"/>
          </a:xfrm>
          <a:prstGeom prst="rect">
            <a:avLst/>
          </a:prstGeom>
          <a:solidFill>
            <a:schemeClr val="accent1">
              <a:alpha val="23000"/>
            </a:schemeClr>
          </a:solidFill>
          <a:ln w="12700">
            <a:solidFill>
              <a:schemeClr val="accent1">
                <a:alpha val="0"/>
              </a:schemeClr>
            </a:solidFill>
            <a:prstDash val="solid"/>
          </a:ln>
        </p:spPr>
      </p:sp>
      <p:sp>
        <p:nvSpPr>
          <p:cNvPr id="118" name="cell-286"/>
          <p:cNvSpPr/>
          <p:nvPr/>
        </p:nvSpPr>
        <p:spPr>
          <a:xfrm>
            <a:off x="3675888" y="2340864"/>
            <a:ext cx="155448" cy="155448"/>
          </a:xfrm>
          <a:prstGeom prst="rect">
            <a:avLst/>
          </a:prstGeom>
          <a:solidFill>
            <a:schemeClr val="accent1">
              <a:alpha val="26000"/>
            </a:schemeClr>
          </a:solidFill>
          <a:ln w="12700">
            <a:solidFill>
              <a:schemeClr val="accent1">
                <a:alpha val="0"/>
              </a:schemeClr>
            </a:solidFill>
            <a:prstDash val="solid"/>
          </a:ln>
        </p:spPr>
      </p:sp>
      <p:sp>
        <p:nvSpPr>
          <p:cNvPr id="119" name="cell-287"/>
          <p:cNvSpPr/>
          <p:nvPr/>
        </p:nvSpPr>
        <p:spPr>
          <a:xfrm>
            <a:off x="3849624" y="2340864"/>
            <a:ext cx="155448" cy="155448"/>
          </a:xfrm>
          <a:prstGeom prst="rect">
            <a:avLst/>
          </a:prstGeom>
          <a:solidFill>
            <a:schemeClr val="accent1">
              <a:alpha val="43000"/>
            </a:schemeClr>
          </a:solidFill>
          <a:ln w="12700">
            <a:solidFill>
              <a:schemeClr val="accent1">
                <a:alpha val="0"/>
              </a:schemeClr>
            </a:solidFill>
            <a:prstDash val="solid"/>
          </a:ln>
        </p:spPr>
      </p:sp>
      <p:sp>
        <p:nvSpPr>
          <p:cNvPr id="120" name="cell-288"/>
          <p:cNvSpPr/>
          <p:nvPr/>
        </p:nvSpPr>
        <p:spPr>
          <a:xfrm>
            <a:off x="4023360" y="2340864"/>
            <a:ext cx="155448" cy="155448"/>
          </a:xfrm>
          <a:prstGeom prst="rect">
            <a:avLst/>
          </a:prstGeom>
          <a:solidFill>
            <a:schemeClr val="accent1">
              <a:alpha val="64000"/>
            </a:schemeClr>
          </a:solidFill>
          <a:ln w="12700">
            <a:solidFill>
              <a:schemeClr val="accent1">
                <a:alpha val="0"/>
              </a:schemeClr>
            </a:solidFill>
            <a:prstDash val="solid"/>
          </a:ln>
        </p:spPr>
      </p:sp>
      <p:sp>
        <p:nvSpPr>
          <p:cNvPr id="121" name="cell-289"/>
          <p:cNvSpPr/>
          <p:nvPr/>
        </p:nvSpPr>
        <p:spPr>
          <a:xfrm>
            <a:off x="4197096" y="2340864"/>
            <a:ext cx="155448" cy="155448"/>
          </a:xfrm>
          <a:prstGeom prst="rect">
            <a:avLst/>
          </a:prstGeom>
          <a:solidFill>
            <a:schemeClr val="accent1">
              <a:alpha val="78000"/>
            </a:schemeClr>
          </a:solidFill>
          <a:ln w="12700">
            <a:solidFill>
              <a:schemeClr val="accent1">
                <a:alpha val="0"/>
              </a:schemeClr>
            </a:solidFill>
            <a:prstDash val="solid"/>
          </a:ln>
        </p:spPr>
      </p:sp>
      <p:sp>
        <p:nvSpPr>
          <p:cNvPr id="122" name="cell-290"/>
          <p:cNvSpPr/>
          <p:nvPr/>
        </p:nvSpPr>
        <p:spPr>
          <a:xfrm>
            <a:off x="4370832" y="2340864"/>
            <a:ext cx="155448" cy="155448"/>
          </a:xfrm>
          <a:prstGeom prst="rect">
            <a:avLst/>
          </a:prstGeom>
          <a:solidFill>
            <a:schemeClr val="accent1">
              <a:alpha val="77000"/>
            </a:schemeClr>
          </a:solidFill>
          <a:ln w="12700">
            <a:solidFill>
              <a:schemeClr val="accent1">
                <a:alpha val="0"/>
              </a:schemeClr>
            </a:solidFill>
            <a:prstDash val="solid"/>
          </a:ln>
        </p:spPr>
      </p:sp>
      <p:sp>
        <p:nvSpPr>
          <p:cNvPr id="123" name="cell-291"/>
          <p:cNvSpPr/>
          <p:nvPr/>
        </p:nvSpPr>
        <p:spPr>
          <a:xfrm>
            <a:off x="4544568" y="2340864"/>
            <a:ext cx="155448" cy="155448"/>
          </a:xfrm>
          <a:prstGeom prst="rect">
            <a:avLst/>
          </a:prstGeom>
          <a:solidFill>
            <a:schemeClr val="accent1">
              <a:alpha val="65000"/>
            </a:schemeClr>
          </a:solidFill>
          <a:ln w="12700">
            <a:solidFill>
              <a:schemeClr val="accent1">
                <a:alpha val="0"/>
              </a:schemeClr>
            </a:solidFill>
            <a:prstDash val="solid"/>
          </a:ln>
        </p:spPr>
      </p:sp>
      <p:sp>
        <p:nvSpPr>
          <p:cNvPr id="124" name="cell-292"/>
          <p:cNvSpPr/>
          <p:nvPr/>
        </p:nvSpPr>
        <p:spPr>
          <a:xfrm>
            <a:off x="548640" y="2514600"/>
            <a:ext cx="155448" cy="155448"/>
          </a:xfrm>
          <a:prstGeom prst="rect">
            <a:avLst/>
          </a:prstGeom>
          <a:solidFill>
            <a:schemeClr val="accent1">
              <a:alpha val="50000"/>
            </a:schemeClr>
          </a:solidFill>
          <a:ln w="12700">
            <a:solidFill>
              <a:schemeClr val="accent1">
                <a:alpha val="0"/>
              </a:schemeClr>
            </a:solidFill>
            <a:prstDash val="solid"/>
          </a:ln>
        </p:spPr>
      </p:sp>
      <p:sp>
        <p:nvSpPr>
          <p:cNvPr id="125" name="cell-293"/>
          <p:cNvSpPr/>
          <p:nvPr/>
        </p:nvSpPr>
        <p:spPr>
          <a:xfrm>
            <a:off x="722376" y="2514600"/>
            <a:ext cx="155448" cy="155448"/>
          </a:xfrm>
          <a:prstGeom prst="rect">
            <a:avLst/>
          </a:prstGeom>
          <a:solidFill>
            <a:schemeClr val="accent1">
              <a:alpha val="43000"/>
            </a:schemeClr>
          </a:solidFill>
          <a:ln w="12700">
            <a:solidFill>
              <a:schemeClr val="accent1">
                <a:alpha val="0"/>
              </a:schemeClr>
            </a:solidFill>
            <a:prstDash val="solid"/>
          </a:ln>
        </p:spPr>
      </p:sp>
      <p:sp>
        <p:nvSpPr>
          <p:cNvPr id="126" name="cell-294"/>
          <p:cNvSpPr/>
          <p:nvPr/>
        </p:nvSpPr>
        <p:spPr>
          <a:xfrm>
            <a:off x="896112" y="2514600"/>
            <a:ext cx="155448" cy="155448"/>
          </a:xfrm>
          <a:prstGeom prst="rect">
            <a:avLst/>
          </a:prstGeom>
          <a:solidFill>
            <a:schemeClr val="accent1">
              <a:alpha val="32000"/>
            </a:schemeClr>
          </a:solidFill>
          <a:ln w="12700">
            <a:solidFill>
              <a:schemeClr val="accent1">
                <a:alpha val="0"/>
              </a:schemeClr>
            </a:solidFill>
            <a:prstDash val="solid"/>
          </a:ln>
        </p:spPr>
      </p:sp>
      <p:sp>
        <p:nvSpPr>
          <p:cNvPr id="127" name="cell-295"/>
          <p:cNvSpPr/>
          <p:nvPr/>
        </p:nvSpPr>
        <p:spPr>
          <a:xfrm>
            <a:off x="1069848" y="2514600"/>
            <a:ext cx="155448" cy="155448"/>
          </a:xfrm>
          <a:prstGeom prst="rect">
            <a:avLst/>
          </a:prstGeom>
          <a:solidFill>
            <a:schemeClr val="accent1">
              <a:alpha val="28000"/>
            </a:schemeClr>
          </a:solidFill>
          <a:ln w="12700">
            <a:solidFill>
              <a:schemeClr val="accent1">
                <a:alpha val="0"/>
              </a:schemeClr>
            </a:solidFill>
            <a:prstDash val="solid"/>
          </a:ln>
        </p:spPr>
      </p:sp>
      <p:sp>
        <p:nvSpPr>
          <p:cNvPr id="128" name="cell-296"/>
          <p:cNvSpPr/>
          <p:nvPr/>
        </p:nvSpPr>
        <p:spPr>
          <a:xfrm>
            <a:off x="1243584" y="2514600"/>
            <a:ext cx="155448" cy="155448"/>
          </a:xfrm>
          <a:prstGeom prst="rect">
            <a:avLst/>
          </a:prstGeom>
          <a:solidFill>
            <a:schemeClr val="accent1">
              <a:alpha val="37000"/>
            </a:schemeClr>
          </a:solidFill>
          <a:ln w="12700">
            <a:solidFill>
              <a:schemeClr val="accent1">
                <a:alpha val="0"/>
              </a:schemeClr>
            </a:solidFill>
            <a:prstDash val="solid"/>
          </a:ln>
        </p:spPr>
      </p:sp>
      <p:sp>
        <p:nvSpPr>
          <p:cNvPr id="129" name="cell-297"/>
          <p:cNvSpPr/>
          <p:nvPr/>
        </p:nvSpPr>
        <p:spPr>
          <a:xfrm>
            <a:off x="1417320" y="2514600"/>
            <a:ext cx="155448" cy="155448"/>
          </a:xfrm>
          <a:prstGeom prst="rect">
            <a:avLst/>
          </a:prstGeom>
          <a:solidFill>
            <a:schemeClr val="accent1">
              <a:alpha val="57000"/>
            </a:schemeClr>
          </a:solidFill>
          <a:ln w="12700">
            <a:solidFill>
              <a:schemeClr val="accent1">
                <a:alpha val="0"/>
              </a:schemeClr>
            </a:solidFill>
            <a:prstDash val="solid"/>
          </a:ln>
        </p:spPr>
      </p:sp>
      <p:sp>
        <p:nvSpPr>
          <p:cNvPr id="130" name="cell-298"/>
          <p:cNvSpPr/>
          <p:nvPr/>
        </p:nvSpPr>
        <p:spPr>
          <a:xfrm>
            <a:off x="1591056" y="2514600"/>
            <a:ext cx="155448" cy="155448"/>
          </a:xfrm>
          <a:prstGeom prst="rect">
            <a:avLst/>
          </a:prstGeom>
          <a:solidFill>
            <a:schemeClr val="accent1">
              <a:alpha val="76000"/>
            </a:schemeClr>
          </a:solidFill>
          <a:ln w="12700">
            <a:solidFill>
              <a:schemeClr val="accent1">
                <a:alpha val="0"/>
              </a:schemeClr>
            </a:solidFill>
            <a:prstDash val="solid"/>
          </a:ln>
        </p:spPr>
      </p:sp>
      <p:sp>
        <p:nvSpPr>
          <p:cNvPr id="131" name="cell-299"/>
          <p:cNvSpPr/>
          <p:nvPr/>
        </p:nvSpPr>
        <p:spPr>
          <a:xfrm>
            <a:off x="1764792" y="2514600"/>
            <a:ext cx="155448" cy="155448"/>
          </a:xfrm>
          <a:prstGeom prst="rect">
            <a:avLst/>
          </a:prstGeom>
          <a:solidFill>
            <a:schemeClr val="accent1">
              <a:alpha val="83000"/>
            </a:schemeClr>
          </a:solidFill>
          <a:ln w="12700">
            <a:solidFill>
              <a:schemeClr val="accent1">
                <a:alpha val="0"/>
              </a:schemeClr>
            </a:solidFill>
            <a:prstDash val="solid"/>
          </a:ln>
        </p:spPr>
      </p:sp>
      <p:sp>
        <p:nvSpPr>
          <p:cNvPr id="132" name="cell-300"/>
          <p:cNvSpPr/>
          <p:nvPr/>
        </p:nvSpPr>
        <p:spPr>
          <a:xfrm>
            <a:off x="1938528" y="2514600"/>
            <a:ext cx="155448" cy="155448"/>
          </a:xfrm>
          <a:prstGeom prst="rect">
            <a:avLst/>
          </a:prstGeom>
          <a:solidFill>
            <a:schemeClr val="accent1">
              <a:alpha val="75000"/>
            </a:schemeClr>
          </a:solidFill>
          <a:ln w="12700">
            <a:solidFill>
              <a:schemeClr val="accent1">
                <a:alpha val="0"/>
              </a:schemeClr>
            </a:solidFill>
            <a:prstDash val="solid"/>
          </a:ln>
        </p:spPr>
      </p:sp>
      <p:sp>
        <p:nvSpPr>
          <p:cNvPr id="133" name="cell-301"/>
          <p:cNvSpPr/>
          <p:nvPr/>
        </p:nvSpPr>
        <p:spPr>
          <a:xfrm>
            <a:off x="2112264" y="2514600"/>
            <a:ext cx="155448" cy="155448"/>
          </a:xfrm>
          <a:prstGeom prst="rect">
            <a:avLst/>
          </a:prstGeom>
          <a:solidFill>
            <a:schemeClr val="accent1">
              <a:alpha val="59000"/>
            </a:schemeClr>
          </a:solidFill>
          <a:ln w="12700">
            <a:solidFill>
              <a:schemeClr val="accent1">
                <a:alpha val="0"/>
              </a:schemeClr>
            </a:solidFill>
            <a:prstDash val="solid"/>
          </a:ln>
        </p:spPr>
      </p:sp>
      <p:sp>
        <p:nvSpPr>
          <p:cNvPr id="134" name="cell-302"/>
          <p:cNvSpPr/>
          <p:nvPr/>
        </p:nvSpPr>
        <p:spPr>
          <a:xfrm>
            <a:off x="2286000" y="2514600"/>
            <a:ext cx="155448" cy="155448"/>
          </a:xfrm>
          <a:prstGeom prst="rect">
            <a:avLst/>
          </a:prstGeom>
          <a:solidFill>
            <a:schemeClr val="accent1">
              <a:alpha val="46000"/>
            </a:schemeClr>
          </a:solidFill>
          <a:ln w="12700">
            <a:solidFill>
              <a:schemeClr val="accent1">
                <a:alpha val="0"/>
              </a:schemeClr>
            </a:solidFill>
            <a:prstDash val="solid"/>
          </a:ln>
        </p:spPr>
      </p:sp>
      <p:sp>
        <p:nvSpPr>
          <p:cNvPr id="135" name="cell-303"/>
          <p:cNvSpPr/>
          <p:nvPr/>
        </p:nvSpPr>
        <p:spPr>
          <a:xfrm>
            <a:off x="2459736" y="2514600"/>
            <a:ext cx="155448" cy="155448"/>
          </a:xfrm>
          <a:prstGeom prst="rect">
            <a:avLst/>
          </a:prstGeom>
          <a:solidFill>
            <a:schemeClr val="accent1">
              <a:alpha val="45000"/>
            </a:schemeClr>
          </a:solidFill>
          <a:ln w="12700">
            <a:solidFill>
              <a:schemeClr val="accent1">
                <a:alpha val="0"/>
              </a:schemeClr>
            </a:solidFill>
            <a:prstDash val="solid"/>
          </a:ln>
        </p:spPr>
      </p:sp>
      <p:sp>
        <p:nvSpPr>
          <p:cNvPr id="136" name="cell-304"/>
          <p:cNvSpPr/>
          <p:nvPr/>
        </p:nvSpPr>
        <p:spPr>
          <a:xfrm>
            <a:off x="2633472" y="2514600"/>
            <a:ext cx="155448" cy="155448"/>
          </a:xfrm>
          <a:prstGeom prst="rect">
            <a:avLst/>
          </a:prstGeom>
          <a:solidFill>
            <a:schemeClr val="accent1">
              <a:alpha val="52000"/>
            </a:schemeClr>
          </a:solidFill>
          <a:ln w="12700">
            <a:solidFill>
              <a:schemeClr val="accent1">
                <a:alpha val="0"/>
              </a:schemeClr>
            </a:solidFill>
            <a:prstDash val="solid"/>
          </a:ln>
        </p:spPr>
      </p:sp>
      <p:sp>
        <p:nvSpPr>
          <p:cNvPr id="137" name="cell-305"/>
          <p:cNvSpPr/>
          <p:nvPr/>
        </p:nvSpPr>
        <p:spPr>
          <a:xfrm>
            <a:off x="2807208" y="2514600"/>
            <a:ext cx="155448" cy="155448"/>
          </a:xfrm>
          <a:prstGeom prst="rect">
            <a:avLst/>
          </a:prstGeom>
          <a:solidFill>
            <a:schemeClr val="accent1">
              <a:alpha val="59000"/>
            </a:schemeClr>
          </a:solidFill>
          <a:ln w="12700">
            <a:solidFill>
              <a:schemeClr val="accent1">
                <a:alpha val="0"/>
              </a:schemeClr>
            </a:solidFill>
            <a:prstDash val="solid"/>
          </a:ln>
        </p:spPr>
      </p:sp>
      <p:sp>
        <p:nvSpPr>
          <p:cNvPr id="138" name="cell-306"/>
          <p:cNvSpPr/>
          <p:nvPr/>
        </p:nvSpPr>
        <p:spPr>
          <a:xfrm>
            <a:off x="2980944" y="2514600"/>
            <a:ext cx="155448" cy="155448"/>
          </a:xfrm>
          <a:prstGeom prst="rect">
            <a:avLst/>
          </a:prstGeom>
          <a:solidFill>
            <a:schemeClr val="accent1">
              <a:alpha val="57000"/>
            </a:schemeClr>
          </a:solidFill>
          <a:ln w="12700">
            <a:solidFill>
              <a:schemeClr val="accent1">
                <a:alpha val="0"/>
              </a:schemeClr>
            </a:solidFill>
            <a:prstDash val="solid"/>
          </a:ln>
        </p:spPr>
      </p:sp>
      <p:sp>
        <p:nvSpPr>
          <p:cNvPr id="139" name="cell-307"/>
          <p:cNvSpPr/>
          <p:nvPr/>
        </p:nvSpPr>
        <p:spPr>
          <a:xfrm>
            <a:off x="3154680" y="2514600"/>
            <a:ext cx="155448" cy="155448"/>
          </a:xfrm>
          <a:prstGeom prst="rect">
            <a:avLst/>
          </a:prstGeom>
          <a:solidFill>
            <a:schemeClr val="accent1">
              <a:alpha val="43000"/>
            </a:schemeClr>
          </a:solidFill>
          <a:ln w="12700">
            <a:solidFill>
              <a:schemeClr val="accent1">
                <a:alpha val="0"/>
              </a:schemeClr>
            </a:solidFill>
            <a:prstDash val="solid"/>
          </a:ln>
        </p:spPr>
      </p:sp>
      <p:sp>
        <p:nvSpPr>
          <p:cNvPr id="140" name="cell-308"/>
          <p:cNvSpPr/>
          <p:nvPr/>
        </p:nvSpPr>
        <p:spPr>
          <a:xfrm>
            <a:off x="3328416" y="2514600"/>
            <a:ext cx="155448" cy="155448"/>
          </a:xfrm>
          <a:prstGeom prst="rect">
            <a:avLst/>
          </a:prstGeom>
          <a:solidFill>
            <a:schemeClr val="accent1">
              <a:alpha val="25000"/>
            </a:schemeClr>
          </a:solidFill>
          <a:ln w="12700">
            <a:solidFill>
              <a:schemeClr val="accent1">
                <a:alpha val="0"/>
              </a:schemeClr>
            </a:solidFill>
            <a:prstDash val="solid"/>
          </a:ln>
        </p:spPr>
      </p:sp>
      <p:sp>
        <p:nvSpPr>
          <p:cNvPr id="141" name="cell-309"/>
          <p:cNvSpPr/>
          <p:nvPr/>
        </p:nvSpPr>
        <p:spPr>
          <a:xfrm>
            <a:off x="3502152" y="2514600"/>
            <a:ext cx="155448" cy="155448"/>
          </a:xfrm>
          <a:prstGeom prst="rect">
            <a:avLst/>
          </a:prstGeom>
          <a:solidFill>
            <a:schemeClr val="accent1">
              <a:alpha val="16000"/>
            </a:schemeClr>
          </a:solidFill>
          <a:ln w="12700">
            <a:solidFill>
              <a:schemeClr val="accent1">
                <a:alpha val="0"/>
              </a:schemeClr>
            </a:solidFill>
            <a:prstDash val="solid"/>
          </a:ln>
        </p:spPr>
      </p:sp>
      <p:sp>
        <p:nvSpPr>
          <p:cNvPr id="142" name="cell-310"/>
          <p:cNvSpPr/>
          <p:nvPr/>
        </p:nvSpPr>
        <p:spPr>
          <a:xfrm>
            <a:off x="3675888" y="2514600"/>
            <a:ext cx="155448" cy="155448"/>
          </a:xfrm>
          <a:prstGeom prst="rect">
            <a:avLst/>
          </a:prstGeom>
          <a:solidFill>
            <a:schemeClr val="accent1">
              <a:alpha val="21000"/>
            </a:schemeClr>
          </a:solidFill>
          <a:ln w="12700">
            <a:solidFill>
              <a:schemeClr val="accent1">
                <a:alpha val="0"/>
              </a:schemeClr>
            </a:solidFill>
            <a:prstDash val="solid"/>
          </a:ln>
        </p:spPr>
      </p:sp>
      <p:sp>
        <p:nvSpPr>
          <p:cNvPr id="143" name="cell-311"/>
          <p:cNvSpPr/>
          <p:nvPr/>
        </p:nvSpPr>
        <p:spPr>
          <a:xfrm>
            <a:off x="3849624" y="2514600"/>
            <a:ext cx="155448" cy="155448"/>
          </a:xfrm>
          <a:prstGeom prst="rect">
            <a:avLst/>
          </a:prstGeom>
          <a:solidFill>
            <a:schemeClr val="accent1">
              <a:alpha val="39000"/>
            </a:schemeClr>
          </a:solidFill>
          <a:ln w="12700">
            <a:solidFill>
              <a:schemeClr val="accent1">
                <a:alpha val="0"/>
              </a:schemeClr>
            </a:solidFill>
            <a:prstDash val="solid"/>
          </a:ln>
        </p:spPr>
      </p:sp>
      <p:sp>
        <p:nvSpPr>
          <p:cNvPr id="144" name="cell-312"/>
          <p:cNvSpPr/>
          <p:nvPr/>
        </p:nvSpPr>
        <p:spPr>
          <a:xfrm>
            <a:off x="4023360" y="2514600"/>
            <a:ext cx="155448" cy="155448"/>
          </a:xfrm>
          <a:prstGeom prst="rect">
            <a:avLst/>
          </a:prstGeom>
          <a:solidFill>
            <a:schemeClr val="accent1">
              <a:alpha val="58000"/>
            </a:schemeClr>
          </a:solidFill>
          <a:ln w="12700">
            <a:solidFill>
              <a:schemeClr val="accent1">
                <a:alpha val="0"/>
              </a:schemeClr>
            </a:solidFill>
            <a:prstDash val="solid"/>
          </a:ln>
        </p:spPr>
      </p:sp>
      <p:sp>
        <p:nvSpPr>
          <p:cNvPr id="145" name="cell-313"/>
          <p:cNvSpPr/>
          <p:nvPr/>
        </p:nvSpPr>
        <p:spPr>
          <a:xfrm>
            <a:off x="4197096" y="2514600"/>
            <a:ext cx="155448" cy="155448"/>
          </a:xfrm>
          <a:prstGeom prst="rect">
            <a:avLst/>
          </a:prstGeom>
          <a:solidFill>
            <a:schemeClr val="accent1">
              <a:alpha val="68000"/>
            </a:schemeClr>
          </a:solidFill>
          <a:ln w="12700">
            <a:solidFill>
              <a:schemeClr val="accent1">
                <a:alpha val="0"/>
              </a:schemeClr>
            </a:solidFill>
            <a:prstDash val="solid"/>
          </a:ln>
        </p:spPr>
      </p:sp>
      <p:sp>
        <p:nvSpPr>
          <p:cNvPr id="146" name="cell-314"/>
          <p:cNvSpPr/>
          <p:nvPr/>
        </p:nvSpPr>
        <p:spPr>
          <a:xfrm>
            <a:off x="4370832" y="2514600"/>
            <a:ext cx="155448" cy="155448"/>
          </a:xfrm>
          <a:prstGeom prst="rect">
            <a:avLst/>
          </a:prstGeom>
          <a:solidFill>
            <a:schemeClr val="accent1">
              <a:alpha val="65000"/>
            </a:schemeClr>
          </a:solidFill>
          <a:ln w="12700">
            <a:solidFill>
              <a:schemeClr val="accent1">
                <a:alpha val="0"/>
              </a:schemeClr>
            </a:solidFill>
            <a:prstDash val="solid"/>
          </a:ln>
        </p:spPr>
      </p:sp>
      <p:sp>
        <p:nvSpPr>
          <p:cNvPr id="147" name="cell-315"/>
          <p:cNvSpPr/>
          <p:nvPr/>
        </p:nvSpPr>
        <p:spPr>
          <a:xfrm>
            <a:off x="4544568" y="2514600"/>
            <a:ext cx="155448" cy="155448"/>
          </a:xfrm>
          <a:prstGeom prst="rect">
            <a:avLst/>
          </a:prstGeom>
          <a:solidFill>
            <a:schemeClr val="accent1">
              <a:alpha val="55000"/>
            </a:schemeClr>
          </a:solidFill>
          <a:ln w="12700">
            <a:solidFill>
              <a:schemeClr val="accent1">
                <a:alpha val="0"/>
              </a:schemeClr>
            </a:solidFill>
            <a:prstDash val="solid"/>
          </a:ln>
        </p:spPr>
      </p:sp>
      <p:sp>
        <p:nvSpPr>
          <p:cNvPr id="148" name="cell-316"/>
          <p:cNvSpPr/>
          <p:nvPr/>
        </p:nvSpPr>
        <p:spPr>
          <a:xfrm>
            <a:off x="548640" y="2688336"/>
            <a:ext cx="155448" cy="155448"/>
          </a:xfrm>
          <a:prstGeom prst="rect">
            <a:avLst/>
          </a:prstGeom>
          <a:solidFill>
            <a:schemeClr val="accent1">
              <a:alpha val="49000"/>
            </a:schemeClr>
          </a:solidFill>
          <a:ln w="12700">
            <a:solidFill>
              <a:schemeClr val="accent1">
                <a:alpha val="0"/>
              </a:schemeClr>
            </a:solidFill>
            <a:prstDash val="solid"/>
          </a:ln>
        </p:spPr>
      </p:sp>
      <p:sp>
        <p:nvSpPr>
          <p:cNvPr id="149" name="cell-317"/>
          <p:cNvSpPr/>
          <p:nvPr/>
        </p:nvSpPr>
        <p:spPr>
          <a:xfrm>
            <a:off x="722376" y="2688336"/>
            <a:ext cx="155448" cy="155448"/>
          </a:xfrm>
          <a:prstGeom prst="rect">
            <a:avLst/>
          </a:prstGeom>
          <a:solidFill>
            <a:schemeClr val="accent1">
              <a:alpha val="35000"/>
            </a:schemeClr>
          </a:solidFill>
          <a:ln w="12700">
            <a:solidFill>
              <a:schemeClr val="accent1">
                <a:alpha val="0"/>
              </a:schemeClr>
            </a:solidFill>
            <a:prstDash val="solid"/>
          </a:ln>
        </p:spPr>
      </p:sp>
      <p:sp>
        <p:nvSpPr>
          <p:cNvPr id="150" name="cell-318"/>
          <p:cNvSpPr/>
          <p:nvPr/>
        </p:nvSpPr>
        <p:spPr>
          <a:xfrm>
            <a:off x="896112" y="2688336"/>
            <a:ext cx="155448" cy="155448"/>
          </a:xfrm>
          <a:prstGeom prst="rect">
            <a:avLst/>
          </a:prstGeom>
          <a:solidFill>
            <a:schemeClr val="accent1">
              <a:alpha val="21000"/>
            </a:schemeClr>
          </a:solidFill>
          <a:ln w="12700">
            <a:solidFill>
              <a:schemeClr val="accent1">
                <a:alpha val="0"/>
              </a:schemeClr>
            </a:solidFill>
            <a:prstDash val="solid"/>
          </a:ln>
        </p:spPr>
      </p:sp>
      <p:sp>
        <p:nvSpPr>
          <p:cNvPr id="151" name="cell-319"/>
          <p:cNvSpPr/>
          <p:nvPr/>
        </p:nvSpPr>
        <p:spPr>
          <a:xfrm>
            <a:off x="1069848" y="2688336"/>
            <a:ext cx="155448" cy="155448"/>
          </a:xfrm>
          <a:prstGeom prst="rect">
            <a:avLst/>
          </a:prstGeom>
          <a:solidFill>
            <a:schemeClr val="accent1">
              <a:alpha val="19000"/>
            </a:schemeClr>
          </a:solidFill>
          <a:ln w="12700">
            <a:solidFill>
              <a:schemeClr val="accent1">
                <a:alpha val="0"/>
              </a:schemeClr>
            </a:solidFill>
            <a:prstDash val="solid"/>
          </a:ln>
        </p:spPr>
      </p:sp>
      <p:sp>
        <p:nvSpPr>
          <p:cNvPr id="152" name="cell-320"/>
          <p:cNvSpPr/>
          <p:nvPr/>
        </p:nvSpPr>
        <p:spPr>
          <a:xfrm>
            <a:off x="1243584" y="2688336"/>
            <a:ext cx="155448" cy="155448"/>
          </a:xfrm>
          <a:prstGeom prst="rect">
            <a:avLst/>
          </a:prstGeom>
          <a:solidFill>
            <a:schemeClr val="accent1">
              <a:alpha val="31000"/>
            </a:schemeClr>
          </a:solidFill>
          <a:ln w="12700">
            <a:solidFill>
              <a:schemeClr val="accent1">
                <a:alpha val="0"/>
              </a:schemeClr>
            </a:solidFill>
            <a:prstDash val="solid"/>
          </a:ln>
        </p:spPr>
      </p:sp>
      <p:sp>
        <p:nvSpPr>
          <p:cNvPr id="153" name="cell-321"/>
          <p:cNvSpPr/>
          <p:nvPr/>
        </p:nvSpPr>
        <p:spPr>
          <a:xfrm>
            <a:off x="1417320" y="2688336"/>
            <a:ext cx="155448" cy="155448"/>
          </a:xfrm>
          <a:prstGeom prst="rect">
            <a:avLst/>
          </a:prstGeom>
          <a:solidFill>
            <a:schemeClr val="accent1">
              <a:alpha val="52000"/>
            </a:schemeClr>
          </a:solidFill>
          <a:ln w="12700">
            <a:solidFill>
              <a:schemeClr val="accent1">
                <a:alpha val="0"/>
              </a:schemeClr>
            </a:solidFill>
            <a:prstDash val="solid"/>
          </a:ln>
        </p:spPr>
      </p:sp>
      <p:sp>
        <p:nvSpPr>
          <p:cNvPr id="154" name="cell-322"/>
          <p:cNvSpPr/>
          <p:nvPr/>
        </p:nvSpPr>
        <p:spPr>
          <a:xfrm>
            <a:off x="1591056" y="2688336"/>
            <a:ext cx="155448" cy="155448"/>
          </a:xfrm>
          <a:prstGeom prst="rect">
            <a:avLst/>
          </a:prstGeom>
          <a:solidFill>
            <a:schemeClr val="accent1">
              <a:alpha val="70000"/>
            </a:schemeClr>
          </a:solidFill>
          <a:ln w="12700">
            <a:solidFill>
              <a:schemeClr val="accent1">
                <a:alpha val="0"/>
              </a:schemeClr>
            </a:solidFill>
            <a:prstDash val="solid"/>
          </a:ln>
        </p:spPr>
      </p:sp>
      <p:sp>
        <p:nvSpPr>
          <p:cNvPr id="155" name="cell-323"/>
          <p:cNvSpPr/>
          <p:nvPr/>
        </p:nvSpPr>
        <p:spPr>
          <a:xfrm>
            <a:off x="1764792" y="2688336"/>
            <a:ext cx="155448" cy="155448"/>
          </a:xfrm>
          <a:prstGeom prst="rect">
            <a:avLst/>
          </a:prstGeom>
          <a:solidFill>
            <a:schemeClr val="accent1">
              <a:alpha val="74000"/>
            </a:schemeClr>
          </a:solidFill>
          <a:ln w="12700">
            <a:solidFill>
              <a:schemeClr val="accent1">
                <a:alpha val="0"/>
              </a:schemeClr>
            </a:solidFill>
            <a:prstDash val="solid"/>
          </a:ln>
        </p:spPr>
      </p:sp>
      <p:sp>
        <p:nvSpPr>
          <p:cNvPr id="156" name="cell-324"/>
          <p:cNvSpPr/>
          <p:nvPr/>
        </p:nvSpPr>
        <p:spPr>
          <a:xfrm>
            <a:off x="1938528" y="2688336"/>
            <a:ext cx="155448" cy="155448"/>
          </a:xfrm>
          <a:prstGeom prst="rect">
            <a:avLst/>
          </a:prstGeom>
          <a:solidFill>
            <a:schemeClr val="accent1">
              <a:alpha val="66000"/>
            </a:schemeClr>
          </a:solidFill>
          <a:ln w="12700">
            <a:solidFill>
              <a:schemeClr val="accent1">
                <a:alpha val="0"/>
              </a:schemeClr>
            </a:solidFill>
            <a:prstDash val="solid"/>
          </a:ln>
        </p:spPr>
      </p:sp>
      <p:sp>
        <p:nvSpPr>
          <p:cNvPr id="157" name="cell-325"/>
          <p:cNvSpPr/>
          <p:nvPr/>
        </p:nvSpPr>
        <p:spPr>
          <a:xfrm>
            <a:off x="2112264" y="2688336"/>
            <a:ext cx="155448" cy="155448"/>
          </a:xfrm>
          <a:prstGeom prst="rect">
            <a:avLst/>
          </a:prstGeom>
          <a:solidFill>
            <a:schemeClr val="accent1">
              <a:alpha val="55000"/>
            </a:schemeClr>
          </a:solidFill>
          <a:ln w="12700">
            <a:solidFill>
              <a:schemeClr val="accent1">
                <a:alpha val="0"/>
              </a:schemeClr>
            </a:solidFill>
            <a:prstDash val="solid"/>
          </a:ln>
        </p:spPr>
      </p:sp>
      <p:sp>
        <p:nvSpPr>
          <p:cNvPr id="158" name="cell-326"/>
          <p:cNvSpPr/>
          <p:nvPr/>
        </p:nvSpPr>
        <p:spPr>
          <a:xfrm>
            <a:off x="2286000" y="2688336"/>
            <a:ext cx="155448" cy="155448"/>
          </a:xfrm>
          <a:prstGeom prst="rect">
            <a:avLst/>
          </a:prstGeom>
          <a:solidFill>
            <a:schemeClr val="accent1">
              <a:alpha val="50000"/>
            </a:schemeClr>
          </a:solidFill>
          <a:ln w="12700">
            <a:solidFill>
              <a:schemeClr val="accent1">
                <a:alpha val="0"/>
              </a:schemeClr>
            </a:solidFill>
            <a:prstDash val="solid"/>
          </a:ln>
        </p:spPr>
      </p:sp>
      <p:sp>
        <p:nvSpPr>
          <p:cNvPr id="159" name="cell-327"/>
          <p:cNvSpPr/>
          <p:nvPr/>
        </p:nvSpPr>
        <p:spPr>
          <a:xfrm>
            <a:off x="2459736" y="2688336"/>
            <a:ext cx="155448" cy="155448"/>
          </a:xfrm>
          <a:prstGeom prst="rect">
            <a:avLst/>
          </a:prstGeom>
          <a:solidFill>
            <a:schemeClr val="accent1">
              <a:alpha val="56000"/>
            </a:schemeClr>
          </a:solidFill>
          <a:ln w="12700">
            <a:solidFill>
              <a:schemeClr val="accent1">
                <a:alpha val="0"/>
              </a:schemeClr>
            </a:solidFill>
            <a:prstDash val="solid"/>
          </a:ln>
        </p:spPr>
      </p:sp>
      <p:sp>
        <p:nvSpPr>
          <p:cNvPr id="160" name="cell-328"/>
          <p:cNvSpPr/>
          <p:nvPr/>
        </p:nvSpPr>
        <p:spPr>
          <a:xfrm>
            <a:off x="2633472" y="2688336"/>
            <a:ext cx="155448" cy="155448"/>
          </a:xfrm>
          <a:prstGeom prst="rect">
            <a:avLst/>
          </a:prstGeom>
          <a:solidFill>
            <a:schemeClr val="accent1">
              <a:alpha val="67000"/>
            </a:schemeClr>
          </a:solidFill>
          <a:ln w="12700">
            <a:solidFill>
              <a:schemeClr val="accent1">
                <a:alpha val="0"/>
              </a:schemeClr>
            </a:solidFill>
            <a:prstDash val="solid"/>
          </a:ln>
        </p:spPr>
      </p:sp>
      <p:sp>
        <p:nvSpPr>
          <p:cNvPr id="161" name="cell-329"/>
          <p:cNvSpPr/>
          <p:nvPr/>
        </p:nvSpPr>
        <p:spPr>
          <a:xfrm>
            <a:off x="2807208" y="2688336"/>
            <a:ext cx="155448" cy="155448"/>
          </a:xfrm>
          <a:prstGeom prst="rect">
            <a:avLst/>
          </a:prstGeom>
          <a:solidFill>
            <a:schemeClr val="accent1">
              <a:alpha val="73000"/>
            </a:schemeClr>
          </a:solidFill>
          <a:ln w="12700">
            <a:solidFill>
              <a:schemeClr val="accent1">
                <a:alpha val="0"/>
              </a:schemeClr>
            </a:solidFill>
            <a:prstDash val="solid"/>
          </a:ln>
        </p:spPr>
      </p:sp>
      <p:sp>
        <p:nvSpPr>
          <p:cNvPr id="162" name="cell-330"/>
          <p:cNvSpPr/>
          <p:nvPr/>
        </p:nvSpPr>
        <p:spPr>
          <a:xfrm>
            <a:off x="2980944" y="2688336"/>
            <a:ext cx="155448" cy="155448"/>
          </a:xfrm>
          <a:prstGeom prst="rect">
            <a:avLst/>
          </a:prstGeom>
          <a:solidFill>
            <a:schemeClr val="accent1">
              <a:alpha val="65000"/>
            </a:schemeClr>
          </a:solidFill>
          <a:ln w="12700">
            <a:solidFill>
              <a:schemeClr val="accent1">
                <a:alpha val="0"/>
              </a:schemeClr>
            </a:solidFill>
            <a:prstDash val="solid"/>
          </a:ln>
        </p:spPr>
      </p:sp>
      <p:sp>
        <p:nvSpPr>
          <p:cNvPr id="163" name="cell-331"/>
          <p:cNvSpPr/>
          <p:nvPr/>
        </p:nvSpPr>
        <p:spPr>
          <a:xfrm>
            <a:off x="3154680" y="2688336"/>
            <a:ext cx="155448" cy="155448"/>
          </a:xfrm>
          <a:prstGeom prst="rect">
            <a:avLst/>
          </a:prstGeom>
          <a:solidFill>
            <a:schemeClr val="accent1">
              <a:alpha val="45000"/>
            </a:schemeClr>
          </a:solidFill>
          <a:ln w="12700">
            <a:solidFill>
              <a:schemeClr val="accent1">
                <a:alpha val="0"/>
              </a:schemeClr>
            </a:solidFill>
            <a:prstDash val="solid"/>
          </a:ln>
        </p:spPr>
      </p:sp>
      <p:sp>
        <p:nvSpPr>
          <p:cNvPr id="164" name="cell-332"/>
          <p:cNvSpPr/>
          <p:nvPr/>
        </p:nvSpPr>
        <p:spPr>
          <a:xfrm>
            <a:off x="3328416" y="2688336"/>
            <a:ext cx="155448" cy="155448"/>
          </a:xfrm>
          <a:prstGeom prst="rect">
            <a:avLst/>
          </a:prstGeom>
          <a:solidFill>
            <a:schemeClr val="accent1">
              <a:alpha val="26000"/>
            </a:schemeClr>
          </a:solidFill>
          <a:ln w="12700">
            <a:solidFill>
              <a:schemeClr val="accent1">
                <a:alpha val="0"/>
              </a:schemeClr>
            </a:solidFill>
            <a:prstDash val="solid"/>
          </a:ln>
        </p:spPr>
      </p:sp>
      <p:sp>
        <p:nvSpPr>
          <p:cNvPr id="165" name="cell-333"/>
          <p:cNvSpPr/>
          <p:nvPr/>
        </p:nvSpPr>
        <p:spPr>
          <a:xfrm>
            <a:off x="3502152" y="2688336"/>
            <a:ext cx="155448" cy="155448"/>
          </a:xfrm>
          <a:prstGeom prst="rect">
            <a:avLst/>
          </a:prstGeom>
          <a:solidFill>
            <a:schemeClr val="accent1">
              <a:alpha val="17000"/>
            </a:schemeClr>
          </a:solidFill>
          <a:ln w="12700">
            <a:solidFill>
              <a:schemeClr val="accent1">
                <a:alpha val="0"/>
              </a:schemeClr>
            </a:solidFill>
            <a:prstDash val="solid"/>
          </a:ln>
        </p:spPr>
      </p:sp>
      <p:sp>
        <p:nvSpPr>
          <p:cNvPr id="166" name="cell-334"/>
          <p:cNvSpPr/>
          <p:nvPr/>
        </p:nvSpPr>
        <p:spPr>
          <a:xfrm>
            <a:off x="3675888" y="2688336"/>
            <a:ext cx="155448" cy="155448"/>
          </a:xfrm>
          <a:prstGeom prst="rect">
            <a:avLst/>
          </a:prstGeom>
          <a:solidFill>
            <a:schemeClr val="accent1">
              <a:alpha val="23000"/>
            </a:schemeClr>
          </a:solidFill>
          <a:ln w="12700">
            <a:solidFill>
              <a:schemeClr val="accent1">
                <a:alpha val="0"/>
              </a:schemeClr>
            </a:solidFill>
            <a:prstDash val="solid"/>
          </a:ln>
        </p:spPr>
      </p:sp>
      <p:sp>
        <p:nvSpPr>
          <p:cNvPr id="167" name="cell-335"/>
          <p:cNvSpPr/>
          <p:nvPr/>
        </p:nvSpPr>
        <p:spPr>
          <a:xfrm>
            <a:off x="3849624" y="2688336"/>
            <a:ext cx="155448" cy="155448"/>
          </a:xfrm>
          <a:prstGeom prst="rect">
            <a:avLst/>
          </a:prstGeom>
          <a:solidFill>
            <a:schemeClr val="accent1">
              <a:alpha val="39000"/>
            </a:schemeClr>
          </a:solidFill>
          <a:ln w="12700">
            <a:solidFill>
              <a:schemeClr val="accent1">
                <a:alpha val="0"/>
              </a:schemeClr>
            </a:solidFill>
            <a:prstDash val="solid"/>
          </a:ln>
        </p:spPr>
      </p:sp>
      <p:sp>
        <p:nvSpPr>
          <p:cNvPr id="168" name="cell-336"/>
          <p:cNvSpPr/>
          <p:nvPr/>
        </p:nvSpPr>
        <p:spPr>
          <a:xfrm>
            <a:off x="4023360" y="2688336"/>
            <a:ext cx="155448" cy="155448"/>
          </a:xfrm>
          <a:prstGeom prst="rect">
            <a:avLst/>
          </a:prstGeom>
          <a:solidFill>
            <a:schemeClr val="accent1">
              <a:alpha val="53000"/>
            </a:schemeClr>
          </a:solidFill>
          <a:ln w="12700">
            <a:solidFill>
              <a:schemeClr val="accent1">
                <a:alpha val="0"/>
              </a:schemeClr>
            </a:solidFill>
            <a:prstDash val="solid"/>
          </a:ln>
        </p:spPr>
      </p:sp>
      <p:sp>
        <p:nvSpPr>
          <p:cNvPr id="169" name="cell-337"/>
          <p:cNvSpPr/>
          <p:nvPr/>
        </p:nvSpPr>
        <p:spPr>
          <a:xfrm>
            <a:off x="4197096" y="2688336"/>
            <a:ext cx="155448" cy="155448"/>
          </a:xfrm>
          <a:prstGeom prst="rect">
            <a:avLst/>
          </a:prstGeom>
          <a:solidFill>
            <a:schemeClr val="accent1">
              <a:alpha val="56000"/>
            </a:schemeClr>
          </a:solidFill>
          <a:ln w="12700">
            <a:solidFill>
              <a:schemeClr val="accent1">
                <a:alpha val="0"/>
              </a:schemeClr>
            </a:solidFill>
            <a:prstDash val="solid"/>
          </a:ln>
        </p:spPr>
      </p:sp>
      <p:sp>
        <p:nvSpPr>
          <p:cNvPr id="170" name="cell-338"/>
          <p:cNvSpPr/>
          <p:nvPr/>
        </p:nvSpPr>
        <p:spPr>
          <a:xfrm>
            <a:off x="4370832" y="2688336"/>
            <a:ext cx="155448" cy="155448"/>
          </a:xfrm>
          <a:prstGeom prst="rect">
            <a:avLst/>
          </a:prstGeom>
          <a:solidFill>
            <a:schemeClr val="accent1">
              <a:alpha val="49000"/>
            </a:schemeClr>
          </a:solidFill>
          <a:ln w="12700">
            <a:solidFill>
              <a:schemeClr val="accent1">
                <a:alpha val="0"/>
              </a:schemeClr>
            </a:solidFill>
            <a:prstDash val="solid"/>
          </a:ln>
        </p:spPr>
      </p:sp>
      <p:sp>
        <p:nvSpPr>
          <p:cNvPr id="171" name="cell-339"/>
          <p:cNvSpPr/>
          <p:nvPr/>
        </p:nvSpPr>
        <p:spPr>
          <a:xfrm>
            <a:off x="4544568" y="2688336"/>
            <a:ext cx="155448" cy="155448"/>
          </a:xfrm>
          <a:prstGeom prst="rect">
            <a:avLst/>
          </a:prstGeom>
          <a:solidFill>
            <a:schemeClr val="accent1">
              <a:alpha val="41000"/>
            </a:schemeClr>
          </a:solidFill>
          <a:ln w="12700">
            <a:solidFill>
              <a:schemeClr val="accent1">
                <a:alpha val="0"/>
              </a:schemeClr>
            </a:solidFill>
            <a:prstDash val="solid"/>
          </a:ln>
        </p:spPr>
      </p:sp>
      <p:sp>
        <p:nvSpPr>
          <p:cNvPr id="172" name="cell-340"/>
          <p:cNvSpPr/>
          <p:nvPr/>
        </p:nvSpPr>
        <p:spPr>
          <a:xfrm>
            <a:off x="548640" y="2862072"/>
            <a:ext cx="155448" cy="155448"/>
          </a:xfrm>
          <a:prstGeom prst="rect">
            <a:avLst/>
          </a:prstGeom>
          <a:solidFill>
            <a:schemeClr val="accent1">
              <a:alpha val="53000"/>
            </a:schemeClr>
          </a:solidFill>
          <a:ln w="12700">
            <a:solidFill>
              <a:schemeClr val="accent1">
                <a:alpha val="0"/>
              </a:schemeClr>
            </a:solidFill>
            <a:prstDash val="solid"/>
          </a:ln>
        </p:spPr>
      </p:sp>
      <p:sp>
        <p:nvSpPr>
          <p:cNvPr id="173" name="cell-341"/>
          <p:cNvSpPr/>
          <p:nvPr/>
        </p:nvSpPr>
        <p:spPr>
          <a:xfrm>
            <a:off x="722376" y="2862072"/>
            <a:ext cx="155448" cy="155448"/>
          </a:xfrm>
          <a:prstGeom prst="rect">
            <a:avLst/>
          </a:prstGeom>
          <a:solidFill>
            <a:schemeClr val="accent1">
              <a:alpha val="33000"/>
            </a:schemeClr>
          </a:solidFill>
          <a:ln w="12700">
            <a:solidFill>
              <a:schemeClr val="accent1">
                <a:alpha val="0"/>
              </a:schemeClr>
            </a:solidFill>
            <a:prstDash val="solid"/>
          </a:ln>
        </p:spPr>
      </p:sp>
      <p:sp>
        <p:nvSpPr>
          <p:cNvPr id="174" name="cell-342"/>
          <p:cNvSpPr/>
          <p:nvPr/>
        </p:nvSpPr>
        <p:spPr>
          <a:xfrm>
            <a:off x="896112" y="2862072"/>
            <a:ext cx="155448" cy="155448"/>
          </a:xfrm>
          <a:prstGeom prst="rect">
            <a:avLst/>
          </a:prstGeom>
          <a:solidFill>
            <a:schemeClr val="accent1">
              <a:alpha val="18000"/>
            </a:schemeClr>
          </a:solidFill>
          <a:ln w="12700">
            <a:solidFill>
              <a:schemeClr val="accent1">
                <a:alpha val="0"/>
              </a:schemeClr>
            </a:solidFill>
            <a:prstDash val="solid"/>
          </a:ln>
        </p:spPr>
      </p:sp>
      <p:sp>
        <p:nvSpPr>
          <p:cNvPr id="175" name="cell-343"/>
          <p:cNvSpPr/>
          <p:nvPr/>
        </p:nvSpPr>
        <p:spPr>
          <a:xfrm>
            <a:off x="1069848" y="2862072"/>
            <a:ext cx="155448" cy="155448"/>
          </a:xfrm>
          <a:prstGeom prst="rect">
            <a:avLst/>
          </a:prstGeom>
          <a:solidFill>
            <a:schemeClr val="accent1">
              <a:alpha val="17000"/>
            </a:schemeClr>
          </a:solidFill>
          <a:ln w="12700">
            <a:solidFill>
              <a:schemeClr val="accent1">
                <a:alpha val="0"/>
              </a:schemeClr>
            </a:solidFill>
            <a:prstDash val="solid"/>
          </a:ln>
        </p:spPr>
      </p:sp>
      <p:sp>
        <p:nvSpPr>
          <p:cNvPr id="176" name="cell-344"/>
          <p:cNvSpPr/>
          <p:nvPr/>
        </p:nvSpPr>
        <p:spPr>
          <a:xfrm>
            <a:off x="1243584" y="2862072"/>
            <a:ext cx="155448" cy="155448"/>
          </a:xfrm>
          <a:prstGeom prst="rect">
            <a:avLst/>
          </a:prstGeom>
          <a:solidFill>
            <a:schemeClr val="accent1">
              <a:alpha val="30000"/>
            </a:schemeClr>
          </a:solidFill>
          <a:ln w="12700">
            <a:solidFill>
              <a:schemeClr val="accent1">
                <a:alpha val="0"/>
              </a:schemeClr>
            </a:solidFill>
            <a:prstDash val="solid"/>
          </a:ln>
        </p:spPr>
      </p:sp>
      <p:sp>
        <p:nvSpPr>
          <p:cNvPr id="177" name="cell-345"/>
          <p:cNvSpPr/>
          <p:nvPr/>
        </p:nvSpPr>
        <p:spPr>
          <a:xfrm>
            <a:off x="1417320" y="2862072"/>
            <a:ext cx="155448" cy="155448"/>
          </a:xfrm>
          <a:prstGeom prst="rect">
            <a:avLst/>
          </a:prstGeom>
          <a:solidFill>
            <a:schemeClr val="accent1">
              <a:alpha val="49000"/>
            </a:schemeClr>
          </a:solidFill>
          <a:ln w="12700">
            <a:solidFill>
              <a:schemeClr val="accent1">
                <a:alpha val="0"/>
              </a:schemeClr>
            </a:solidFill>
            <a:prstDash val="solid"/>
          </a:ln>
        </p:spPr>
      </p:sp>
      <p:sp>
        <p:nvSpPr>
          <p:cNvPr id="178" name="cell-346"/>
          <p:cNvSpPr/>
          <p:nvPr/>
        </p:nvSpPr>
        <p:spPr>
          <a:xfrm>
            <a:off x="1591056" y="2862072"/>
            <a:ext cx="155448" cy="155448"/>
          </a:xfrm>
          <a:prstGeom prst="rect">
            <a:avLst/>
          </a:prstGeom>
          <a:solidFill>
            <a:schemeClr val="accent1">
              <a:alpha val="61000"/>
            </a:schemeClr>
          </a:solidFill>
          <a:ln w="12700">
            <a:solidFill>
              <a:schemeClr val="accent1">
                <a:alpha val="0"/>
              </a:schemeClr>
            </a:solidFill>
            <a:prstDash val="solid"/>
          </a:ln>
        </p:spPr>
      </p:sp>
      <p:sp>
        <p:nvSpPr>
          <p:cNvPr id="179" name="cell-347"/>
          <p:cNvSpPr/>
          <p:nvPr/>
        </p:nvSpPr>
        <p:spPr>
          <a:xfrm>
            <a:off x="1764792" y="2862072"/>
            <a:ext cx="155448" cy="155448"/>
          </a:xfrm>
          <a:prstGeom prst="rect">
            <a:avLst/>
          </a:prstGeom>
          <a:solidFill>
            <a:schemeClr val="accent1">
              <a:alpha val="60000"/>
            </a:schemeClr>
          </a:solidFill>
          <a:ln w="12700">
            <a:solidFill>
              <a:schemeClr val="accent1">
                <a:alpha val="0"/>
              </a:schemeClr>
            </a:solidFill>
            <a:prstDash val="solid"/>
          </a:ln>
        </p:spPr>
      </p:sp>
      <p:sp>
        <p:nvSpPr>
          <p:cNvPr id="180" name="cell-348"/>
          <p:cNvSpPr/>
          <p:nvPr/>
        </p:nvSpPr>
        <p:spPr>
          <a:xfrm>
            <a:off x="1938528" y="2862072"/>
            <a:ext cx="155448" cy="155448"/>
          </a:xfrm>
          <a:prstGeom prst="rect">
            <a:avLst/>
          </a:prstGeom>
          <a:solidFill>
            <a:schemeClr val="accent1">
              <a:alpha val="52000"/>
            </a:schemeClr>
          </a:solidFill>
          <a:ln w="12700">
            <a:solidFill>
              <a:schemeClr val="accent1">
                <a:alpha val="0"/>
              </a:schemeClr>
            </a:solidFill>
            <a:prstDash val="solid"/>
          </a:ln>
        </p:spPr>
      </p:sp>
      <p:sp>
        <p:nvSpPr>
          <p:cNvPr id="181" name="cell-349"/>
          <p:cNvSpPr/>
          <p:nvPr/>
        </p:nvSpPr>
        <p:spPr>
          <a:xfrm>
            <a:off x="2112264" y="2862072"/>
            <a:ext cx="155448" cy="155448"/>
          </a:xfrm>
          <a:prstGeom prst="rect">
            <a:avLst/>
          </a:prstGeom>
          <a:solidFill>
            <a:schemeClr val="accent1">
              <a:alpha val="45000"/>
            </a:schemeClr>
          </a:solidFill>
          <a:ln w="12700">
            <a:solidFill>
              <a:schemeClr val="accent1">
                <a:alpha val="0"/>
              </a:schemeClr>
            </a:solidFill>
            <a:prstDash val="solid"/>
          </a:ln>
        </p:spPr>
      </p:sp>
      <p:sp>
        <p:nvSpPr>
          <p:cNvPr id="182" name="cell-350"/>
          <p:cNvSpPr/>
          <p:nvPr/>
        </p:nvSpPr>
        <p:spPr>
          <a:xfrm>
            <a:off x="2286000" y="2862072"/>
            <a:ext cx="155448" cy="155448"/>
          </a:xfrm>
          <a:prstGeom prst="rect">
            <a:avLst/>
          </a:prstGeom>
          <a:solidFill>
            <a:schemeClr val="accent1">
              <a:alpha val="50000"/>
            </a:schemeClr>
          </a:solidFill>
          <a:ln w="12700">
            <a:solidFill>
              <a:schemeClr val="accent1">
                <a:alpha val="0"/>
              </a:schemeClr>
            </a:solidFill>
            <a:prstDash val="solid"/>
          </a:ln>
        </p:spPr>
      </p:sp>
      <p:sp>
        <p:nvSpPr>
          <p:cNvPr id="183" name="cell-351"/>
          <p:cNvSpPr/>
          <p:nvPr/>
        </p:nvSpPr>
        <p:spPr>
          <a:xfrm>
            <a:off x="2459736" y="2862072"/>
            <a:ext cx="155448" cy="155448"/>
          </a:xfrm>
          <a:prstGeom prst="rect">
            <a:avLst/>
          </a:prstGeom>
          <a:solidFill>
            <a:schemeClr val="accent1">
              <a:alpha val="64000"/>
            </a:schemeClr>
          </a:solidFill>
          <a:ln w="12700">
            <a:solidFill>
              <a:schemeClr val="accent1">
                <a:alpha val="0"/>
              </a:schemeClr>
            </a:solidFill>
            <a:prstDash val="solid"/>
          </a:ln>
        </p:spPr>
      </p:sp>
      <p:sp>
        <p:nvSpPr>
          <p:cNvPr id="184" name="cell-352"/>
          <p:cNvSpPr/>
          <p:nvPr/>
        </p:nvSpPr>
        <p:spPr>
          <a:xfrm>
            <a:off x="2633472" y="2862072"/>
            <a:ext cx="155448" cy="155448"/>
          </a:xfrm>
          <a:prstGeom prst="rect">
            <a:avLst/>
          </a:prstGeom>
          <a:solidFill>
            <a:schemeClr val="accent1">
              <a:alpha val="78000"/>
            </a:schemeClr>
          </a:solidFill>
          <a:ln w="12700">
            <a:solidFill>
              <a:schemeClr val="accent1">
                <a:alpha val="0"/>
              </a:schemeClr>
            </a:solidFill>
            <a:prstDash val="solid"/>
          </a:ln>
        </p:spPr>
      </p:sp>
      <p:sp>
        <p:nvSpPr>
          <p:cNvPr id="185" name="cell-353"/>
          <p:cNvSpPr/>
          <p:nvPr/>
        </p:nvSpPr>
        <p:spPr>
          <a:xfrm>
            <a:off x="2807208" y="2862072"/>
            <a:ext cx="155448" cy="155448"/>
          </a:xfrm>
          <a:prstGeom prst="rect">
            <a:avLst/>
          </a:prstGeom>
          <a:solidFill>
            <a:schemeClr val="accent1">
              <a:alpha val="82000"/>
            </a:schemeClr>
          </a:solidFill>
          <a:ln w="12700">
            <a:solidFill>
              <a:schemeClr val="accent1">
                <a:alpha val="0"/>
              </a:schemeClr>
            </a:solidFill>
            <a:prstDash val="solid"/>
          </a:ln>
        </p:spPr>
      </p:sp>
      <p:sp>
        <p:nvSpPr>
          <p:cNvPr id="186" name="cell-354"/>
          <p:cNvSpPr/>
          <p:nvPr/>
        </p:nvSpPr>
        <p:spPr>
          <a:xfrm>
            <a:off x="2980944" y="2862072"/>
            <a:ext cx="155448" cy="155448"/>
          </a:xfrm>
          <a:prstGeom prst="rect">
            <a:avLst/>
          </a:prstGeom>
          <a:solidFill>
            <a:schemeClr val="accent1">
              <a:alpha val="70000"/>
            </a:schemeClr>
          </a:solidFill>
          <a:ln w="12700">
            <a:solidFill>
              <a:schemeClr val="accent1">
                <a:alpha val="0"/>
              </a:schemeClr>
            </a:solidFill>
            <a:prstDash val="solid"/>
          </a:ln>
        </p:spPr>
      </p:sp>
      <p:sp>
        <p:nvSpPr>
          <p:cNvPr id="187" name="cell-355"/>
          <p:cNvSpPr/>
          <p:nvPr/>
        </p:nvSpPr>
        <p:spPr>
          <a:xfrm>
            <a:off x="3154680" y="2862072"/>
            <a:ext cx="155448" cy="155448"/>
          </a:xfrm>
          <a:prstGeom prst="rect">
            <a:avLst/>
          </a:prstGeom>
          <a:solidFill>
            <a:schemeClr val="accent1">
              <a:alpha val="50000"/>
            </a:schemeClr>
          </a:solidFill>
          <a:ln w="12700">
            <a:solidFill>
              <a:schemeClr val="accent1">
                <a:alpha val="0"/>
              </a:schemeClr>
            </a:solidFill>
            <a:prstDash val="solid"/>
          </a:ln>
        </p:spPr>
      </p:sp>
      <p:sp>
        <p:nvSpPr>
          <p:cNvPr id="188" name="cell-356"/>
          <p:cNvSpPr/>
          <p:nvPr/>
        </p:nvSpPr>
        <p:spPr>
          <a:xfrm>
            <a:off x="3328416" y="2862072"/>
            <a:ext cx="155448" cy="155448"/>
          </a:xfrm>
          <a:prstGeom prst="rect">
            <a:avLst/>
          </a:prstGeom>
          <a:solidFill>
            <a:schemeClr val="accent1">
              <a:alpha val="31000"/>
            </a:schemeClr>
          </a:solidFill>
          <a:ln w="12700">
            <a:solidFill>
              <a:schemeClr val="accent1">
                <a:alpha val="0"/>
              </a:schemeClr>
            </a:solidFill>
            <a:prstDash val="solid"/>
          </a:ln>
        </p:spPr>
      </p:sp>
      <p:sp>
        <p:nvSpPr>
          <p:cNvPr id="189" name="cell-357"/>
          <p:cNvSpPr/>
          <p:nvPr/>
        </p:nvSpPr>
        <p:spPr>
          <a:xfrm>
            <a:off x="3502152" y="2862072"/>
            <a:ext cx="155448" cy="155448"/>
          </a:xfrm>
          <a:prstGeom prst="rect">
            <a:avLst/>
          </a:prstGeom>
          <a:solidFill>
            <a:schemeClr val="accent1">
              <a:alpha val="26000"/>
            </a:schemeClr>
          </a:solidFill>
          <a:ln w="12700">
            <a:solidFill>
              <a:schemeClr val="accent1">
                <a:alpha val="0"/>
              </a:schemeClr>
            </a:solidFill>
            <a:prstDash val="solid"/>
          </a:ln>
        </p:spPr>
      </p:sp>
      <p:sp>
        <p:nvSpPr>
          <p:cNvPr id="190" name="cell-358"/>
          <p:cNvSpPr/>
          <p:nvPr/>
        </p:nvSpPr>
        <p:spPr>
          <a:xfrm>
            <a:off x="3675888" y="2862072"/>
            <a:ext cx="155448" cy="155448"/>
          </a:xfrm>
          <a:prstGeom prst="rect">
            <a:avLst/>
          </a:prstGeom>
          <a:solidFill>
            <a:schemeClr val="accent1">
              <a:alpha val="33000"/>
            </a:schemeClr>
          </a:solidFill>
          <a:ln w="12700">
            <a:solidFill>
              <a:schemeClr val="accent1">
                <a:alpha val="0"/>
              </a:schemeClr>
            </a:solidFill>
            <a:prstDash val="solid"/>
          </a:ln>
        </p:spPr>
      </p:sp>
      <p:sp>
        <p:nvSpPr>
          <p:cNvPr id="191" name="cell-359"/>
          <p:cNvSpPr/>
          <p:nvPr/>
        </p:nvSpPr>
        <p:spPr>
          <a:xfrm>
            <a:off x="3849624" y="2862072"/>
            <a:ext cx="155448" cy="155448"/>
          </a:xfrm>
          <a:prstGeom prst="rect">
            <a:avLst/>
          </a:prstGeom>
          <a:solidFill>
            <a:schemeClr val="accent1">
              <a:alpha val="45000"/>
            </a:schemeClr>
          </a:solidFill>
          <a:ln w="12700">
            <a:solidFill>
              <a:schemeClr val="accent1">
                <a:alpha val="0"/>
              </a:schemeClr>
            </a:solidFill>
            <a:prstDash val="solid"/>
          </a:ln>
        </p:spPr>
      </p:sp>
      <p:sp>
        <p:nvSpPr>
          <p:cNvPr id="192" name="cell-360"/>
          <p:cNvSpPr/>
          <p:nvPr/>
        </p:nvSpPr>
        <p:spPr>
          <a:xfrm>
            <a:off x="4023360" y="2862072"/>
            <a:ext cx="155448" cy="155448"/>
          </a:xfrm>
          <a:prstGeom prst="rect">
            <a:avLst/>
          </a:prstGeom>
          <a:solidFill>
            <a:schemeClr val="accent1">
              <a:alpha val="50000"/>
            </a:schemeClr>
          </a:solidFill>
          <a:ln w="12700">
            <a:solidFill>
              <a:schemeClr val="accent1">
                <a:alpha val="0"/>
              </a:schemeClr>
            </a:solidFill>
            <a:prstDash val="solid"/>
          </a:ln>
        </p:spPr>
      </p:sp>
      <p:sp>
        <p:nvSpPr>
          <p:cNvPr id="193" name="cell-361"/>
          <p:cNvSpPr/>
          <p:nvPr/>
        </p:nvSpPr>
        <p:spPr>
          <a:xfrm>
            <a:off x="4197096" y="2862072"/>
            <a:ext cx="155448" cy="155448"/>
          </a:xfrm>
          <a:prstGeom prst="rect">
            <a:avLst/>
          </a:prstGeom>
          <a:solidFill>
            <a:schemeClr val="accent1">
              <a:alpha val="45000"/>
            </a:schemeClr>
          </a:solidFill>
          <a:ln w="12700">
            <a:solidFill>
              <a:schemeClr val="accent1">
                <a:alpha val="0"/>
              </a:schemeClr>
            </a:solidFill>
            <a:prstDash val="solid"/>
          </a:ln>
        </p:spPr>
      </p:sp>
      <p:sp>
        <p:nvSpPr>
          <p:cNvPr id="194" name="cell-362"/>
          <p:cNvSpPr/>
          <p:nvPr/>
        </p:nvSpPr>
        <p:spPr>
          <a:xfrm>
            <a:off x="4370832" y="2862072"/>
            <a:ext cx="155448" cy="155448"/>
          </a:xfrm>
          <a:prstGeom prst="rect">
            <a:avLst/>
          </a:prstGeom>
          <a:solidFill>
            <a:schemeClr val="accent1">
              <a:alpha val="33000"/>
            </a:schemeClr>
          </a:solidFill>
          <a:ln w="12700">
            <a:solidFill>
              <a:schemeClr val="accent1">
                <a:alpha val="0"/>
              </a:schemeClr>
            </a:solidFill>
            <a:prstDash val="solid"/>
          </a:ln>
        </p:spPr>
      </p:sp>
      <p:sp>
        <p:nvSpPr>
          <p:cNvPr id="195" name="cell-363"/>
          <p:cNvSpPr/>
          <p:nvPr/>
        </p:nvSpPr>
        <p:spPr>
          <a:xfrm>
            <a:off x="4544568" y="2862072"/>
            <a:ext cx="155448" cy="155448"/>
          </a:xfrm>
          <a:prstGeom prst="rect">
            <a:avLst/>
          </a:prstGeom>
          <a:solidFill>
            <a:schemeClr val="accent1">
              <a:alpha val="27000"/>
            </a:schemeClr>
          </a:solidFill>
          <a:ln w="12700">
            <a:solidFill>
              <a:schemeClr val="accent1">
                <a:alpha val="0"/>
              </a:schemeClr>
            </a:solidFill>
            <a:prstDash val="solid"/>
          </a:ln>
        </p:spPr>
      </p:sp>
      <p:sp>
        <p:nvSpPr>
          <p:cNvPr id="196" name="cell-364"/>
          <p:cNvSpPr/>
          <p:nvPr/>
        </p:nvSpPr>
        <p:spPr>
          <a:xfrm>
            <a:off x="548640" y="3035808"/>
            <a:ext cx="155448" cy="155448"/>
          </a:xfrm>
          <a:prstGeom prst="rect">
            <a:avLst/>
          </a:prstGeom>
          <a:solidFill>
            <a:schemeClr val="accent1">
              <a:alpha val="57000"/>
            </a:schemeClr>
          </a:solidFill>
          <a:ln w="12700">
            <a:solidFill>
              <a:schemeClr val="accent1">
                <a:alpha val="0"/>
              </a:schemeClr>
            </a:solidFill>
            <a:prstDash val="solid"/>
          </a:ln>
        </p:spPr>
      </p:sp>
      <p:sp>
        <p:nvSpPr>
          <p:cNvPr id="197" name="cell-365"/>
          <p:cNvSpPr/>
          <p:nvPr/>
        </p:nvSpPr>
        <p:spPr>
          <a:xfrm>
            <a:off x="722376" y="3035808"/>
            <a:ext cx="155448" cy="155448"/>
          </a:xfrm>
          <a:prstGeom prst="rect">
            <a:avLst/>
          </a:prstGeom>
          <a:solidFill>
            <a:schemeClr val="accent1">
              <a:alpha val="36000"/>
            </a:schemeClr>
          </a:solidFill>
          <a:ln w="12700">
            <a:solidFill>
              <a:schemeClr val="accent1">
                <a:alpha val="0"/>
              </a:schemeClr>
            </a:solidFill>
            <a:prstDash val="solid"/>
          </a:ln>
        </p:spPr>
      </p:sp>
      <p:sp>
        <p:nvSpPr>
          <p:cNvPr id="198" name="cell-366"/>
          <p:cNvSpPr/>
          <p:nvPr/>
        </p:nvSpPr>
        <p:spPr>
          <a:xfrm>
            <a:off x="896112" y="3035808"/>
            <a:ext cx="155448" cy="155448"/>
          </a:xfrm>
          <a:prstGeom prst="rect">
            <a:avLst/>
          </a:prstGeom>
          <a:solidFill>
            <a:schemeClr val="accent1">
              <a:alpha val="22000"/>
            </a:schemeClr>
          </a:solidFill>
          <a:ln w="12700">
            <a:solidFill>
              <a:schemeClr val="accent1">
                <a:alpha val="0"/>
              </a:schemeClr>
            </a:solidFill>
            <a:prstDash val="solid"/>
          </a:ln>
        </p:spPr>
      </p:sp>
      <p:sp>
        <p:nvSpPr>
          <p:cNvPr id="199" name="cell-367"/>
          <p:cNvSpPr/>
          <p:nvPr/>
        </p:nvSpPr>
        <p:spPr>
          <a:xfrm>
            <a:off x="1069848" y="3035808"/>
            <a:ext cx="155448" cy="155448"/>
          </a:xfrm>
          <a:prstGeom prst="rect">
            <a:avLst/>
          </a:prstGeom>
          <a:solidFill>
            <a:schemeClr val="accent1">
              <a:alpha val="23000"/>
            </a:schemeClr>
          </a:solidFill>
          <a:ln w="12700">
            <a:solidFill>
              <a:schemeClr val="accent1">
                <a:alpha val="0"/>
              </a:schemeClr>
            </a:solidFill>
            <a:prstDash val="solid"/>
          </a:ln>
        </p:spPr>
      </p:sp>
      <p:sp>
        <p:nvSpPr>
          <p:cNvPr id="200" name="cell-368"/>
          <p:cNvSpPr/>
          <p:nvPr/>
        </p:nvSpPr>
        <p:spPr>
          <a:xfrm>
            <a:off x="1243584" y="3035808"/>
            <a:ext cx="155448" cy="155448"/>
          </a:xfrm>
          <a:prstGeom prst="rect">
            <a:avLst/>
          </a:prstGeom>
          <a:solidFill>
            <a:schemeClr val="accent1">
              <a:alpha val="35000"/>
            </a:schemeClr>
          </a:solidFill>
          <a:ln w="12700">
            <a:solidFill>
              <a:schemeClr val="accent1">
                <a:alpha val="0"/>
              </a:schemeClr>
            </a:solidFill>
            <a:prstDash val="solid"/>
          </a:ln>
        </p:spPr>
      </p:sp>
      <p:sp>
        <p:nvSpPr>
          <p:cNvPr id="201" name="cell-369"/>
          <p:cNvSpPr/>
          <p:nvPr/>
        </p:nvSpPr>
        <p:spPr>
          <a:xfrm>
            <a:off x="1417320" y="3035808"/>
            <a:ext cx="155448" cy="155448"/>
          </a:xfrm>
          <a:prstGeom prst="rect">
            <a:avLst/>
          </a:prstGeom>
          <a:solidFill>
            <a:schemeClr val="accent1">
              <a:alpha val="48000"/>
            </a:schemeClr>
          </a:solidFill>
          <a:ln w="12700">
            <a:solidFill>
              <a:schemeClr val="accent1">
                <a:alpha val="0"/>
              </a:schemeClr>
            </a:solidFill>
            <a:prstDash val="solid"/>
          </a:ln>
        </p:spPr>
      </p:sp>
      <p:sp>
        <p:nvSpPr>
          <p:cNvPr id="202" name="cell-370"/>
          <p:cNvSpPr/>
          <p:nvPr/>
        </p:nvSpPr>
        <p:spPr>
          <a:xfrm>
            <a:off x="1591056" y="3035808"/>
            <a:ext cx="155448" cy="155448"/>
          </a:xfrm>
          <a:prstGeom prst="rect">
            <a:avLst/>
          </a:prstGeom>
          <a:solidFill>
            <a:schemeClr val="accent1">
              <a:alpha val="52000"/>
            </a:schemeClr>
          </a:solidFill>
          <a:ln w="12700">
            <a:solidFill>
              <a:schemeClr val="accent1">
                <a:alpha val="0"/>
              </a:schemeClr>
            </a:solidFill>
            <a:prstDash val="solid"/>
          </a:ln>
        </p:spPr>
      </p:sp>
      <p:sp>
        <p:nvSpPr>
          <p:cNvPr id="203" name="cell-371"/>
          <p:cNvSpPr/>
          <p:nvPr/>
        </p:nvSpPr>
        <p:spPr>
          <a:xfrm>
            <a:off x="1764792" y="3035808"/>
            <a:ext cx="155448" cy="155448"/>
          </a:xfrm>
          <a:prstGeom prst="rect">
            <a:avLst/>
          </a:prstGeom>
          <a:solidFill>
            <a:schemeClr val="accent1">
              <a:alpha val="45000"/>
            </a:schemeClr>
          </a:solidFill>
          <a:ln w="12700">
            <a:solidFill>
              <a:schemeClr val="accent1">
                <a:alpha val="0"/>
              </a:schemeClr>
            </a:solidFill>
            <a:prstDash val="solid"/>
          </a:ln>
        </p:spPr>
      </p:sp>
      <p:sp>
        <p:nvSpPr>
          <p:cNvPr id="204" name="cell-372"/>
          <p:cNvSpPr/>
          <p:nvPr/>
        </p:nvSpPr>
        <p:spPr>
          <a:xfrm>
            <a:off x="1938528" y="3035808"/>
            <a:ext cx="155448" cy="155448"/>
          </a:xfrm>
          <a:prstGeom prst="rect">
            <a:avLst/>
          </a:prstGeom>
          <a:solidFill>
            <a:schemeClr val="accent1">
              <a:alpha val="36000"/>
            </a:schemeClr>
          </a:solidFill>
          <a:ln w="12700">
            <a:solidFill>
              <a:schemeClr val="accent1">
                <a:alpha val="0"/>
              </a:schemeClr>
            </a:solidFill>
            <a:prstDash val="solid"/>
          </a:ln>
        </p:spPr>
      </p:sp>
      <p:sp>
        <p:nvSpPr>
          <p:cNvPr id="205" name="cell-373"/>
          <p:cNvSpPr/>
          <p:nvPr/>
        </p:nvSpPr>
        <p:spPr>
          <a:xfrm>
            <a:off x="2112264" y="3035808"/>
            <a:ext cx="155448" cy="155448"/>
          </a:xfrm>
          <a:prstGeom prst="rect">
            <a:avLst/>
          </a:prstGeom>
          <a:solidFill>
            <a:schemeClr val="accent1">
              <a:alpha val="34000"/>
            </a:schemeClr>
          </a:solidFill>
          <a:ln w="12700">
            <a:solidFill>
              <a:schemeClr val="accent1">
                <a:alpha val="0"/>
              </a:schemeClr>
            </a:solidFill>
            <a:prstDash val="solid"/>
          </a:ln>
        </p:spPr>
      </p:sp>
      <p:sp>
        <p:nvSpPr>
          <p:cNvPr id="206" name="cell-374"/>
          <p:cNvSpPr/>
          <p:nvPr/>
        </p:nvSpPr>
        <p:spPr>
          <a:xfrm>
            <a:off x="2286000" y="3035808"/>
            <a:ext cx="155448" cy="155448"/>
          </a:xfrm>
          <a:prstGeom prst="rect">
            <a:avLst/>
          </a:prstGeom>
          <a:solidFill>
            <a:schemeClr val="accent1">
              <a:alpha val="46000"/>
            </a:schemeClr>
          </a:solidFill>
          <a:ln w="12700">
            <a:solidFill>
              <a:schemeClr val="accent1">
                <a:alpha val="0"/>
              </a:schemeClr>
            </a:solidFill>
            <a:prstDash val="solid"/>
          </a:ln>
        </p:spPr>
      </p:sp>
      <p:sp>
        <p:nvSpPr>
          <p:cNvPr id="207" name="cell-375"/>
          <p:cNvSpPr/>
          <p:nvPr/>
        </p:nvSpPr>
        <p:spPr>
          <a:xfrm>
            <a:off x="2459736" y="3035808"/>
            <a:ext cx="155448" cy="155448"/>
          </a:xfrm>
          <a:prstGeom prst="rect">
            <a:avLst/>
          </a:prstGeom>
          <a:solidFill>
            <a:schemeClr val="accent1">
              <a:alpha val="65000"/>
            </a:schemeClr>
          </a:solidFill>
          <a:ln w="12700">
            <a:solidFill>
              <a:schemeClr val="accent1">
                <a:alpha val="0"/>
              </a:schemeClr>
            </a:solidFill>
            <a:prstDash val="solid"/>
          </a:ln>
        </p:spPr>
      </p:sp>
      <p:sp>
        <p:nvSpPr>
          <p:cNvPr id="208" name="cell-376"/>
          <p:cNvSpPr/>
          <p:nvPr/>
        </p:nvSpPr>
        <p:spPr>
          <a:xfrm>
            <a:off x="2633472" y="3035808"/>
            <a:ext cx="155448" cy="155448"/>
          </a:xfrm>
          <a:prstGeom prst="rect">
            <a:avLst/>
          </a:prstGeom>
          <a:solidFill>
            <a:schemeClr val="accent1">
              <a:alpha val="81000"/>
            </a:schemeClr>
          </a:solidFill>
          <a:ln w="12700">
            <a:solidFill>
              <a:schemeClr val="accent1">
                <a:alpha val="0"/>
              </a:schemeClr>
            </a:solidFill>
            <a:prstDash val="solid"/>
          </a:ln>
        </p:spPr>
      </p:sp>
      <p:sp>
        <p:nvSpPr>
          <p:cNvPr id="209" name="cell-377"/>
          <p:cNvSpPr/>
          <p:nvPr/>
        </p:nvSpPr>
        <p:spPr>
          <a:xfrm>
            <a:off x="2807208" y="3035808"/>
            <a:ext cx="155448" cy="155448"/>
          </a:xfrm>
          <a:prstGeom prst="rect">
            <a:avLst/>
          </a:prstGeom>
          <a:solidFill>
            <a:schemeClr val="accent1">
              <a:alpha val="84000"/>
            </a:schemeClr>
          </a:solidFill>
          <a:ln w="12700">
            <a:solidFill>
              <a:schemeClr val="accent1">
                <a:alpha val="0"/>
              </a:schemeClr>
            </a:solidFill>
            <a:prstDash val="solid"/>
          </a:ln>
        </p:spPr>
      </p:sp>
      <p:sp>
        <p:nvSpPr>
          <p:cNvPr id="210" name="cell-378"/>
          <p:cNvSpPr/>
          <p:nvPr/>
        </p:nvSpPr>
        <p:spPr>
          <a:xfrm>
            <a:off x="2980944" y="3035808"/>
            <a:ext cx="155448" cy="155448"/>
          </a:xfrm>
          <a:prstGeom prst="rect">
            <a:avLst/>
          </a:prstGeom>
          <a:solidFill>
            <a:schemeClr val="accent1">
              <a:alpha val="72000"/>
            </a:schemeClr>
          </a:solidFill>
          <a:ln w="12700">
            <a:solidFill>
              <a:schemeClr val="accent1">
                <a:alpha val="0"/>
              </a:schemeClr>
            </a:solidFill>
            <a:prstDash val="solid"/>
          </a:ln>
        </p:spPr>
      </p:sp>
      <p:sp>
        <p:nvSpPr>
          <p:cNvPr id="211" name="cell-379"/>
          <p:cNvSpPr/>
          <p:nvPr/>
        </p:nvSpPr>
        <p:spPr>
          <a:xfrm>
            <a:off x="3154680" y="3035808"/>
            <a:ext cx="155448" cy="155448"/>
          </a:xfrm>
          <a:prstGeom prst="rect">
            <a:avLst/>
          </a:prstGeom>
          <a:solidFill>
            <a:schemeClr val="accent1">
              <a:alpha val="53000"/>
            </a:schemeClr>
          </a:solidFill>
          <a:ln w="12700">
            <a:solidFill>
              <a:schemeClr val="accent1">
                <a:alpha val="0"/>
              </a:schemeClr>
            </a:solidFill>
            <a:prstDash val="solid"/>
          </a:ln>
        </p:spPr>
      </p:sp>
      <p:sp>
        <p:nvSpPr>
          <p:cNvPr id="212" name="cell-380"/>
          <p:cNvSpPr/>
          <p:nvPr/>
        </p:nvSpPr>
        <p:spPr>
          <a:xfrm>
            <a:off x="3328416" y="3035808"/>
            <a:ext cx="155448" cy="155448"/>
          </a:xfrm>
          <a:prstGeom prst="rect">
            <a:avLst/>
          </a:prstGeom>
          <a:solidFill>
            <a:schemeClr val="accent1">
              <a:alpha val="40000"/>
            </a:schemeClr>
          </a:solidFill>
          <a:ln w="12700">
            <a:solidFill>
              <a:schemeClr val="accent1">
                <a:alpha val="0"/>
              </a:schemeClr>
            </a:solidFill>
            <a:prstDash val="solid"/>
          </a:ln>
        </p:spPr>
      </p:sp>
      <p:sp>
        <p:nvSpPr>
          <p:cNvPr id="213" name="cell-381"/>
          <p:cNvSpPr/>
          <p:nvPr/>
        </p:nvSpPr>
        <p:spPr>
          <a:xfrm>
            <a:off x="3502152" y="3035808"/>
            <a:ext cx="155448" cy="155448"/>
          </a:xfrm>
          <a:prstGeom prst="rect">
            <a:avLst/>
          </a:prstGeom>
          <a:solidFill>
            <a:schemeClr val="accent1">
              <a:alpha val="39000"/>
            </a:schemeClr>
          </a:solidFill>
          <a:ln w="12700">
            <a:solidFill>
              <a:schemeClr val="accent1">
                <a:alpha val="0"/>
              </a:schemeClr>
            </a:solidFill>
            <a:prstDash val="solid"/>
          </a:ln>
        </p:spPr>
      </p:sp>
      <p:sp>
        <p:nvSpPr>
          <p:cNvPr id="214" name="cell-382"/>
          <p:cNvSpPr/>
          <p:nvPr/>
        </p:nvSpPr>
        <p:spPr>
          <a:xfrm>
            <a:off x="3675888" y="3035808"/>
            <a:ext cx="155448" cy="155448"/>
          </a:xfrm>
          <a:prstGeom prst="rect">
            <a:avLst/>
          </a:prstGeom>
          <a:solidFill>
            <a:schemeClr val="accent1">
              <a:alpha val="48000"/>
            </a:schemeClr>
          </a:solidFill>
          <a:ln w="12700">
            <a:solidFill>
              <a:schemeClr val="accent1">
                <a:alpha val="0"/>
              </a:schemeClr>
            </a:solidFill>
            <a:prstDash val="solid"/>
          </a:ln>
        </p:spPr>
      </p:sp>
      <p:sp>
        <p:nvSpPr>
          <p:cNvPr id="215" name="cell-383"/>
          <p:cNvSpPr/>
          <p:nvPr/>
        </p:nvSpPr>
        <p:spPr>
          <a:xfrm>
            <a:off x="3849624" y="3035808"/>
            <a:ext cx="155448" cy="155448"/>
          </a:xfrm>
          <a:prstGeom prst="rect">
            <a:avLst/>
          </a:prstGeom>
          <a:solidFill>
            <a:schemeClr val="accent1">
              <a:alpha val="54000"/>
            </a:schemeClr>
          </a:solidFill>
          <a:ln w="12700">
            <a:solidFill>
              <a:schemeClr val="accent1">
                <a:alpha val="0"/>
              </a:schemeClr>
            </a:solidFill>
            <a:prstDash val="solid"/>
          </a:ln>
        </p:spPr>
      </p:sp>
      <p:sp>
        <p:nvSpPr>
          <p:cNvPr id="216" name="cell-384"/>
          <p:cNvSpPr/>
          <p:nvPr/>
        </p:nvSpPr>
        <p:spPr>
          <a:xfrm>
            <a:off x="4023360" y="3035808"/>
            <a:ext cx="155448" cy="155448"/>
          </a:xfrm>
          <a:prstGeom prst="rect">
            <a:avLst/>
          </a:prstGeom>
          <a:solidFill>
            <a:schemeClr val="accent1">
              <a:alpha val="51000"/>
            </a:schemeClr>
          </a:solidFill>
          <a:ln w="12700">
            <a:solidFill>
              <a:schemeClr val="accent1">
                <a:alpha val="0"/>
              </a:schemeClr>
            </a:solidFill>
            <a:prstDash val="solid"/>
          </a:ln>
        </p:spPr>
      </p:sp>
      <p:sp>
        <p:nvSpPr>
          <p:cNvPr id="217" name="cell-385"/>
          <p:cNvSpPr/>
          <p:nvPr/>
        </p:nvSpPr>
        <p:spPr>
          <a:xfrm>
            <a:off x="4197096" y="3035808"/>
            <a:ext cx="155448" cy="155448"/>
          </a:xfrm>
          <a:prstGeom prst="rect">
            <a:avLst/>
          </a:prstGeom>
          <a:solidFill>
            <a:schemeClr val="accent1">
              <a:alpha val="38000"/>
            </a:schemeClr>
          </a:solidFill>
          <a:ln w="12700">
            <a:solidFill>
              <a:schemeClr val="accent1">
                <a:alpha val="0"/>
              </a:schemeClr>
            </a:solidFill>
            <a:prstDash val="solid"/>
          </a:ln>
        </p:spPr>
      </p:sp>
      <p:sp>
        <p:nvSpPr>
          <p:cNvPr id="218" name="cell-386"/>
          <p:cNvSpPr/>
          <p:nvPr/>
        </p:nvSpPr>
        <p:spPr>
          <a:xfrm>
            <a:off x="4370832" y="3035808"/>
            <a:ext cx="155448" cy="155448"/>
          </a:xfrm>
          <a:prstGeom prst="rect">
            <a:avLst/>
          </a:prstGeom>
          <a:solidFill>
            <a:schemeClr val="accent1">
              <a:alpha val="23000"/>
            </a:schemeClr>
          </a:solidFill>
          <a:ln w="12700">
            <a:solidFill>
              <a:schemeClr val="accent1">
                <a:alpha val="0"/>
              </a:schemeClr>
            </a:solidFill>
            <a:prstDash val="solid"/>
          </a:ln>
        </p:spPr>
      </p:sp>
      <p:sp>
        <p:nvSpPr>
          <p:cNvPr id="219" name="cell-387"/>
          <p:cNvSpPr/>
          <p:nvPr/>
        </p:nvSpPr>
        <p:spPr>
          <a:xfrm>
            <a:off x="4544568" y="3035808"/>
            <a:ext cx="155448" cy="155448"/>
          </a:xfrm>
          <a:prstGeom prst="rect">
            <a:avLst/>
          </a:prstGeom>
          <a:solidFill>
            <a:schemeClr val="accent1">
              <a:alpha val="18000"/>
            </a:schemeClr>
          </a:solidFill>
          <a:ln w="12700">
            <a:solidFill>
              <a:schemeClr val="accent1">
                <a:alpha val="0"/>
              </a:schemeClr>
            </a:solidFill>
            <a:prstDash val="solid"/>
          </a:ln>
        </p:spPr>
      </p:sp>
      <p:sp>
        <p:nvSpPr>
          <p:cNvPr id="220" name="cell-388"/>
          <p:cNvSpPr/>
          <p:nvPr/>
        </p:nvSpPr>
        <p:spPr>
          <a:xfrm>
            <a:off x="548640" y="3209544"/>
            <a:ext cx="155448" cy="155448"/>
          </a:xfrm>
          <a:prstGeom prst="rect">
            <a:avLst/>
          </a:prstGeom>
          <a:solidFill>
            <a:schemeClr val="accent1">
              <a:alpha val="61000"/>
            </a:schemeClr>
          </a:solidFill>
          <a:ln w="12700">
            <a:solidFill>
              <a:schemeClr val="accent1">
                <a:alpha val="0"/>
              </a:schemeClr>
            </a:solidFill>
            <a:prstDash val="solid"/>
          </a:ln>
        </p:spPr>
      </p:sp>
      <p:sp>
        <p:nvSpPr>
          <p:cNvPr id="221" name="cell-389"/>
          <p:cNvSpPr/>
          <p:nvPr/>
        </p:nvSpPr>
        <p:spPr>
          <a:xfrm>
            <a:off x="722376" y="3209544"/>
            <a:ext cx="155448" cy="155448"/>
          </a:xfrm>
          <a:prstGeom prst="rect">
            <a:avLst/>
          </a:prstGeom>
          <a:solidFill>
            <a:schemeClr val="accent1">
              <a:alpha val="42000"/>
            </a:schemeClr>
          </a:solidFill>
          <a:ln w="12700">
            <a:solidFill>
              <a:schemeClr val="accent1">
                <a:alpha val="0"/>
              </a:schemeClr>
            </a:solidFill>
            <a:prstDash val="solid"/>
          </a:ln>
        </p:spPr>
      </p:sp>
      <p:sp>
        <p:nvSpPr>
          <p:cNvPr id="222" name="cell-390"/>
          <p:cNvSpPr/>
          <p:nvPr/>
        </p:nvSpPr>
        <p:spPr>
          <a:xfrm>
            <a:off x="896112" y="3209544"/>
            <a:ext cx="155448" cy="155448"/>
          </a:xfrm>
          <a:prstGeom prst="rect">
            <a:avLst/>
          </a:prstGeom>
          <a:solidFill>
            <a:schemeClr val="accent1">
              <a:alpha val="32000"/>
            </a:schemeClr>
          </a:solidFill>
          <a:ln w="12700">
            <a:solidFill>
              <a:schemeClr val="accent1">
                <a:alpha val="0"/>
              </a:schemeClr>
            </a:solidFill>
            <a:prstDash val="solid"/>
          </a:ln>
        </p:spPr>
      </p:sp>
      <p:sp>
        <p:nvSpPr>
          <p:cNvPr id="223" name="cell-391"/>
          <p:cNvSpPr/>
          <p:nvPr/>
        </p:nvSpPr>
        <p:spPr>
          <a:xfrm>
            <a:off x="1069848" y="3209544"/>
            <a:ext cx="155448" cy="155448"/>
          </a:xfrm>
          <a:prstGeom prst="rect">
            <a:avLst/>
          </a:prstGeom>
          <a:solidFill>
            <a:schemeClr val="accent1">
              <a:alpha val="35000"/>
            </a:schemeClr>
          </a:solidFill>
          <a:ln w="12700">
            <a:solidFill>
              <a:schemeClr val="accent1">
                <a:alpha val="0"/>
              </a:schemeClr>
            </a:solidFill>
            <a:prstDash val="solid"/>
          </a:ln>
        </p:spPr>
      </p:sp>
      <p:sp>
        <p:nvSpPr>
          <p:cNvPr id="224" name="cell-392"/>
          <p:cNvSpPr/>
          <p:nvPr/>
        </p:nvSpPr>
        <p:spPr>
          <a:xfrm>
            <a:off x="1243584" y="3209544"/>
            <a:ext cx="155448" cy="155448"/>
          </a:xfrm>
          <a:prstGeom prst="rect">
            <a:avLst/>
          </a:prstGeom>
          <a:solidFill>
            <a:schemeClr val="accent1">
              <a:alpha val="45000"/>
            </a:schemeClr>
          </a:solidFill>
          <a:ln w="12700">
            <a:solidFill>
              <a:schemeClr val="accent1">
                <a:alpha val="0"/>
              </a:schemeClr>
            </a:solidFill>
            <a:prstDash val="solid"/>
          </a:ln>
        </p:spPr>
      </p:sp>
      <p:sp>
        <p:nvSpPr>
          <p:cNvPr id="225" name="cell-393"/>
          <p:cNvSpPr/>
          <p:nvPr/>
        </p:nvSpPr>
        <p:spPr>
          <a:xfrm>
            <a:off x="1417320" y="3209544"/>
            <a:ext cx="155448" cy="155448"/>
          </a:xfrm>
          <a:prstGeom prst="rect">
            <a:avLst/>
          </a:prstGeom>
          <a:solidFill>
            <a:schemeClr val="accent1">
              <a:alpha val="51000"/>
            </a:schemeClr>
          </a:solidFill>
          <a:ln w="12700">
            <a:solidFill>
              <a:schemeClr val="accent1">
                <a:alpha val="0"/>
              </a:schemeClr>
            </a:solidFill>
            <a:prstDash val="solid"/>
          </a:ln>
        </p:spPr>
      </p:sp>
      <p:sp>
        <p:nvSpPr>
          <p:cNvPr id="226" name="cell-394"/>
          <p:cNvSpPr/>
          <p:nvPr/>
        </p:nvSpPr>
        <p:spPr>
          <a:xfrm>
            <a:off x="1591056" y="3209544"/>
            <a:ext cx="155448" cy="155448"/>
          </a:xfrm>
          <a:prstGeom prst="rect">
            <a:avLst/>
          </a:prstGeom>
          <a:solidFill>
            <a:schemeClr val="accent1">
              <a:alpha val="46000"/>
            </a:schemeClr>
          </a:solidFill>
          <a:ln w="12700">
            <a:solidFill>
              <a:schemeClr val="accent1">
                <a:alpha val="0"/>
              </a:schemeClr>
            </a:solidFill>
            <a:prstDash val="solid"/>
          </a:ln>
        </p:spPr>
      </p:sp>
      <p:sp>
        <p:nvSpPr>
          <p:cNvPr id="227" name="cell-395"/>
          <p:cNvSpPr/>
          <p:nvPr/>
        </p:nvSpPr>
        <p:spPr>
          <a:xfrm>
            <a:off x="1764792" y="3209544"/>
            <a:ext cx="155448" cy="155448"/>
          </a:xfrm>
          <a:prstGeom prst="rect">
            <a:avLst/>
          </a:prstGeom>
          <a:solidFill>
            <a:schemeClr val="accent1">
              <a:alpha val="33000"/>
            </a:schemeClr>
          </a:solidFill>
          <a:ln w="12700">
            <a:solidFill>
              <a:schemeClr val="accent1">
                <a:alpha val="0"/>
              </a:schemeClr>
            </a:solidFill>
            <a:prstDash val="solid"/>
          </a:ln>
        </p:spPr>
      </p:sp>
      <p:sp>
        <p:nvSpPr>
          <p:cNvPr id="228" name="cell-396"/>
          <p:cNvSpPr/>
          <p:nvPr/>
        </p:nvSpPr>
        <p:spPr>
          <a:xfrm>
            <a:off x="1938528" y="3209544"/>
            <a:ext cx="155448" cy="155448"/>
          </a:xfrm>
          <a:prstGeom prst="rect">
            <a:avLst/>
          </a:prstGeom>
          <a:solidFill>
            <a:schemeClr val="accent1">
              <a:alpha val="23000"/>
            </a:schemeClr>
          </a:solidFill>
          <a:ln w="12700">
            <a:solidFill>
              <a:schemeClr val="accent1">
                <a:alpha val="0"/>
              </a:schemeClr>
            </a:solidFill>
            <a:prstDash val="solid"/>
          </a:ln>
        </p:spPr>
      </p:sp>
      <p:sp>
        <p:nvSpPr>
          <p:cNvPr id="229" name="cell-397"/>
          <p:cNvSpPr/>
          <p:nvPr/>
        </p:nvSpPr>
        <p:spPr>
          <a:xfrm>
            <a:off x="2112264" y="3209544"/>
            <a:ext cx="155448" cy="155448"/>
          </a:xfrm>
          <a:prstGeom prst="rect">
            <a:avLst/>
          </a:prstGeom>
          <a:solidFill>
            <a:schemeClr val="accent1">
              <a:alpha val="25000"/>
            </a:schemeClr>
          </a:solidFill>
          <a:ln w="12700">
            <a:solidFill>
              <a:schemeClr val="accent1">
                <a:alpha val="0"/>
              </a:schemeClr>
            </a:solidFill>
            <a:prstDash val="solid"/>
          </a:ln>
        </p:spPr>
      </p:sp>
      <p:sp>
        <p:nvSpPr>
          <p:cNvPr id="230" name="cell-398"/>
          <p:cNvSpPr/>
          <p:nvPr/>
        </p:nvSpPr>
        <p:spPr>
          <a:xfrm>
            <a:off x="2286000" y="3209544"/>
            <a:ext cx="155448" cy="155448"/>
          </a:xfrm>
          <a:prstGeom prst="rect">
            <a:avLst/>
          </a:prstGeom>
          <a:solidFill>
            <a:schemeClr val="accent1">
              <a:alpha val="41000"/>
            </a:schemeClr>
          </a:solidFill>
          <a:ln w="12700">
            <a:solidFill>
              <a:schemeClr val="accent1">
                <a:alpha val="0"/>
              </a:schemeClr>
            </a:solidFill>
            <a:prstDash val="solid"/>
          </a:ln>
        </p:spPr>
      </p:sp>
      <p:sp>
        <p:nvSpPr>
          <p:cNvPr id="231" name="cell-399"/>
          <p:cNvSpPr/>
          <p:nvPr/>
        </p:nvSpPr>
        <p:spPr>
          <a:xfrm>
            <a:off x="2459736" y="3209544"/>
            <a:ext cx="155448" cy="155448"/>
          </a:xfrm>
          <a:prstGeom prst="rect">
            <a:avLst/>
          </a:prstGeom>
          <a:solidFill>
            <a:schemeClr val="accent1">
              <a:alpha val="62000"/>
            </a:schemeClr>
          </a:solidFill>
          <a:ln w="12700">
            <a:solidFill>
              <a:schemeClr val="accent1">
                <a:alpha val="0"/>
              </a:schemeClr>
            </a:solidFill>
            <a:prstDash val="solid"/>
          </a:ln>
        </p:spPr>
      </p:sp>
      <p:sp>
        <p:nvSpPr>
          <p:cNvPr id="232" name="cell-400"/>
          <p:cNvSpPr/>
          <p:nvPr/>
        </p:nvSpPr>
        <p:spPr>
          <a:xfrm>
            <a:off x="2633472" y="3209544"/>
            <a:ext cx="155448" cy="155448"/>
          </a:xfrm>
          <a:prstGeom prst="rect">
            <a:avLst/>
          </a:prstGeom>
          <a:solidFill>
            <a:schemeClr val="accent1">
              <a:alpha val="77000"/>
            </a:schemeClr>
          </a:solidFill>
          <a:ln w="12700">
            <a:solidFill>
              <a:schemeClr val="accent1">
                <a:alpha val="0"/>
              </a:schemeClr>
            </a:solidFill>
            <a:prstDash val="solid"/>
          </a:ln>
        </p:spPr>
      </p:sp>
      <p:sp>
        <p:nvSpPr>
          <p:cNvPr id="233" name="cell-401"/>
          <p:cNvSpPr/>
          <p:nvPr/>
        </p:nvSpPr>
        <p:spPr>
          <a:xfrm>
            <a:off x="2807208" y="3209544"/>
            <a:ext cx="155448" cy="155448"/>
          </a:xfrm>
          <a:prstGeom prst="rect">
            <a:avLst/>
          </a:prstGeom>
          <a:solidFill>
            <a:schemeClr val="accent1">
              <a:alpha val="78000"/>
            </a:schemeClr>
          </a:solidFill>
          <a:ln w="12700">
            <a:solidFill>
              <a:schemeClr val="accent1">
                <a:alpha val="0"/>
              </a:schemeClr>
            </a:solidFill>
            <a:prstDash val="solid"/>
          </a:ln>
        </p:spPr>
      </p:sp>
      <p:sp>
        <p:nvSpPr>
          <p:cNvPr id="234" name="cell-402"/>
          <p:cNvSpPr/>
          <p:nvPr/>
        </p:nvSpPr>
        <p:spPr>
          <a:xfrm>
            <a:off x="2980944" y="3209544"/>
            <a:ext cx="155448" cy="155448"/>
          </a:xfrm>
          <a:prstGeom prst="rect">
            <a:avLst/>
          </a:prstGeom>
          <a:solidFill>
            <a:schemeClr val="accent1">
              <a:alpha val="66000"/>
            </a:schemeClr>
          </a:solidFill>
          <a:ln w="12700">
            <a:solidFill>
              <a:schemeClr val="accent1">
                <a:alpha val="0"/>
              </a:schemeClr>
            </a:solidFill>
            <a:prstDash val="solid"/>
          </a:ln>
        </p:spPr>
      </p:sp>
      <p:sp>
        <p:nvSpPr>
          <p:cNvPr id="235" name="cell-403"/>
          <p:cNvSpPr/>
          <p:nvPr/>
        </p:nvSpPr>
        <p:spPr>
          <a:xfrm>
            <a:off x="3154680" y="3209544"/>
            <a:ext cx="155448" cy="155448"/>
          </a:xfrm>
          <a:prstGeom prst="rect">
            <a:avLst/>
          </a:prstGeom>
          <a:solidFill>
            <a:schemeClr val="accent1">
              <a:alpha val="53000"/>
            </a:schemeClr>
          </a:solidFill>
          <a:ln w="12700">
            <a:solidFill>
              <a:schemeClr val="accent1">
                <a:alpha val="0"/>
              </a:schemeClr>
            </a:solidFill>
            <a:prstDash val="solid"/>
          </a:ln>
        </p:spPr>
      </p:sp>
      <p:sp>
        <p:nvSpPr>
          <p:cNvPr id="236" name="cell-404"/>
          <p:cNvSpPr/>
          <p:nvPr/>
        </p:nvSpPr>
        <p:spPr>
          <a:xfrm>
            <a:off x="3328416" y="3209544"/>
            <a:ext cx="155448" cy="155448"/>
          </a:xfrm>
          <a:prstGeom prst="rect">
            <a:avLst/>
          </a:prstGeom>
          <a:solidFill>
            <a:schemeClr val="accent1">
              <a:alpha val="48000"/>
            </a:schemeClr>
          </a:solidFill>
          <a:ln w="12700">
            <a:solidFill>
              <a:schemeClr val="accent1">
                <a:alpha val="0"/>
              </a:schemeClr>
            </a:solidFill>
            <a:prstDash val="solid"/>
          </a:ln>
        </p:spPr>
      </p:sp>
      <p:sp>
        <p:nvSpPr>
          <p:cNvPr id="237" name="cell-405"/>
          <p:cNvSpPr/>
          <p:nvPr/>
        </p:nvSpPr>
        <p:spPr>
          <a:xfrm>
            <a:off x="3502152" y="3209544"/>
            <a:ext cx="155448" cy="155448"/>
          </a:xfrm>
          <a:prstGeom prst="rect">
            <a:avLst/>
          </a:prstGeom>
          <a:solidFill>
            <a:schemeClr val="accent1">
              <a:alpha val="54000"/>
            </a:schemeClr>
          </a:solidFill>
          <a:ln w="12700">
            <a:solidFill>
              <a:schemeClr val="accent1">
                <a:alpha val="0"/>
              </a:schemeClr>
            </a:solidFill>
            <a:prstDash val="solid"/>
          </a:ln>
        </p:spPr>
      </p:sp>
      <p:sp>
        <p:nvSpPr>
          <p:cNvPr id="238" name="cell-406"/>
          <p:cNvSpPr/>
          <p:nvPr/>
        </p:nvSpPr>
        <p:spPr>
          <a:xfrm>
            <a:off x="3675888" y="3209544"/>
            <a:ext cx="155448" cy="155448"/>
          </a:xfrm>
          <a:prstGeom prst="rect">
            <a:avLst/>
          </a:prstGeom>
          <a:solidFill>
            <a:schemeClr val="accent1">
              <a:alpha val="64000"/>
            </a:schemeClr>
          </a:solidFill>
          <a:ln w="12700">
            <a:solidFill>
              <a:schemeClr val="accent1">
                <a:alpha val="0"/>
              </a:schemeClr>
            </a:solidFill>
            <a:prstDash val="solid"/>
          </a:ln>
        </p:spPr>
      </p:sp>
      <p:sp>
        <p:nvSpPr>
          <p:cNvPr id="239" name="cell-407"/>
          <p:cNvSpPr/>
          <p:nvPr/>
        </p:nvSpPr>
        <p:spPr>
          <a:xfrm>
            <a:off x="3849624" y="3209544"/>
            <a:ext cx="155448" cy="155448"/>
          </a:xfrm>
          <a:prstGeom prst="rect">
            <a:avLst/>
          </a:prstGeom>
          <a:solidFill>
            <a:schemeClr val="accent1">
              <a:alpha val="66000"/>
            </a:schemeClr>
          </a:solidFill>
          <a:ln w="12700">
            <a:solidFill>
              <a:schemeClr val="accent1">
                <a:alpha val="0"/>
              </a:schemeClr>
            </a:solidFill>
            <a:prstDash val="solid"/>
          </a:ln>
        </p:spPr>
      </p:sp>
      <p:sp>
        <p:nvSpPr>
          <p:cNvPr id="240" name="cell-408"/>
          <p:cNvSpPr/>
          <p:nvPr/>
        </p:nvSpPr>
        <p:spPr>
          <a:xfrm>
            <a:off x="4023360" y="3209544"/>
            <a:ext cx="155448" cy="155448"/>
          </a:xfrm>
          <a:prstGeom prst="rect">
            <a:avLst/>
          </a:prstGeom>
          <a:solidFill>
            <a:schemeClr val="accent1">
              <a:alpha val="56000"/>
            </a:schemeClr>
          </a:solidFill>
          <a:ln w="12700">
            <a:solidFill>
              <a:schemeClr val="accent1">
                <a:alpha val="0"/>
              </a:schemeClr>
            </a:solidFill>
            <a:prstDash val="solid"/>
          </a:ln>
        </p:spPr>
      </p:sp>
      <p:sp>
        <p:nvSpPr>
          <p:cNvPr id="241" name="cell-409"/>
          <p:cNvSpPr/>
          <p:nvPr/>
        </p:nvSpPr>
        <p:spPr>
          <a:xfrm>
            <a:off x="4197096" y="3209544"/>
            <a:ext cx="155448" cy="155448"/>
          </a:xfrm>
          <a:prstGeom prst="rect">
            <a:avLst/>
          </a:prstGeom>
          <a:solidFill>
            <a:schemeClr val="accent1">
              <a:alpha val="36000"/>
            </a:schemeClr>
          </a:solidFill>
          <a:ln w="12700">
            <a:solidFill>
              <a:schemeClr val="accent1">
                <a:alpha val="0"/>
              </a:schemeClr>
            </a:solidFill>
            <a:prstDash val="solid"/>
          </a:ln>
        </p:spPr>
      </p:sp>
      <p:sp>
        <p:nvSpPr>
          <p:cNvPr id="242" name="cell-410"/>
          <p:cNvSpPr/>
          <p:nvPr/>
        </p:nvSpPr>
        <p:spPr>
          <a:xfrm>
            <a:off x="4370832" y="3209544"/>
            <a:ext cx="155448" cy="155448"/>
          </a:xfrm>
          <a:prstGeom prst="rect">
            <a:avLst/>
          </a:prstGeom>
          <a:solidFill>
            <a:schemeClr val="accent1">
              <a:alpha val="20000"/>
            </a:schemeClr>
          </a:solidFill>
          <a:ln w="12700">
            <a:solidFill>
              <a:schemeClr val="accent1">
                <a:alpha val="0"/>
              </a:schemeClr>
            </a:solidFill>
            <a:prstDash val="solid"/>
          </a:ln>
        </p:spPr>
      </p:sp>
      <p:sp>
        <p:nvSpPr>
          <p:cNvPr id="243" name="cell-411"/>
          <p:cNvSpPr/>
          <p:nvPr/>
        </p:nvSpPr>
        <p:spPr>
          <a:xfrm>
            <a:off x="4544568" y="3209544"/>
            <a:ext cx="155448" cy="155448"/>
          </a:xfrm>
          <a:prstGeom prst="rect">
            <a:avLst/>
          </a:prstGeom>
          <a:solidFill>
            <a:schemeClr val="accent1">
              <a:alpha val="16000"/>
            </a:schemeClr>
          </a:solidFill>
          <a:ln w="12700">
            <a:solidFill>
              <a:schemeClr val="accent1">
                <a:alpha val="0"/>
              </a:schemeClr>
            </a:solidFill>
            <a:prstDash val="solid"/>
          </a:ln>
        </p:spPr>
      </p:sp>
      <p:sp>
        <p:nvSpPr>
          <p:cNvPr id="244" name="cell-412"/>
          <p:cNvSpPr/>
          <p:nvPr/>
        </p:nvSpPr>
        <p:spPr>
          <a:xfrm>
            <a:off x="548640" y="3383280"/>
            <a:ext cx="155448" cy="155448"/>
          </a:xfrm>
          <a:prstGeom prst="rect">
            <a:avLst/>
          </a:prstGeom>
          <a:solidFill>
            <a:schemeClr val="accent1">
              <a:alpha val="61000"/>
            </a:schemeClr>
          </a:solidFill>
          <a:ln w="12700">
            <a:solidFill>
              <a:schemeClr val="accent1">
                <a:alpha val="0"/>
              </a:schemeClr>
            </a:solidFill>
            <a:prstDash val="solid"/>
          </a:ln>
        </p:spPr>
      </p:sp>
      <p:sp>
        <p:nvSpPr>
          <p:cNvPr id="245" name="cell-413"/>
          <p:cNvSpPr/>
          <p:nvPr/>
        </p:nvSpPr>
        <p:spPr>
          <a:xfrm>
            <a:off x="722376" y="3383280"/>
            <a:ext cx="155448" cy="155448"/>
          </a:xfrm>
          <a:prstGeom prst="rect">
            <a:avLst/>
          </a:prstGeom>
          <a:solidFill>
            <a:schemeClr val="accent1">
              <a:alpha val="47000"/>
            </a:schemeClr>
          </a:solidFill>
          <a:ln w="12700">
            <a:solidFill>
              <a:schemeClr val="accent1">
                <a:alpha val="0"/>
              </a:schemeClr>
            </a:solidFill>
            <a:prstDash val="solid"/>
          </a:ln>
        </p:spPr>
      </p:sp>
      <p:sp>
        <p:nvSpPr>
          <p:cNvPr id="246" name="cell-414"/>
          <p:cNvSpPr/>
          <p:nvPr/>
        </p:nvSpPr>
        <p:spPr>
          <a:xfrm>
            <a:off x="896112" y="3383280"/>
            <a:ext cx="155448" cy="155448"/>
          </a:xfrm>
          <a:prstGeom prst="rect">
            <a:avLst/>
          </a:prstGeom>
          <a:solidFill>
            <a:schemeClr val="accent1">
              <a:alpha val="45000"/>
            </a:schemeClr>
          </a:solidFill>
          <a:ln w="12700">
            <a:solidFill>
              <a:schemeClr val="accent1">
                <a:alpha val="0"/>
              </a:schemeClr>
            </a:solidFill>
            <a:prstDash val="solid"/>
          </a:ln>
        </p:spPr>
      </p:sp>
      <p:sp>
        <p:nvSpPr>
          <p:cNvPr id="247" name="cell-415"/>
          <p:cNvSpPr/>
          <p:nvPr/>
        </p:nvSpPr>
        <p:spPr>
          <a:xfrm>
            <a:off x="1069848" y="3383280"/>
            <a:ext cx="155448" cy="155448"/>
          </a:xfrm>
          <a:prstGeom prst="rect">
            <a:avLst/>
          </a:prstGeom>
          <a:solidFill>
            <a:schemeClr val="accent1">
              <a:alpha val="52000"/>
            </a:schemeClr>
          </a:solidFill>
          <a:ln w="12700">
            <a:solidFill>
              <a:schemeClr val="accent1">
                <a:alpha val="0"/>
              </a:schemeClr>
            </a:solidFill>
            <a:prstDash val="solid"/>
          </a:ln>
        </p:spPr>
      </p:sp>
      <p:sp>
        <p:nvSpPr>
          <p:cNvPr id="248" name="cell-416"/>
          <p:cNvSpPr/>
          <p:nvPr/>
        </p:nvSpPr>
        <p:spPr>
          <a:xfrm>
            <a:off x="1243584" y="3383280"/>
            <a:ext cx="155448" cy="155448"/>
          </a:xfrm>
          <a:prstGeom prst="rect">
            <a:avLst/>
          </a:prstGeom>
          <a:solidFill>
            <a:schemeClr val="accent1">
              <a:alpha val="59000"/>
            </a:schemeClr>
          </a:solidFill>
          <a:ln w="12700">
            <a:solidFill>
              <a:schemeClr val="accent1">
                <a:alpha val="0"/>
              </a:schemeClr>
            </a:solidFill>
            <a:prstDash val="solid"/>
          </a:ln>
        </p:spPr>
      </p:sp>
      <p:sp>
        <p:nvSpPr>
          <p:cNvPr id="249" name="cell-417"/>
          <p:cNvSpPr/>
          <p:nvPr/>
        </p:nvSpPr>
        <p:spPr>
          <a:xfrm>
            <a:off x="1417320" y="3383280"/>
            <a:ext cx="155448" cy="155448"/>
          </a:xfrm>
          <a:prstGeom prst="rect">
            <a:avLst/>
          </a:prstGeom>
          <a:solidFill>
            <a:schemeClr val="accent1">
              <a:alpha val="58000"/>
            </a:schemeClr>
          </a:solidFill>
          <a:ln w="12700">
            <a:solidFill>
              <a:schemeClr val="accent1">
                <a:alpha val="0"/>
              </a:schemeClr>
            </a:solidFill>
            <a:prstDash val="solid"/>
          </a:ln>
        </p:spPr>
      </p:sp>
      <p:sp>
        <p:nvSpPr>
          <p:cNvPr id="250" name="cell-418"/>
          <p:cNvSpPr/>
          <p:nvPr/>
        </p:nvSpPr>
        <p:spPr>
          <a:xfrm>
            <a:off x="1591056" y="3383280"/>
            <a:ext cx="155448" cy="155448"/>
          </a:xfrm>
          <a:prstGeom prst="rect">
            <a:avLst/>
          </a:prstGeom>
          <a:solidFill>
            <a:schemeClr val="accent1">
              <a:alpha val="45000"/>
            </a:schemeClr>
          </a:solidFill>
          <a:ln w="12700">
            <a:solidFill>
              <a:schemeClr val="accent1">
                <a:alpha val="0"/>
              </a:schemeClr>
            </a:solidFill>
            <a:prstDash val="solid"/>
          </a:ln>
        </p:spPr>
      </p:sp>
      <p:sp>
        <p:nvSpPr>
          <p:cNvPr id="251" name="cell-419"/>
          <p:cNvSpPr/>
          <p:nvPr/>
        </p:nvSpPr>
        <p:spPr>
          <a:xfrm>
            <a:off x="1764792" y="3383280"/>
            <a:ext cx="155448" cy="155448"/>
          </a:xfrm>
          <a:prstGeom prst="rect">
            <a:avLst/>
          </a:prstGeom>
          <a:solidFill>
            <a:schemeClr val="accent1">
              <a:alpha val="27000"/>
            </a:schemeClr>
          </a:solidFill>
          <a:ln w="12700">
            <a:solidFill>
              <a:schemeClr val="accent1">
                <a:alpha val="0"/>
              </a:schemeClr>
            </a:solidFill>
            <a:prstDash val="solid"/>
          </a:ln>
        </p:spPr>
      </p:sp>
      <p:sp>
        <p:nvSpPr>
          <p:cNvPr id="252" name="cell-420"/>
          <p:cNvSpPr/>
          <p:nvPr/>
        </p:nvSpPr>
        <p:spPr>
          <a:xfrm>
            <a:off x="1938528" y="3383280"/>
            <a:ext cx="155448" cy="155448"/>
          </a:xfrm>
          <a:prstGeom prst="rect">
            <a:avLst/>
          </a:prstGeom>
          <a:solidFill>
            <a:schemeClr val="accent1">
              <a:alpha val="16000"/>
            </a:schemeClr>
          </a:solidFill>
          <a:ln w="12700">
            <a:solidFill>
              <a:schemeClr val="accent1">
                <a:alpha val="0"/>
              </a:schemeClr>
            </a:solidFill>
            <a:prstDash val="solid"/>
          </a:ln>
        </p:spPr>
      </p:sp>
      <p:sp>
        <p:nvSpPr>
          <p:cNvPr id="253" name="cell-421"/>
          <p:cNvSpPr/>
          <p:nvPr/>
        </p:nvSpPr>
        <p:spPr>
          <a:xfrm>
            <a:off x="2112264" y="3383280"/>
            <a:ext cx="155448" cy="155448"/>
          </a:xfrm>
          <a:prstGeom prst="rect">
            <a:avLst/>
          </a:prstGeom>
          <a:solidFill>
            <a:schemeClr val="accent1">
              <a:alpha val="20000"/>
            </a:schemeClr>
          </a:solidFill>
          <a:ln w="12700">
            <a:solidFill>
              <a:schemeClr val="accent1">
                <a:alpha val="0"/>
              </a:schemeClr>
            </a:solidFill>
            <a:prstDash val="solid"/>
          </a:ln>
        </p:spPr>
      </p:sp>
      <p:sp>
        <p:nvSpPr>
          <p:cNvPr id="254" name="cell-422"/>
          <p:cNvSpPr/>
          <p:nvPr/>
        </p:nvSpPr>
        <p:spPr>
          <a:xfrm>
            <a:off x="2286000" y="3383280"/>
            <a:ext cx="155448" cy="155448"/>
          </a:xfrm>
          <a:prstGeom prst="rect">
            <a:avLst/>
          </a:prstGeom>
          <a:solidFill>
            <a:schemeClr val="accent1">
              <a:alpha val="37000"/>
            </a:schemeClr>
          </a:solidFill>
          <a:ln w="12700">
            <a:solidFill>
              <a:schemeClr val="accent1">
                <a:alpha val="0"/>
              </a:schemeClr>
            </a:solidFill>
            <a:prstDash val="solid"/>
          </a:ln>
        </p:spPr>
      </p:sp>
      <p:sp>
        <p:nvSpPr>
          <p:cNvPr id="255" name="cell-423"/>
          <p:cNvSpPr/>
          <p:nvPr/>
        </p:nvSpPr>
        <p:spPr>
          <a:xfrm>
            <a:off x="2459736" y="3383280"/>
            <a:ext cx="155448" cy="155448"/>
          </a:xfrm>
          <a:prstGeom prst="rect">
            <a:avLst/>
          </a:prstGeom>
          <a:solidFill>
            <a:schemeClr val="accent1">
              <a:alpha val="57000"/>
            </a:schemeClr>
          </a:solidFill>
          <a:ln w="12700">
            <a:solidFill>
              <a:schemeClr val="accent1">
                <a:alpha val="0"/>
              </a:schemeClr>
            </a:solidFill>
            <a:prstDash val="solid"/>
          </a:ln>
        </p:spPr>
      </p:sp>
      <p:sp>
        <p:nvSpPr>
          <p:cNvPr id="256" name="cell-424"/>
          <p:cNvSpPr/>
          <p:nvPr/>
        </p:nvSpPr>
        <p:spPr>
          <a:xfrm>
            <a:off x="2633472" y="3383280"/>
            <a:ext cx="155448" cy="155448"/>
          </a:xfrm>
          <a:prstGeom prst="rect">
            <a:avLst/>
          </a:prstGeom>
          <a:solidFill>
            <a:schemeClr val="accent1">
              <a:alpha val="67000"/>
            </a:schemeClr>
          </a:solidFill>
          <a:ln w="12700">
            <a:solidFill>
              <a:schemeClr val="accent1">
                <a:alpha val="0"/>
              </a:schemeClr>
            </a:solidFill>
            <a:prstDash val="solid"/>
          </a:ln>
        </p:spPr>
      </p:sp>
      <p:sp>
        <p:nvSpPr>
          <p:cNvPr id="257" name="cell-425"/>
          <p:cNvSpPr/>
          <p:nvPr/>
        </p:nvSpPr>
        <p:spPr>
          <a:xfrm>
            <a:off x="2807208" y="3383280"/>
            <a:ext cx="155448" cy="155448"/>
          </a:xfrm>
          <a:prstGeom prst="rect">
            <a:avLst/>
          </a:prstGeom>
          <a:solidFill>
            <a:schemeClr val="accent1">
              <a:alpha val="65000"/>
            </a:schemeClr>
          </a:solidFill>
          <a:ln w="12700">
            <a:solidFill>
              <a:schemeClr val="accent1">
                <a:alpha val="0"/>
              </a:schemeClr>
            </a:solidFill>
            <a:prstDash val="solid"/>
          </a:ln>
        </p:spPr>
      </p:sp>
      <p:sp>
        <p:nvSpPr>
          <p:cNvPr id="258" name="cell-426"/>
          <p:cNvSpPr/>
          <p:nvPr/>
        </p:nvSpPr>
        <p:spPr>
          <a:xfrm>
            <a:off x="2980944" y="3383280"/>
            <a:ext cx="155448" cy="155448"/>
          </a:xfrm>
          <a:prstGeom prst="rect">
            <a:avLst/>
          </a:prstGeom>
          <a:solidFill>
            <a:schemeClr val="accent1">
              <a:alpha val="55000"/>
            </a:schemeClr>
          </a:solidFill>
          <a:ln w="12700">
            <a:solidFill>
              <a:schemeClr val="accent1">
                <a:alpha val="0"/>
              </a:schemeClr>
            </a:solidFill>
            <a:prstDash val="solid"/>
          </a:ln>
        </p:spPr>
      </p:sp>
      <p:sp>
        <p:nvSpPr>
          <p:cNvPr id="259" name="cell-427"/>
          <p:cNvSpPr/>
          <p:nvPr/>
        </p:nvSpPr>
        <p:spPr>
          <a:xfrm>
            <a:off x="3154680" y="3383280"/>
            <a:ext cx="155448" cy="155448"/>
          </a:xfrm>
          <a:prstGeom prst="rect">
            <a:avLst/>
          </a:prstGeom>
          <a:solidFill>
            <a:schemeClr val="accent1">
              <a:alpha val="49000"/>
            </a:schemeClr>
          </a:solidFill>
          <a:ln w="12700">
            <a:solidFill>
              <a:schemeClr val="accent1">
                <a:alpha val="0"/>
              </a:schemeClr>
            </a:solidFill>
            <a:prstDash val="solid"/>
          </a:ln>
        </p:spPr>
      </p:sp>
      <p:sp>
        <p:nvSpPr>
          <p:cNvPr id="260" name="cell-428"/>
          <p:cNvSpPr/>
          <p:nvPr/>
        </p:nvSpPr>
        <p:spPr>
          <a:xfrm>
            <a:off x="3328416" y="3383280"/>
            <a:ext cx="155448" cy="155448"/>
          </a:xfrm>
          <a:prstGeom prst="rect">
            <a:avLst/>
          </a:prstGeom>
          <a:solidFill>
            <a:schemeClr val="accent1">
              <a:alpha val="53000"/>
            </a:schemeClr>
          </a:solidFill>
          <a:ln w="12700">
            <a:solidFill>
              <a:schemeClr val="accent1">
                <a:alpha val="0"/>
              </a:schemeClr>
            </a:solidFill>
            <a:prstDash val="solid"/>
          </a:ln>
        </p:spPr>
      </p:sp>
      <p:sp>
        <p:nvSpPr>
          <p:cNvPr id="261" name="cell-429"/>
          <p:cNvSpPr/>
          <p:nvPr/>
        </p:nvSpPr>
        <p:spPr>
          <a:xfrm>
            <a:off x="3502152" y="3383280"/>
            <a:ext cx="155448" cy="155448"/>
          </a:xfrm>
          <a:prstGeom prst="rect">
            <a:avLst/>
          </a:prstGeom>
          <a:solidFill>
            <a:schemeClr val="accent1">
              <a:alpha val="66000"/>
            </a:schemeClr>
          </a:solidFill>
          <a:ln w="12700">
            <a:solidFill>
              <a:schemeClr val="accent1">
                <a:alpha val="0"/>
              </a:schemeClr>
            </a:solidFill>
            <a:prstDash val="solid"/>
          </a:ln>
        </p:spPr>
      </p:sp>
      <p:sp>
        <p:nvSpPr>
          <p:cNvPr id="262" name="cell-430"/>
          <p:cNvSpPr/>
          <p:nvPr/>
        </p:nvSpPr>
        <p:spPr>
          <a:xfrm>
            <a:off x="3675888" y="3383280"/>
            <a:ext cx="155448" cy="155448"/>
          </a:xfrm>
          <a:prstGeom prst="rect">
            <a:avLst/>
          </a:prstGeom>
          <a:solidFill>
            <a:schemeClr val="accent1">
              <a:alpha val="77000"/>
            </a:schemeClr>
          </a:solidFill>
          <a:ln w="12700">
            <a:solidFill>
              <a:schemeClr val="accent1">
                <a:alpha val="0"/>
              </a:schemeClr>
            </a:solidFill>
            <a:prstDash val="solid"/>
          </a:ln>
        </p:spPr>
      </p:sp>
      <p:sp>
        <p:nvSpPr>
          <p:cNvPr id="263" name="cell-431"/>
          <p:cNvSpPr/>
          <p:nvPr/>
        </p:nvSpPr>
        <p:spPr>
          <a:xfrm>
            <a:off x="3849624" y="3383280"/>
            <a:ext cx="155448" cy="155448"/>
          </a:xfrm>
          <a:prstGeom prst="rect">
            <a:avLst/>
          </a:prstGeom>
          <a:solidFill>
            <a:schemeClr val="accent1">
              <a:alpha val="76000"/>
            </a:schemeClr>
          </a:solidFill>
          <a:ln w="12700">
            <a:solidFill>
              <a:schemeClr val="accent1">
                <a:alpha val="0"/>
              </a:schemeClr>
            </a:solidFill>
            <a:prstDash val="solid"/>
          </a:ln>
        </p:spPr>
      </p:sp>
      <p:sp>
        <p:nvSpPr>
          <p:cNvPr id="264" name="cell-432"/>
          <p:cNvSpPr/>
          <p:nvPr/>
        </p:nvSpPr>
        <p:spPr>
          <a:xfrm>
            <a:off x="4023360" y="3383280"/>
            <a:ext cx="155448" cy="155448"/>
          </a:xfrm>
          <a:prstGeom prst="rect">
            <a:avLst/>
          </a:prstGeom>
          <a:solidFill>
            <a:schemeClr val="accent1">
              <a:alpha val="61000"/>
            </a:schemeClr>
          </a:solidFill>
          <a:ln w="12700">
            <a:solidFill>
              <a:schemeClr val="accent1">
                <a:alpha val="0"/>
              </a:schemeClr>
            </a:solidFill>
            <a:prstDash val="solid"/>
          </a:ln>
        </p:spPr>
      </p:sp>
      <p:sp>
        <p:nvSpPr>
          <p:cNvPr id="265" name="cell-433"/>
          <p:cNvSpPr/>
          <p:nvPr/>
        </p:nvSpPr>
        <p:spPr>
          <a:xfrm>
            <a:off x="4197096" y="3383280"/>
            <a:ext cx="155448" cy="155448"/>
          </a:xfrm>
          <a:prstGeom prst="rect">
            <a:avLst/>
          </a:prstGeom>
          <a:solidFill>
            <a:schemeClr val="accent1">
              <a:alpha val="40000"/>
            </a:schemeClr>
          </a:solidFill>
          <a:ln w="12700">
            <a:solidFill>
              <a:schemeClr val="accent1">
                <a:alpha val="0"/>
              </a:schemeClr>
            </a:solidFill>
            <a:prstDash val="solid"/>
          </a:ln>
        </p:spPr>
      </p:sp>
      <p:sp>
        <p:nvSpPr>
          <p:cNvPr id="266" name="cell-434"/>
          <p:cNvSpPr/>
          <p:nvPr/>
        </p:nvSpPr>
        <p:spPr>
          <a:xfrm>
            <a:off x="4370832" y="3383280"/>
            <a:ext cx="155448" cy="155448"/>
          </a:xfrm>
          <a:prstGeom prst="rect">
            <a:avLst/>
          </a:prstGeom>
          <a:solidFill>
            <a:schemeClr val="accent1">
              <a:alpha val="24000"/>
            </a:schemeClr>
          </a:solidFill>
          <a:ln w="12700">
            <a:solidFill>
              <a:schemeClr val="accent1">
                <a:alpha val="0"/>
              </a:schemeClr>
            </a:solidFill>
            <a:prstDash val="solid"/>
          </a:ln>
        </p:spPr>
      </p:sp>
      <p:sp>
        <p:nvSpPr>
          <p:cNvPr id="267" name="cell-435"/>
          <p:cNvSpPr/>
          <p:nvPr/>
        </p:nvSpPr>
        <p:spPr>
          <a:xfrm>
            <a:off x="4544568" y="3383280"/>
            <a:ext cx="155448" cy="155448"/>
          </a:xfrm>
          <a:prstGeom prst="rect">
            <a:avLst/>
          </a:prstGeom>
          <a:solidFill>
            <a:schemeClr val="accent1">
              <a:alpha val="22000"/>
            </a:schemeClr>
          </a:solidFill>
          <a:ln w="12700">
            <a:solidFill>
              <a:schemeClr val="accent1">
                <a:alpha val="0"/>
              </a:schemeClr>
            </a:solidFill>
            <a:prstDash val="solid"/>
          </a:ln>
        </p:spPr>
      </p:sp>
      <p:sp>
        <p:nvSpPr>
          <p:cNvPr id="268" name="cell-436"/>
          <p:cNvSpPr/>
          <p:nvPr/>
        </p:nvSpPr>
        <p:spPr>
          <a:xfrm>
            <a:off x="548640" y="3557016"/>
            <a:ext cx="155448" cy="155448"/>
          </a:xfrm>
          <a:prstGeom prst="rect">
            <a:avLst/>
          </a:prstGeom>
          <a:solidFill>
            <a:schemeClr val="accent1">
              <a:alpha val="55000"/>
            </a:schemeClr>
          </a:solidFill>
          <a:ln w="12700">
            <a:solidFill>
              <a:schemeClr val="accent1">
                <a:alpha val="0"/>
              </a:schemeClr>
            </a:solidFill>
            <a:prstDash val="solid"/>
          </a:ln>
        </p:spPr>
      </p:sp>
      <p:sp>
        <p:nvSpPr>
          <p:cNvPr id="269" name="cell-437"/>
          <p:cNvSpPr/>
          <p:nvPr/>
        </p:nvSpPr>
        <p:spPr>
          <a:xfrm>
            <a:off x="722376" y="3557016"/>
            <a:ext cx="155448" cy="155448"/>
          </a:xfrm>
          <a:prstGeom prst="rect">
            <a:avLst/>
          </a:prstGeom>
          <a:solidFill>
            <a:schemeClr val="accent1">
              <a:alpha val="50000"/>
            </a:schemeClr>
          </a:solidFill>
          <a:ln w="12700">
            <a:solidFill>
              <a:schemeClr val="accent1">
                <a:alpha val="0"/>
              </a:schemeClr>
            </a:solidFill>
            <a:prstDash val="solid"/>
          </a:ln>
        </p:spPr>
      </p:sp>
      <p:sp>
        <p:nvSpPr>
          <p:cNvPr id="270" name="cell-438"/>
          <p:cNvSpPr/>
          <p:nvPr/>
        </p:nvSpPr>
        <p:spPr>
          <a:xfrm>
            <a:off x="896112" y="3557016"/>
            <a:ext cx="155448" cy="155448"/>
          </a:xfrm>
          <a:prstGeom prst="rect">
            <a:avLst/>
          </a:prstGeom>
          <a:solidFill>
            <a:schemeClr val="accent1">
              <a:alpha val="56000"/>
            </a:schemeClr>
          </a:solidFill>
          <a:ln w="12700">
            <a:solidFill>
              <a:schemeClr val="accent1">
                <a:alpha val="0"/>
              </a:schemeClr>
            </a:solidFill>
            <a:prstDash val="solid"/>
          </a:ln>
        </p:spPr>
      </p:sp>
      <p:sp>
        <p:nvSpPr>
          <p:cNvPr id="271" name="cell-439"/>
          <p:cNvSpPr/>
          <p:nvPr/>
        </p:nvSpPr>
        <p:spPr>
          <a:xfrm>
            <a:off x="1069848" y="3557016"/>
            <a:ext cx="155448" cy="155448"/>
          </a:xfrm>
          <a:prstGeom prst="rect">
            <a:avLst/>
          </a:prstGeom>
          <a:solidFill>
            <a:schemeClr val="accent1">
              <a:alpha val="67000"/>
            </a:schemeClr>
          </a:solidFill>
          <a:ln w="12700">
            <a:solidFill>
              <a:schemeClr val="accent1">
                <a:alpha val="0"/>
              </a:schemeClr>
            </a:solidFill>
            <a:prstDash val="solid"/>
          </a:ln>
        </p:spPr>
      </p:sp>
      <p:sp>
        <p:nvSpPr>
          <p:cNvPr id="272" name="cell-440"/>
          <p:cNvSpPr/>
          <p:nvPr/>
        </p:nvSpPr>
        <p:spPr>
          <a:xfrm>
            <a:off x="1243584" y="3557016"/>
            <a:ext cx="155448" cy="155448"/>
          </a:xfrm>
          <a:prstGeom prst="rect">
            <a:avLst/>
          </a:prstGeom>
          <a:solidFill>
            <a:schemeClr val="accent1">
              <a:alpha val="73000"/>
            </a:schemeClr>
          </a:solidFill>
          <a:ln w="12700">
            <a:solidFill>
              <a:schemeClr val="accent1">
                <a:alpha val="0"/>
              </a:schemeClr>
            </a:solidFill>
            <a:prstDash val="solid"/>
          </a:ln>
        </p:spPr>
      </p:sp>
      <p:sp>
        <p:nvSpPr>
          <p:cNvPr id="273" name="cell-441"/>
          <p:cNvSpPr/>
          <p:nvPr/>
        </p:nvSpPr>
        <p:spPr>
          <a:xfrm>
            <a:off x="1417320" y="3557016"/>
            <a:ext cx="155448" cy="155448"/>
          </a:xfrm>
          <a:prstGeom prst="rect">
            <a:avLst/>
          </a:prstGeom>
          <a:solidFill>
            <a:schemeClr val="accent1">
              <a:alpha val="66000"/>
            </a:schemeClr>
          </a:solidFill>
          <a:ln w="12700">
            <a:solidFill>
              <a:schemeClr val="accent1">
                <a:alpha val="0"/>
              </a:schemeClr>
            </a:solidFill>
            <a:prstDash val="solid"/>
          </a:ln>
        </p:spPr>
      </p:sp>
      <p:sp>
        <p:nvSpPr>
          <p:cNvPr id="274" name="cell-442"/>
          <p:cNvSpPr/>
          <p:nvPr/>
        </p:nvSpPr>
        <p:spPr>
          <a:xfrm>
            <a:off x="1591056" y="3557016"/>
            <a:ext cx="155448" cy="155448"/>
          </a:xfrm>
          <a:prstGeom prst="rect">
            <a:avLst/>
          </a:prstGeom>
          <a:solidFill>
            <a:schemeClr val="accent1">
              <a:alpha val="47000"/>
            </a:schemeClr>
          </a:solidFill>
          <a:ln w="12700">
            <a:solidFill>
              <a:schemeClr val="accent1">
                <a:alpha val="0"/>
              </a:schemeClr>
            </a:solidFill>
            <a:prstDash val="solid"/>
          </a:ln>
        </p:spPr>
      </p:sp>
      <p:sp>
        <p:nvSpPr>
          <p:cNvPr id="275" name="cell-443"/>
          <p:cNvSpPr/>
          <p:nvPr/>
        </p:nvSpPr>
        <p:spPr>
          <a:xfrm>
            <a:off x="1764792" y="3557016"/>
            <a:ext cx="155448" cy="155448"/>
          </a:xfrm>
          <a:prstGeom prst="rect">
            <a:avLst/>
          </a:prstGeom>
          <a:solidFill>
            <a:schemeClr val="accent1">
              <a:alpha val="27000"/>
            </a:schemeClr>
          </a:solidFill>
          <a:ln w="12700">
            <a:solidFill>
              <a:schemeClr val="accent1">
                <a:alpha val="0"/>
              </a:schemeClr>
            </a:solidFill>
            <a:prstDash val="solid"/>
          </a:ln>
        </p:spPr>
      </p:sp>
      <p:sp>
        <p:nvSpPr>
          <p:cNvPr id="276" name="cell-444"/>
          <p:cNvSpPr/>
          <p:nvPr/>
        </p:nvSpPr>
        <p:spPr>
          <a:xfrm>
            <a:off x="1938528" y="3557016"/>
            <a:ext cx="155448" cy="155448"/>
          </a:xfrm>
          <a:prstGeom prst="rect">
            <a:avLst/>
          </a:prstGeom>
          <a:solidFill>
            <a:schemeClr val="accent1">
              <a:alpha val="17000"/>
            </a:schemeClr>
          </a:solidFill>
          <a:ln w="12700">
            <a:solidFill>
              <a:schemeClr val="accent1">
                <a:alpha val="0"/>
              </a:schemeClr>
            </a:solidFill>
            <a:prstDash val="solid"/>
          </a:ln>
        </p:spPr>
      </p:sp>
      <p:sp>
        <p:nvSpPr>
          <p:cNvPr id="277" name="cell-445"/>
          <p:cNvSpPr/>
          <p:nvPr/>
        </p:nvSpPr>
        <p:spPr>
          <a:xfrm>
            <a:off x="2112264" y="3557016"/>
            <a:ext cx="155448" cy="155448"/>
          </a:xfrm>
          <a:prstGeom prst="rect">
            <a:avLst/>
          </a:prstGeom>
          <a:solidFill>
            <a:schemeClr val="accent1">
              <a:alpha val="23000"/>
            </a:schemeClr>
          </a:solidFill>
          <a:ln w="12700">
            <a:solidFill>
              <a:schemeClr val="accent1">
                <a:alpha val="0"/>
              </a:schemeClr>
            </a:solidFill>
            <a:prstDash val="solid"/>
          </a:ln>
        </p:spPr>
      </p:sp>
      <p:sp>
        <p:nvSpPr>
          <p:cNvPr id="278" name="cell-446"/>
          <p:cNvSpPr/>
          <p:nvPr/>
        </p:nvSpPr>
        <p:spPr>
          <a:xfrm>
            <a:off x="2286000" y="3557016"/>
            <a:ext cx="155448" cy="155448"/>
          </a:xfrm>
          <a:prstGeom prst="rect">
            <a:avLst/>
          </a:prstGeom>
          <a:solidFill>
            <a:schemeClr val="accent1">
              <a:alpha val="38000"/>
            </a:schemeClr>
          </a:solidFill>
          <a:ln w="12700">
            <a:solidFill>
              <a:schemeClr val="accent1">
                <a:alpha val="0"/>
              </a:schemeClr>
            </a:solidFill>
            <a:prstDash val="solid"/>
          </a:ln>
        </p:spPr>
      </p:sp>
      <p:sp>
        <p:nvSpPr>
          <p:cNvPr id="279" name="cell-447"/>
          <p:cNvSpPr/>
          <p:nvPr/>
        </p:nvSpPr>
        <p:spPr>
          <a:xfrm>
            <a:off x="2459736" y="3557016"/>
            <a:ext cx="155448" cy="155448"/>
          </a:xfrm>
          <a:prstGeom prst="rect">
            <a:avLst/>
          </a:prstGeom>
          <a:solidFill>
            <a:schemeClr val="accent1">
              <a:alpha val="52000"/>
            </a:schemeClr>
          </a:solidFill>
          <a:ln w="12700">
            <a:solidFill>
              <a:schemeClr val="accent1">
                <a:alpha val="0"/>
              </a:schemeClr>
            </a:solidFill>
            <a:prstDash val="solid"/>
          </a:ln>
        </p:spPr>
      </p:sp>
      <p:sp>
        <p:nvSpPr>
          <p:cNvPr id="280" name="cell-448"/>
          <p:cNvSpPr/>
          <p:nvPr/>
        </p:nvSpPr>
        <p:spPr>
          <a:xfrm>
            <a:off x="2633472" y="3557016"/>
            <a:ext cx="155448" cy="155448"/>
          </a:xfrm>
          <a:prstGeom prst="rect">
            <a:avLst/>
          </a:prstGeom>
          <a:solidFill>
            <a:schemeClr val="accent1">
              <a:alpha val="56000"/>
            </a:schemeClr>
          </a:solidFill>
          <a:ln w="12700">
            <a:solidFill>
              <a:schemeClr val="accent1">
                <a:alpha val="0"/>
              </a:schemeClr>
            </a:solidFill>
            <a:prstDash val="solid"/>
          </a:ln>
        </p:spPr>
      </p:sp>
      <p:sp>
        <p:nvSpPr>
          <p:cNvPr id="281" name="cell-449"/>
          <p:cNvSpPr/>
          <p:nvPr/>
        </p:nvSpPr>
        <p:spPr>
          <a:xfrm>
            <a:off x="2807208" y="3557016"/>
            <a:ext cx="155448" cy="155448"/>
          </a:xfrm>
          <a:prstGeom prst="rect">
            <a:avLst/>
          </a:prstGeom>
          <a:solidFill>
            <a:schemeClr val="accent1">
              <a:alpha val="49000"/>
            </a:schemeClr>
          </a:solidFill>
          <a:ln w="12700">
            <a:solidFill>
              <a:schemeClr val="accent1">
                <a:alpha val="0"/>
              </a:schemeClr>
            </a:solidFill>
            <a:prstDash val="solid"/>
          </a:ln>
        </p:spPr>
      </p:sp>
      <p:sp>
        <p:nvSpPr>
          <p:cNvPr id="282" name="cell-450"/>
          <p:cNvSpPr/>
          <p:nvPr/>
        </p:nvSpPr>
        <p:spPr>
          <a:xfrm>
            <a:off x="2980944" y="3557016"/>
            <a:ext cx="155448" cy="155448"/>
          </a:xfrm>
          <a:prstGeom prst="rect">
            <a:avLst/>
          </a:prstGeom>
          <a:solidFill>
            <a:schemeClr val="accent1">
              <a:alpha val="41000"/>
            </a:schemeClr>
          </a:solidFill>
          <a:ln w="12700">
            <a:solidFill>
              <a:schemeClr val="accent1">
                <a:alpha val="0"/>
              </a:schemeClr>
            </a:solidFill>
            <a:prstDash val="solid"/>
          </a:ln>
        </p:spPr>
      </p:sp>
      <p:sp>
        <p:nvSpPr>
          <p:cNvPr id="283" name="cell-451"/>
          <p:cNvSpPr/>
          <p:nvPr/>
        </p:nvSpPr>
        <p:spPr>
          <a:xfrm>
            <a:off x="3154680" y="3557016"/>
            <a:ext cx="155448" cy="155448"/>
          </a:xfrm>
          <a:prstGeom prst="rect">
            <a:avLst/>
          </a:prstGeom>
          <a:solidFill>
            <a:schemeClr val="accent1">
              <a:alpha val="41000"/>
            </a:schemeClr>
          </a:solidFill>
          <a:ln w="12700">
            <a:solidFill>
              <a:schemeClr val="accent1">
                <a:alpha val="0"/>
              </a:schemeClr>
            </a:solidFill>
            <a:prstDash val="solid"/>
          </a:ln>
        </p:spPr>
      </p:sp>
      <p:sp>
        <p:nvSpPr>
          <p:cNvPr id="284" name="cell-452"/>
          <p:cNvSpPr/>
          <p:nvPr/>
        </p:nvSpPr>
        <p:spPr>
          <a:xfrm>
            <a:off x="3328416" y="3557016"/>
            <a:ext cx="155448" cy="155448"/>
          </a:xfrm>
          <a:prstGeom prst="rect">
            <a:avLst/>
          </a:prstGeom>
          <a:solidFill>
            <a:schemeClr val="accent1">
              <a:alpha val="54000"/>
            </a:schemeClr>
          </a:solidFill>
          <a:ln w="12700">
            <a:solidFill>
              <a:schemeClr val="accent1">
                <a:alpha val="0"/>
              </a:schemeClr>
            </a:solidFill>
            <a:prstDash val="solid"/>
          </a:ln>
        </p:spPr>
      </p:sp>
      <p:sp>
        <p:nvSpPr>
          <p:cNvPr id="285" name="cell-453"/>
          <p:cNvSpPr/>
          <p:nvPr/>
        </p:nvSpPr>
        <p:spPr>
          <a:xfrm>
            <a:off x="3502152" y="3557016"/>
            <a:ext cx="155448" cy="155448"/>
          </a:xfrm>
          <a:prstGeom prst="rect">
            <a:avLst/>
          </a:prstGeom>
          <a:solidFill>
            <a:schemeClr val="accent1">
              <a:alpha val="72000"/>
            </a:schemeClr>
          </a:solidFill>
          <a:ln w="12700">
            <a:solidFill>
              <a:schemeClr val="accent1">
                <a:alpha val="0"/>
              </a:schemeClr>
            </a:solidFill>
            <a:prstDash val="solid"/>
          </a:ln>
        </p:spPr>
      </p:sp>
      <p:sp>
        <p:nvSpPr>
          <p:cNvPr id="286" name="cell-454"/>
          <p:cNvSpPr/>
          <p:nvPr/>
        </p:nvSpPr>
        <p:spPr>
          <a:xfrm>
            <a:off x="3675888" y="3557016"/>
            <a:ext cx="155448" cy="155448"/>
          </a:xfrm>
          <a:prstGeom prst="rect">
            <a:avLst/>
          </a:prstGeom>
          <a:solidFill>
            <a:schemeClr val="accent1">
              <a:alpha val="84000"/>
            </a:schemeClr>
          </a:solidFill>
          <a:ln w="12700">
            <a:solidFill>
              <a:schemeClr val="accent1">
                <a:alpha val="0"/>
              </a:schemeClr>
            </a:solidFill>
            <a:prstDash val="solid"/>
          </a:ln>
        </p:spPr>
      </p:sp>
      <p:sp>
        <p:nvSpPr>
          <p:cNvPr id="287" name="cell-455"/>
          <p:cNvSpPr/>
          <p:nvPr/>
        </p:nvSpPr>
        <p:spPr>
          <a:xfrm>
            <a:off x="3849624" y="3557016"/>
            <a:ext cx="155448" cy="155448"/>
          </a:xfrm>
          <a:prstGeom prst="rect">
            <a:avLst/>
          </a:prstGeom>
          <a:solidFill>
            <a:schemeClr val="accent1">
              <a:alpha val="81000"/>
            </a:schemeClr>
          </a:solidFill>
          <a:ln w="12700">
            <a:solidFill>
              <a:schemeClr val="accent1">
                <a:alpha val="0"/>
              </a:schemeClr>
            </a:solidFill>
            <a:prstDash val="solid"/>
          </a:ln>
        </p:spPr>
      </p:sp>
      <p:sp>
        <p:nvSpPr>
          <p:cNvPr id="288" name="cell-456"/>
          <p:cNvSpPr/>
          <p:nvPr/>
        </p:nvSpPr>
        <p:spPr>
          <a:xfrm>
            <a:off x="4023360" y="3557016"/>
            <a:ext cx="155448" cy="155448"/>
          </a:xfrm>
          <a:prstGeom prst="rect">
            <a:avLst/>
          </a:prstGeom>
          <a:solidFill>
            <a:schemeClr val="accent1">
              <a:alpha val="65000"/>
            </a:schemeClr>
          </a:solidFill>
          <a:ln w="12700">
            <a:solidFill>
              <a:schemeClr val="accent1">
                <a:alpha val="0"/>
              </a:schemeClr>
            </a:solidFill>
            <a:prstDash val="solid"/>
          </a:ln>
        </p:spPr>
      </p:sp>
      <p:sp>
        <p:nvSpPr>
          <p:cNvPr id="289" name="cell-457"/>
          <p:cNvSpPr/>
          <p:nvPr/>
        </p:nvSpPr>
        <p:spPr>
          <a:xfrm>
            <a:off x="4197096" y="3557016"/>
            <a:ext cx="155448" cy="155448"/>
          </a:xfrm>
          <a:prstGeom prst="rect">
            <a:avLst/>
          </a:prstGeom>
          <a:solidFill>
            <a:schemeClr val="accent1">
              <a:alpha val="45000"/>
            </a:schemeClr>
          </a:solidFill>
          <a:ln w="12700">
            <a:solidFill>
              <a:schemeClr val="accent1">
                <a:alpha val="0"/>
              </a:schemeClr>
            </a:solidFill>
            <a:prstDash val="solid"/>
          </a:ln>
        </p:spPr>
      </p:sp>
      <p:sp>
        <p:nvSpPr>
          <p:cNvPr id="290" name="cell-458"/>
          <p:cNvSpPr/>
          <p:nvPr/>
        </p:nvSpPr>
        <p:spPr>
          <a:xfrm>
            <a:off x="4370832" y="3557016"/>
            <a:ext cx="155448" cy="155448"/>
          </a:xfrm>
          <a:prstGeom prst="rect">
            <a:avLst/>
          </a:prstGeom>
          <a:solidFill>
            <a:schemeClr val="accent1">
              <a:alpha val="33000"/>
            </a:schemeClr>
          </a:solidFill>
          <a:ln w="12700">
            <a:solidFill>
              <a:schemeClr val="accent1">
                <a:alpha val="0"/>
              </a:schemeClr>
            </a:solidFill>
            <a:prstDash val="solid"/>
          </a:ln>
        </p:spPr>
      </p:sp>
      <p:sp>
        <p:nvSpPr>
          <p:cNvPr id="291" name="cell-459"/>
          <p:cNvSpPr/>
          <p:nvPr/>
        </p:nvSpPr>
        <p:spPr>
          <a:xfrm>
            <a:off x="4544568" y="3557016"/>
            <a:ext cx="155448" cy="155448"/>
          </a:xfrm>
          <a:prstGeom prst="rect">
            <a:avLst/>
          </a:prstGeom>
          <a:solidFill>
            <a:schemeClr val="accent1">
              <a:alpha val="35000"/>
            </a:schemeClr>
          </a:solidFill>
          <a:ln w="12700">
            <a:solidFill>
              <a:schemeClr val="accent1">
                <a:alpha val="0"/>
              </a:schemeClr>
            </a:solidFill>
            <a:prstDash val="solid"/>
          </a:ln>
        </p:spPr>
      </p:sp>
      <p:sp>
        <p:nvSpPr>
          <p:cNvPr id="292" name="text-460"/>
          <p:cNvSpPr txBox="1"/>
          <p:nvPr/>
        </p:nvSpPr>
        <p:spPr>
          <a:xfrm>
            <a:off x="548640" y="3803904"/>
            <a:ext cx="4480560" cy="502920"/>
          </a:xfrm>
          <a:prstGeom prst="rect">
            <a:avLst/>
          </a:prstGeom>
          <a:noFill/>
          <a:ln/>
        </p:spPr>
        <p:txBody>
          <a:bodyPr wrap="square" lIns="0" tIns="0" rIns="0" bIns="0" rtlCol="0" anchor="t"/>
          <a:lstStyle/>
          <a:p>
            <a:pPr indent="0" marL="0">
              <a:buNone/>
            </a:pPr>
            <a:r>
              <a:rPr lang="en-US" sz="1300" b="1" dirty="0">
                <a:solidFill>
                  <a:schemeClr val="tx1"/>
                </a:solidFill>
              </a:rPr>
              <a:t>12 readings × 144 flows</a:t>
            </a:r>
            <a:pPr indent="0" marL="0">
              <a:buNone/>
            </a:pPr>
            <a:r>
              <a:rPr lang="en-US" sz="1300" dirty="0">
                <a:solidFill>
                  <a:schemeClr val="tx1"/>
                </a:solidFill>
              </a:rPr>
              <a:t> = the last 1 hour of traffic (144 flows shown abbreviated)</a:t>
            </a:r>
            <a:endParaRPr lang="en-US" sz="1300" dirty="0"/>
          </a:p>
        </p:txBody>
      </p:sp>
      <p:sp>
        <p:nvSpPr>
          <p:cNvPr id="293" name="arrow-461"/>
          <p:cNvSpPr/>
          <p:nvPr/>
        </p:nvSpPr>
        <p:spPr>
          <a:xfrm>
            <a:off x="2633472" y="4389120"/>
            <a:ext cx="91" cy="365760"/>
          </a:xfrm>
          <a:prstGeom prst="line">
            <a:avLst/>
          </a:prstGeom>
          <a:noFill/>
          <a:ln w="25400">
            <a:solidFill>
              <a:schemeClr val="accent3"/>
            </a:solidFill>
            <a:prstDash val="solid"/>
            <a:tailEnd type="triangle"/>
          </a:ln>
        </p:spPr>
      </p:sp>
      <p:sp>
        <p:nvSpPr>
          <p:cNvPr id="294" name="text-462"/>
          <p:cNvSpPr txBox="1"/>
          <p:nvPr/>
        </p:nvSpPr>
        <p:spPr>
          <a:xfrm>
            <a:off x="548640" y="4498848"/>
            <a:ext cx="4389120" cy="320040"/>
          </a:xfrm>
          <a:prstGeom prst="rect">
            <a:avLst/>
          </a:prstGeom>
          <a:noFill/>
          <a:ln/>
        </p:spPr>
        <p:txBody>
          <a:bodyPr wrap="square" lIns="0" tIns="0" rIns="0" bIns="0" rtlCol="0" anchor="t"/>
          <a:lstStyle/>
          <a:p>
            <a:pPr indent="0" marL="0">
              <a:buNone/>
            </a:pPr>
            <a:r>
              <a:rPr lang="en-US" sz="1700" b="1" dirty="0">
                <a:solidFill>
                  <a:schemeClr val="tx2"/>
                </a:solidFill>
              </a:rPr>
              <a:t>Output</a:t>
            </a:r>
            <a:endParaRPr lang="en-US" sz="1700" dirty="0"/>
          </a:p>
        </p:txBody>
      </p:sp>
      <p:sp>
        <p:nvSpPr>
          <p:cNvPr id="295" name="outcell-463"/>
          <p:cNvSpPr/>
          <p:nvPr/>
        </p:nvSpPr>
        <p:spPr>
          <a:xfrm>
            <a:off x="548640" y="4892040"/>
            <a:ext cx="155448" cy="155448"/>
          </a:xfrm>
          <a:prstGeom prst="rect">
            <a:avLst/>
          </a:prstGeom>
          <a:solidFill>
            <a:schemeClr val="accent2"/>
          </a:solidFill>
          <a:ln w="12700">
            <a:solidFill>
              <a:schemeClr val="accent2">
                <a:alpha val="0"/>
              </a:schemeClr>
            </a:solidFill>
            <a:prstDash val="solid"/>
          </a:ln>
        </p:spPr>
      </p:sp>
      <p:sp>
        <p:nvSpPr>
          <p:cNvPr id="296" name="outcell-464"/>
          <p:cNvSpPr/>
          <p:nvPr/>
        </p:nvSpPr>
        <p:spPr>
          <a:xfrm>
            <a:off x="722376" y="4892040"/>
            <a:ext cx="155448" cy="155448"/>
          </a:xfrm>
          <a:prstGeom prst="rect">
            <a:avLst/>
          </a:prstGeom>
          <a:solidFill>
            <a:schemeClr val="accent2"/>
          </a:solidFill>
          <a:ln w="12700">
            <a:solidFill>
              <a:schemeClr val="accent2">
                <a:alpha val="0"/>
              </a:schemeClr>
            </a:solidFill>
            <a:prstDash val="solid"/>
          </a:ln>
        </p:spPr>
      </p:sp>
      <p:sp>
        <p:nvSpPr>
          <p:cNvPr id="297" name="outcell-465"/>
          <p:cNvSpPr/>
          <p:nvPr/>
        </p:nvSpPr>
        <p:spPr>
          <a:xfrm>
            <a:off x="896112" y="4892040"/>
            <a:ext cx="155448" cy="155448"/>
          </a:xfrm>
          <a:prstGeom prst="rect">
            <a:avLst/>
          </a:prstGeom>
          <a:solidFill>
            <a:schemeClr val="accent2"/>
          </a:solidFill>
          <a:ln w="12700">
            <a:solidFill>
              <a:schemeClr val="accent2">
                <a:alpha val="0"/>
              </a:schemeClr>
            </a:solidFill>
            <a:prstDash val="solid"/>
          </a:ln>
        </p:spPr>
      </p:sp>
      <p:sp>
        <p:nvSpPr>
          <p:cNvPr id="298" name="outcell-466"/>
          <p:cNvSpPr/>
          <p:nvPr/>
        </p:nvSpPr>
        <p:spPr>
          <a:xfrm>
            <a:off x="1069848" y="4892040"/>
            <a:ext cx="155448" cy="155448"/>
          </a:xfrm>
          <a:prstGeom prst="rect">
            <a:avLst/>
          </a:prstGeom>
          <a:solidFill>
            <a:schemeClr val="accent2"/>
          </a:solidFill>
          <a:ln w="12700">
            <a:solidFill>
              <a:schemeClr val="accent2">
                <a:alpha val="0"/>
              </a:schemeClr>
            </a:solidFill>
            <a:prstDash val="solid"/>
          </a:ln>
        </p:spPr>
      </p:sp>
      <p:sp>
        <p:nvSpPr>
          <p:cNvPr id="299" name="outcell-467"/>
          <p:cNvSpPr/>
          <p:nvPr/>
        </p:nvSpPr>
        <p:spPr>
          <a:xfrm>
            <a:off x="1243584" y="4892040"/>
            <a:ext cx="155448" cy="155448"/>
          </a:xfrm>
          <a:prstGeom prst="rect">
            <a:avLst/>
          </a:prstGeom>
          <a:solidFill>
            <a:schemeClr val="accent2"/>
          </a:solidFill>
          <a:ln w="12700">
            <a:solidFill>
              <a:schemeClr val="accent2">
                <a:alpha val="0"/>
              </a:schemeClr>
            </a:solidFill>
            <a:prstDash val="solid"/>
          </a:ln>
        </p:spPr>
      </p:sp>
      <p:sp>
        <p:nvSpPr>
          <p:cNvPr id="300" name="outcell-468"/>
          <p:cNvSpPr/>
          <p:nvPr/>
        </p:nvSpPr>
        <p:spPr>
          <a:xfrm>
            <a:off x="1417320" y="4892040"/>
            <a:ext cx="155448" cy="155448"/>
          </a:xfrm>
          <a:prstGeom prst="rect">
            <a:avLst/>
          </a:prstGeom>
          <a:solidFill>
            <a:schemeClr val="accent2"/>
          </a:solidFill>
          <a:ln w="12700">
            <a:solidFill>
              <a:schemeClr val="accent2">
                <a:alpha val="0"/>
              </a:schemeClr>
            </a:solidFill>
            <a:prstDash val="solid"/>
          </a:ln>
        </p:spPr>
      </p:sp>
      <p:sp>
        <p:nvSpPr>
          <p:cNvPr id="301" name="outcell-469"/>
          <p:cNvSpPr/>
          <p:nvPr/>
        </p:nvSpPr>
        <p:spPr>
          <a:xfrm>
            <a:off x="1591056" y="4892040"/>
            <a:ext cx="155448" cy="155448"/>
          </a:xfrm>
          <a:prstGeom prst="rect">
            <a:avLst/>
          </a:prstGeom>
          <a:solidFill>
            <a:schemeClr val="accent2"/>
          </a:solidFill>
          <a:ln w="12700">
            <a:solidFill>
              <a:schemeClr val="accent2">
                <a:alpha val="0"/>
              </a:schemeClr>
            </a:solidFill>
            <a:prstDash val="solid"/>
          </a:ln>
        </p:spPr>
      </p:sp>
      <p:sp>
        <p:nvSpPr>
          <p:cNvPr id="302" name="outcell-470"/>
          <p:cNvSpPr/>
          <p:nvPr/>
        </p:nvSpPr>
        <p:spPr>
          <a:xfrm>
            <a:off x="1764792" y="4892040"/>
            <a:ext cx="155448" cy="155448"/>
          </a:xfrm>
          <a:prstGeom prst="rect">
            <a:avLst/>
          </a:prstGeom>
          <a:solidFill>
            <a:schemeClr val="accent2"/>
          </a:solidFill>
          <a:ln w="12700">
            <a:solidFill>
              <a:schemeClr val="accent2">
                <a:alpha val="0"/>
              </a:schemeClr>
            </a:solidFill>
            <a:prstDash val="solid"/>
          </a:ln>
        </p:spPr>
      </p:sp>
      <p:sp>
        <p:nvSpPr>
          <p:cNvPr id="303" name="outcell-471"/>
          <p:cNvSpPr/>
          <p:nvPr/>
        </p:nvSpPr>
        <p:spPr>
          <a:xfrm>
            <a:off x="1938528" y="4892040"/>
            <a:ext cx="155448" cy="155448"/>
          </a:xfrm>
          <a:prstGeom prst="rect">
            <a:avLst/>
          </a:prstGeom>
          <a:solidFill>
            <a:schemeClr val="accent2"/>
          </a:solidFill>
          <a:ln w="12700">
            <a:solidFill>
              <a:schemeClr val="accent2">
                <a:alpha val="0"/>
              </a:schemeClr>
            </a:solidFill>
            <a:prstDash val="solid"/>
          </a:ln>
        </p:spPr>
      </p:sp>
      <p:sp>
        <p:nvSpPr>
          <p:cNvPr id="304" name="outcell-472"/>
          <p:cNvSpPr/>
          <p:nvPr/>
        </p:nvSpPr>
        <p:spPr>
          <a:xfrm>
            <a:off x="2112264" y="4892040"/>
            <a:ext cx="155448" cy="155448"/>
          </a:xfrm>
          <a:prstGeom prst="rect">
            <a:avLst/>
          </a:prstGeom>
          <a:solidFill>
            <a:schemeClr val="accent2"/>
          </a:solidFill>
          <a:ln w="12700">
            <a:solidFill>
              <a:schemeClr val="accent2">
                <a:alpha val="0"/>
              </a:schemeClr>
            </a:solidFill>
            <a:prstDash val="solid"/>
          </a:ln>
        </p:spPr>
      </p:sp>
      <p:sp>
        <p:nvSpPr>
          <p:cNvPr id="305" name="outcell-473"/>
          <p:cNvSpPr/>
          <p:nvPr/>
        </p:nvSpPr>
        <p:spPr>
          <a:xfrm>
            <a:off x="2286000" y="4892040"/>
            <a:ext cx="155448" cy="155448"/>
          </a:xfrm>
          <a:prstGeom prst="rect">
            <a:avLst/>
          </a:prstGeom>
          <a:solidFill>
            <a:schemeClr val="accent2"/>
          </a:solidFill>
          <a:ln w="12700">
            <a:solidFill>
              <a:schemeClr val="accent2">
                <a:alpha val="0"/>
              </a:schemeClr>
            </a:solidFill>
            <a:prstDash val="solid"/>
          </a:ln>
        </p:spPr>
      </p:sp>
      <p:sp>
        <p:nvSpPr>
          <p:cNvPr id="306" name="outcell-474"/>
          <p:cNvSpPr/>
          <p:nvPr/>
        </p:nvSpPr>
        <p:spPr>
          <a:xfrm>
            <a:off x="2459736" y="4892040"/>
            <a:ext cx="155448" cy="155448"/>
          </a:xfrm>
          <a:prstGeom prst="rect">
            <a:avLst/>
          </a:prstGeom>
          <a:solidFill>
            <a:schemeClr val="accent2"/>
          </a:solidFill>
          <a:ln w="12700">
            <a:solidFill>
              <a:schemeClr val="accent2">
                <a:alpha val="0"/>
              </a:schemeClr>
            </a:solidFill>
            <a:prstDash val="solid"/>
          </a:ln>
        </p:spPr>
      </p:sp>
      <p:sp>
        <p:nvSpPr>
          <p:cNvPr id="307" name="outcell-475"/>
          <p:cNvSpPr/>
          <p:nvPr/>
        </p:nvSpPr>
        <p:spPr>
          <a:xfrm>
            <a:off x="2633472" y="4892040"/>
            <a:ext cx="155448" cy="155448"/>
          </a:xfrm>
          <a:prstGeom prst="rect">
            <a:avLst/>
          </a:prstGeom>
          <a:solidFill>
            <a:schemeClr val="accent2"/>
          </a:solidFill>
          <a:ln w="12700">
            <a:solidFill>
              <a:schemeClr val="accent2">
                <a:alpha val="0"/>
              </a:schemeClr>
            </a:solidFill>
            <a:prstDash val="solid"/>
          </a:ln>
        </p:spPr>
      </p:sp>
      <p:sp>
        <p:nvSpPr>
          <p:cNvPr id="308" name="outcell-476"/>
          <p:cNvSpPr/>
          <p:nvPr/>
        </p:nvSpPr>
        <p:spPr>
          <a:xfrm>
            <a:off x="2807208" y="4892040"/>
            <a:ext cx="155448" cy="155448"/>
          </a:xfrm>
          <a:prstGeom prst="rect">
            <a:avLst/>
          </a:prstGeom>
          <a:solidFill>
            <a:schemeClr val="accent2"/>
          </a:solidFill>
          <a:ln w="12700">
            <a:solidFill>
              <a:schemeClr val="accent2">
                <a:alpha val="0"/>
              </a:schemeClr>
            </a:solidFill>
            <a:prstDash val="solid"/>
          </a:ln>
        </p:spPr>
      </p:sp>
      <p:sp>
        <p:nvSpPr>
          <p:cNvPr id="309" name="outcell-477"/>
          <p:cNvSpPr/>
          <p:nvPr/>
        </p:nvSpPr>
        <p:spPr>
          <a:xfrm>
            <a:off x="2980944" y="4892040"/>
            <a:ext cx="155448" cy="155448"/>
          </a:xfrm>
          <a:prstGeom prst="rect">
            <a:avLst/>
          </a:prstGeom>
          <a:solidFill>
            <a:schemeClr val="accent2"/>
          </a:solidFill>
          <a:ln w="12700">
            <a:solidFill>
              <a:schemeClr val="accent2">
                <a:alpha val="0"/>
              </a:schemeClr>
            </a:solidFill>
            <a:prstDash val="solid"/>
          </a:ln>
        </p:spPr>
      </p:sp>
      <p:sp>
        <p:nvSpPr>
          <p:cNvPr id="310" name="outcell-478"/>
          <p:cNvSpPr/>
          <p:nvPr/>
        </p:nvSpPr>
        <p:spPr>
          <a:xfrm>
            <a:off x="3154680" y="4892040"/>
            <a:ext cx="155448" cy="155448"/>
          </a:xfrm>
          <a:prstGeom prst="rect">
            <a:avLst/>
          </a:prstGeom>
          <a:solidFill>
            <a:schemeClr val="accent2"/>
          </a:solidFill>
          <a:ln w="12700">
            <a:solidFill>
              <a:schemeClr val="accent2">
                <a:alpha val="0"/>
              </a:schemeClr>
            </a:solidFill>
            <a:prstDash val="solid"/>
          </a:ln>
        </p:spPr>
      </p:sp>
      <p:sp>
        <p:nvSpPr>
          <p:cNvPr id="311" name="outcell-479"/>
          <p:cNvSpPr/>
          <p:nvPr/>
        </p:nvSpPr>
        <p:spPr>
          <a:xfrm>
            <a:off x="3328416" y="4892040"/>
            <a:ext cx="155448" cy="155448"/>
          </a:xfrm>
          <a:prstGeom prst="rect">
            <a:avLst/>
          </a:prstGeom>
          <a:solidFill>
            <a:schemeClr val="accent2"/>
          </a:solidFill>
          <a:ln w="12700">
            <a:solidFill>
              <a:schemeClr val="accent2">
                <a:alpha val="0"/>
              </a:schemeClr>
            </a:solidFill>
            <a:prstDash val="solid"/>
          </a:ln>
        </p:spPr>
      </p:sp>
      <p:sp>
        <p:nvSpPr>
          <p:cNvPr id="312" name="outcell-480"/>
          <p:cNvSpPr/>
          <p:nvPr/>
        </p:nvSpPr>
        <p:spPr>
          <a:xfrm>
            <a:off x="3502152" y="4892040"/>
            <a:ext cx="155448" cy="155448"/>
          </a:xfrm>
          <a:prstGeom prst="rect">
            <a:avLst/>
          </a:prstGeom>
          <a:solidFill>
            <a:schemeClr val="accent2"/>
          </a:solidFill>
          <a:ln w="12700">
            <a:solidFill>
              <a:schemeClr val="accent2">
                <a:alpha val="0"/>
              </a:schemeClr>
            </a:solidFill>
            <a:prstDash val="solid"/>
          </a:ln>
        </p:spPr>
      </p:sp>
      <p:sp>
        <p:nvSpPr>
          <p:cNvPr id="313" name="outcell-481"/>
          <p:cNvSpPr/>
          <p:nvPr/>
        </p:nvSpPr>
        <p:spPr>
          <a:xfrm>
            <a:off x="3675888" y="4892040"/>
            <a:ext cx="155448" cy="155448"/>
          </a:xfrm>
          <a:prstGeom prst="rect">
            <a:avLst/>
          </a:prstGeom>
          <a:solidFill>
            <a:schemeClr val="accent2"/>
          </a:solidFill>
          <a:ln w="12700">
            <a:solidFill>
              <a:schemeClr val="accent2">
                <a:alpha val="0"/>
              </a:schemeClr>
            </a:solidFill>
            <a:prstDash val="solid"/>
          </a:ln>
        </p:spPr>
      </p:sp>
      <p:sp>
        <p:nvSpPr>
          <p:cNvPr id="314" name="outcell-482"/>
          <p:cNvSpPr/>
          <p:nvPr/>
        </p:nvSpPr>
        <p:spPr>
          <a:xfrm>
            <a:off x="3849624" y="4892040"/>
            <a:ext cx="155448" cy="155448"/>
          </a:xfrm>
          <a:prstGeom prst="rect">
            <a:avLst/>
          </a:prstGeom>
          <a:solidFill>
            <a:schemeClr val="accent2"/>
          </a:solidFill>
          <a:ln w="12700">
            <a:solidFill>
              <a:schemeClr val="accent2">
                <a:alpha val="0"/>
              </a:schemeClr>
            </a:solidFill>
            <a:prstDash val="solid"/>
          </a:ln>
        </p:spPr>
      </p:sp>
      <p:sp>
        <p:nvSpPr>
          <p:cNvPr id="315" name="outcell-483"/>
          <p:cNvSpPr/>
          <p:nvPr/>
        </p:nvSpPr>
        <p:spPr>
          <a:xfrm>
            <a:off x="4023360" y="4892040"/>
            <a:ext cx="155448" cy="155448"/>
          </a:xfrm>
          <a:prstGeom prst="rect">
            <a:avLst/>
          </a:prstGeom>
          <a:solidFill>
            <a:schemeClr val="accent2"/>
          </a:solidFill>
          <a:ln w="12700">
            <a:solidFill>
              <a:schemeClr val="accent2">
                <a:alpha val="0"/>
              </a:schemeClr>
            </a:solidFill>
            <a:prstDash val="solid"/>
          </a:ln>
        </p:spPr>
      </p:sp>
      <p:sp>
        <p:nvSpPr>
          <p:cNvPr id="316" name="outcell-484"/>
          <p:cNvSpPr/>
          <p:nvPr/>
        </p:nvSpPr>
        <p:spPr>
          <a:xfrm>
            <a:off x="4197096" y="4892040"/>
            <a:ext cx="155448" cy="155448"/>
          </a:xfrm>
          <a:prstGeom prst="rect">
            <a:avLst/>
          </a:prstGeom>
          <a:solidFill>
            <a:schemeClr val="accent2"/>
          </a:solidFill>
          <a:ln w="12700">
            <a:solidFill>
              <a:schemeClr val="accent2">
                <a:alpha val="0"/>
              </a:schemeClr>
            </a:solidFill>
            <a:prstDash val="solid"/>
          </a:ln>
        </p:spPr>
      </p:sp>
      <p:sp>
        <p:nvSpPr>
          <p:cNvPr id="317" name="outcell-485"/>
          <p:cNvSpPr/>
          <p:nvPr/>
        </p:nvSpPr>
        <p:spPr>
          <a:xfrm>
            <a:off x="4370832" y="4892040"/>
            <a:ext cx="155448" cy="155448"/>
          </a:xfrm>
          <a:prstGeom prst="rect">
            <a:avLst/>
          </a:prstGeom>
          <a:solidFill>
            <a:schemeClr val="accent2"/>
          </a:solidFill>
          <a:ln w="12700">
            <a:solidFill>
              <a:schemeClr val="accent2">
                <a:alpha val="0"/>
              </a:schemeClr>
            </a:solidFill>
            <a:prstDash val="solid"/>
          </a:ln>
        </p:spPr>
      </p:sp>
      <p:sp>
        <p:nvSpPr>
          <p:cNvPr id="318" name="outcell-486"/>
          <p:cNvSpPr/>
          <p:nvPr/>
        </p:nvSpPr>
        <p:spPr>
          <a:xfrm>
            <a:off x="4544568" y="4892040"/>
            <a:ext cx="155448" cy="155448"/>
          </a:xfrm>
          <a:prstGeom prst="rect">
            <a:avLst/>
          </a:prstGeom>
          <a:solidFill>
            <a:schemeClr val="accent2"/>
          </a:solidFill>
          <a:ln w="12700">
            <a:solidFill>
              <a:schemeClr val="accent2">
                <a:alpha val="0"/>
              </a:schemeClr>
            </a:solidFill>
            <a:prstDash val="solid"/>
          </a:ln>
        </p:spPr>
      </p:sp>
      <p:sp>
        <p:nvSpPr>
          <p:cNvPr id="319" name="text-487"/>
          <p:cNvSpPr txBox="1"/>
          <p:nvPr/>
        </p:nvSpPr>
        <p:spPr>
          <a:xfrm>
            <a:off x="548640" y="5138928"/>
            <a:ext cx="4480560" cy="365760"/>
          </a:xfrm>
          <a:prstGeom prst="rect">
            <a:avLst/>
          </a:prstGeom>
          <a:noFill/>
          <a:ln/>
        </p:spPr>
        <p:txBody>
          <a:bodyPr wrap="square" lIns="0" tIns="0" rIns="0" bIns="0" rtlCol="0" anchor="t"/>
          <a:lstStyle/>
          <a:p>
            <a:pPr indent="0" marL="0">
              <a:buNone/>
            </a:pPr>
            <a:r>
              <a:rPr lang="en-US" sz="1300" b="1" dirty="0">
                <a:solidFill>
                  <a:schemeClr val="tx1"/>
                </a:solidFill>
              </a:rPr>
              <a:t>144 predicted values</a:t>
            </a:r>
            <a:pPr indent="0" marL="0">
              <a:buNone/>
            </a:pPr>
            <a:r>
              <a:rPr lang="en-US" sz="1300" dirty="0">
                <a:solidFill>
                  <a:schemeClr val="tx1"/>
                </a:solidFill>
              </a:rPr>
              <a:t> = each flow's traffic 5 minutes ahead</a:t>
            </a:r>
            <a:endParaRPr lang="en-US" sz="1300" dirty="0"/>
          </a:p>
        </p:txBody>
      </p:sp>
      <p:sp>
        <p:nvSpPr>
          <p:cNvPr id="320" name="layer-488"/>
          <p:cNvSpPr/>
          <p:nvPr/>
        </p:nvSpPr>
        <p:spPr>
          <a:xfrm>
            <a:off x="5440680" y="1234440"/>
            <a:ext cx="3977640" cy="457200"/>
          </a:xfrm>
          <a:prstGeom prst="roundRect">
            <a:avLst>
              <a:gd name="adj" fmla="val 12000"/>
            </a:avLst>
          </a:prstGeom>
          <a:solidFill>
            <a:schemeClr val="accent3"/>
          </a:solidFill>
          <a:ln w="12700">
            <a:solidFill>
              <a:schemeClr val="accent3"/>
            </a:solidFill>
            <a:prstDash val="solid"/>
          </a:ln>
        </p:spPr>
      </p:sp>
      <p:sp>
        <p:nvSpPr>
          <p:cNvPr id="321" name="text-489"/>
          <p:cNvSpPr txBox="1"/>
          <p:nvPr/>
        </p:nvSpPr>
        <p:spPr>
          <a:xfrm>
            <a:off x="5577840" y="1234440"/>
            <a:ext cx="2971800" cy="457200"/>
          </a:xfrm>
          <a:prstGeom prst="rect">
            <a:avLst/>
          </a:prstGeom>
          <a:noFill/>
          <a:ln/>
        </p:spPr>
        <p:txBody>
          <a:bodyPr wrap="square" lIns="0" tIns="0" rIns="0" bIns="0" rtlCol="0" anchor="ctr"/>
          <a:lstStyle/>
          <a:p>
            <a:pPr indent="0" marL="0">
              <a:buNone/>
            </a:pPr>
            <a:r>
              <a:rPr lang="en-US" sz="1350" b="1" dirty="0">
                <a:solidFill>
                  <a:schemeClr val="bg1"/>
                </a:solidFill>
              </a:rPr>
              <a:t>Input  (12 × 144)</a:t>
            </a:r>
            <a:endParaRPr lang="en-US" sz="1350" dirty="0"/>
          </a:p>
        </p:txBody>
      </p:sp>
      <p:sp>
        <p:nvSpPr>
          <p:cNvPr id="322" name="arrow-490"/>
          <p:cNvSpPr/>
          <p:nvPr/>
        </p:nvSpPr>
        <p:spPr>
          <a:xfrm>
            <a:off x="7429500" y="1691640"/>
            <a:ext cx="91" cy="118872"/>
          </a:xfrm>
          <a:prstGeom prst="line">
            <a:avLst/>
          </a:prstGeom>
          <a:noFill/>
          <a:ln w="15875">
            <a:solidFill>
              <a:schemeClr val="accent3"/>
            </a:solidFill>
            <a:prstDash val="solid"/>
            <a:tailEnd type="triangle"/>
          </a:ln>
        </p:spPr>
      </p:sp>
      <p:sp>
        <p:nvSpPr>
          <p:cNvPr id="323" name="layer-491"/>
          <p:cNvSpPr/>
          <p:nvPr/>
        </p:nvSpPr>
        <p:spPr>
          <a:xfrm>
            <a:off x="5440680" y="1810512"/>
            <a:ext cx="3977640" cy="457200"/>
          </a:xfrm>
          <a:prstGeom prst="roundRect">
            <a:avLst>
              <a:gd name="adj" fmla="val 12000"/>
            </a:avLst>
          </a:prstGeom>
          <a:solidFill>
            <a:schemeClr val="accent1"/>
          </a:solidFill>
          <a:ln w="12700">
            <a:solidFill>
              <a:schemeClr val="accent1"/>
            </a:solidFill>
            <a:prstDash val="solid"/>
          </a:ln>
        </p:spPr>
      </p:sp>
      <p:sp>
        <p:nvSpPr>
          <p:cNvPr id="324" name="text-492"/>
          <p:cNvSpPr txBox="1"/>
          <p:nvPr/>
        </p:nvSpPr>
        <p:spPr>
          <a:xfrm>
            <a:off x="5577840" y="1810512"/>
            <a:ext cx="2971800" cy="457200"/>
          </a:xfrm>
          <a:prstGeom prst="rect">
            <a:avLst/>
          </a:prstGeom>
          <a:noFill/>
          <a:ln/>
        </p:spPr>
        <p:txBody>
          <a:bodyPr wrap="square" lIns="0" tIns="0" rIns="0" bIns="0" rtlCol="0" anchor="ctr"/>
          <a:lstStyle/>
          <a:p>
            <a:pPr indent="0" marL="0">
              <a:buNone/>
            </a:pPr>
            <a:r>
              <a:rPr lang="en-US" sz="1350" b="1" dirty="0">
                <a:solidFill>
                  <a:schemeClr val="bg1"/>
                </a:solidFill>
              </a:rPr>
              <a:t>Conv1D · 64 filters · kernel 3 · causal</a:t>
            </a:r>
            <a:endParaRPr lang="en-US" sz="1350" dirty="0"/>
          </a:p>
        </p:txBody>
      </p:sp>
      <p:sp>
        <p:nvSpPr>
          <p:cNvPr id="325" name="text-493"/>
          <p:cNvSpPr txBox="1"/>
          <p:nvPr/>
        </p:nvSpPr>
        <p:spPr>
          <a:xfrm>
            <a:off x="8503920" y="1810512"/>
            <a:ext cx="777240" cy="457200"/>
          </a:xfrm>
          <a:prstGeom prst="rect">
            <a:avLst/>
          </a:prstGeom>
          <a:noFill/>
          <a:ln/>
        </p:spPr>
        <p:txBody>
          <a:bodyPr wrap="square" lIns="0" tIns="0" rIns="0" bIns="0" rtlCol="0" anchor="ctr"/>
          <a:lstStyle/>
          <a:p>
            <a:pPr algn="r" indent="0" marL="0">
              <a:buNone/>
            </a:pPr>
            <a:r>
              <a:rPr lang="en-US" sz="1200" dirty="0">
                <a:solidFill>
                  <a:schemeClr val="bg1"/>
                </a:solidFill>
              </a:rPr>
              <a:t>27,712</a:t>
            </a:r>
            <a:endParaRPr lang="en-US" sz="1200" dirty="0"/>
          </a:p>
        </p:txBody>
      </p:sp>
      <p:sp>
        <p:nvSpPr>
          <p:cNvPr id="326" name="arrow-494"/>
          <p:cNvSpPr/>
          <p:nvPr/>
        </p:nvSpPr>
        <p:spPr>
          <a:xfrm>
            <a:off x="7429500" y="2267712"/>
            <a:ext cx="91" cy="118872"/>
          </a:xfrm>
          <a:prstGeom prst="line">
            <a:avLst/>
          </a:prstGeom>
          <a:noFill/>
          <a:ln w="15875">
            <a:solidFill>
              <a:schemeClr val="accent3"/>
            </a:solidFill>
            <a:prstDash val="solid"/>
            <a:tailEnd type="triangle"/>
          </a:ln>
        </p:spPr>
      </p:sp>
      <p:sp>
        <p:nvSpPr>
          <p:cNvPr id="327" name="layer-495"/>
          <p:cNvSpPr/>
          <p:nvPr/>
        </p:nvSpPr>
        <p:spPr>
          <a:xfrm>
            <a:off x="5440680" y="2386584"/>
            <a:ext cx="3977640" cy="457200"/>
          </a:xfrm>
          <a:prstGeom prst="roundRect">
            <a:avLst>
              <a:gd name="adj" fmla="val 12000"/>
            </a:avLst>
          </a:prstGeom>
          <a:solidFill>
            <a:schemeClr val="accent1"/>
          </a:solidFill>
          <a:ln w="12700">
            <a:solidFill>
              <a:schemeClr val="accent1"/>
            </a:solidFill>
            <a:prstDash val="solid"/>
          </a:ln>
        </p:spPr>
      </p:sp>
      <p:sp>
        <p:nvSpPr>
          <p:cNvPr id="328" name="text-496"/>
          <p:cNvSpPr txBox="1"/>
          <p:nvPr/>
        </p:nvSpPr>
        <p:spPr>
          <a:xfrm>
            <a:off x="5577840" y="2386584"/>
            <a:ext cx="2971800" cy="457200"/>
          </a:xfrm>
          <a:prstGeom prst="rect">
            <a:avLst/>
          </a:prstGeom>
          <a:noFill/>
          <a:ln/>
        </p:spPr>
        <p:txBody>
          <a:bodyPr wrap="square" lIns="0" tIns="0" rIns="0" bIns="0" rtlCol="0" anchor="ctr"/>
          <a:lstStyle/>
          <a:p>
            <a:pPr indent="0" marL="0">
              <a:buNone/>
            </a:pPr>
            <a:r>
              <a:rPr lang="en-US" sz="1350" b="1" dirty="0">
                <a:solidFill>
                  <a:schemeClr val="bg1"/>
                </a:solidFill>
              </a:rPr>
              <a:t>Conv1D · 64 filters · kernel 3 · causal</a:t>
            </a:r>
            <a:endParaRPr lang="en-US" sz="1350" dirty="0"/>
          </a:p>
        </p:txBody>
      </p:sp>
      <p:sp>
        <p:nvSpPr>
          <p:cNvPr id="329" name="text-497"/>
          <p:cNvSpPr txBox="1"/>
          <p:nvPr/>
        </p:nvSpPr>
        <p:spPr>
          <a:xfrm>
            <a:off x="8503920" y="2386584"/>
            <a:ext cx="777240" cy="457200"/>
          </a:xfrm>
          <a:prstGeom prst="rect">
            <a:avLst/>
          </a:prstGeom>
          <a:noFill/>
          <a:ln/>
        </p:spPr>
        <p:txBody>
          <a:bodyPr wrap="square" lIns="0" tIns="0" rIns="0" bIns="0" rtlCol="0" anchor="ctr"/>
          <a:lstStyle/>
          <a:p>
            <a:pPr algn="r" indent="0" marL="0">
              <a:buNone/>
            </a:pPr>
            <a:r>
              <a:rPr lang="en-US" sz="1200" dirty="0">
                <a:solidFill>
                  <a:schemeClr val="bg1"/>
                </a:solidFill>
              </a:rPr>
              <a:t>12,352</a:t>
            </a:r>
            <a:endParaRPr lang="en-US" sz="1200" dirty="0"/>
          </a:p>
        </p:txBody>
      </p:sp>
      <p:sp>
        <p:nvSpPr>
          <p:cNvPr id="330" name="arrow-498"/>
          <p:cNvSpPr/>
          <p:nvPr/>
        </p:nvSpPr>
        <p:spPr>
          <a:xfrm>
            <a:off x="7429500" y="2843784"/>
            <a:ext cx="91" cy="118872"/>
          </a:xfrm>
          <a:prstGeom prst="line">
            <a:avLst/>
          </a:prstGeom>
          <a:noFill/>
          <a:ln w="15875">
            <a:solidFill>
              <a:schemeClr val="accent3"/>
            </a:solidFill>
            <a:prstDash val="solid"/>
            <a:tailEnd type="triangle"/>
          </a:ln>
        </p:spPr>
      </p:sp>
      <p:sp>
        <p:nvSpPr>
          <p:cNvPr id="331" name="layer-499"/>
          <p:cNvSpPr/>
          <p:nvPr/>
        </p:nvSpPr>
        <p:spPr>
          <a:xfrm>
            <a:off x="5440680" y="2962656"/>
            <a:ext cx="3977640" cy="457200"/>
          </a:xfrm>
          <a:prstGeom prst="roundRect">
            <a:avLst>
              <a:gd name="adj" fmla="val 12000"/>
            </a:avLst>
          </a:prstGeom>
          <a:solidFill>
            <a:schemeClr val="accent1"/>
          </a:solidFill>
          <a:ln w="12700">
            <a:solidFill>
              <a:schemeClr val="accent1"/>
            </a:solidFill>
            <a:prstDash val="solid"/>
          </a:ln>
        </p:spPr>
      </p:sp>
      <p:sp>
        <p:nvSpPr>
          <p:cNvPr id="332" name="text-500"/>
          <p:cNvSpPr txBox="1"/>
          <p:nvPr/>
        </p:nvSpPr>
        <p:spPr>
          <a:xfrm>
            <a:off x="5577840" y="2962656"/>
            <a:ext cx="2971800" cy="457200"/>
          </a:xfrm>
          <a:prstGeom prst="rect">
            <a:avLst/>
          </a:prstGeom>
          <a:noFill/>
          <a:ln/>
        </p:spPr>
        <p:txBody>
          <a:bodyPr wrap="square" lIns="0" tIns="0" rIns="0" bIns="0" rtlCol="0" anchor="ctr"/>
          <a:lstStyle/>
          <a:p>
            <a:pPr indent="0" marL="0">
              <a:buNone/>
            </a:pPr>
            <a:r>
              <a:rPr lang="en-US" sz="1350" b="1" dirty="0">
                <a:solidFill>
                  <a:schemeClr val="bg1"/>
                </a:solidFill>
              </a:rPr>
              <a:t>MaxPooling1D (2)</a:t>
            </a:r>
            <a:endParaRPr lang="en-US" sz="1350" dirty="0"/>
          </a:p>
        </p:txBody>
      </p:sp>
      <p:sp>
        <p:nvSpPr>
          <p:cNvPr id="333" name="text-501"/>
          <p:cNvSpPr txBox="1"/>
          <p:nvPr/>
        </p:nvSpPr>
        <p:spPr>
          <a:xfrm>
            <a:off x="8503920" y="2962656"/>
            <a:ext cx="777240" cy="457200"/>
          </a:xfrm>
          <a:prstGeom prst="rect">
            <a:avLst/>
          </a:prstGeom>
          <a:noFill/>
          <a:ln/>
        </p:spPr>
        <p:txBody>
          <a:bodyPr wrap="square" lIns="0" tIns="0" rIns="0" bIns="0" rtlCol="0" anchor="ctr"/>
          <a:lstStyle/>
          <a:p>
            <a:pPr algn="r" indent="0" marL="0">
              <a:buNone/>
            </a:pPr>
            <a:r>
              <a:rPr lang="en-US" sz="1200" dirty="0">
                <a:solidFill>
                  <a:schemeClr val="bg1"/>
                </a:solidFill>
              </a:rPr>
              <a:t>0</a:t>
            </a:r>
            <a:endParaRPr lang="en-US" sz="1200" dirty="0"/>
          </a:p>
        </p:txBody>
      </p:sp>
      <p:sp>
        <p:nvSpPr>
          <p:cNvPr id="334" name="arrow-502"/>
          <p:cNvSpPr/>
          <p:nvPr/>
        </p:nvSpPr>
        <p:spPr>
          <a:xfrm>
            <a:off x="7429500" y="3419856"/>
            <a:ext cx="91" cy="118872"/>
          </a:xfrm>
          <a:prstGeom prst="line">
            <a:avLst/>
          </a:prstGeom>
          <a:noFill/>
          <a:ln w="15875">
            <a:solidFill>
              <a:schemeClr val="accent3"/>
            </a:solidFill>
            <a:prstDash val="solid"/>
            <a:tailEnd type="triangle"/>
          </a:ln>
        </p:spPr>
      </p:sp>
      <p:sp>
        <p:nvSpPr>
          <p:cNvPr id="335" name="layer-503"/>
          <p:cNvSpPr/>
          <p:nvPr/>
        </p:nvSpPr>
        <p:spPr>
          <a:xfrm>
            <a:off x="5440680" y="3538728"/>
            <a:ext cx="3977640" cy="457200"/>
          </a:xfrm>
          <a:prstGeom prst="roundRect">
            <a:avLst>
              <a:gd name="adj" fmla="val 12000"/>
            </a:avLst>
          </a:prstGeom>
          <a:solidFill>
            <a:schemeClr val="tx2"/>
          </a:solidFill>
          <a:ln w="12700">
            <a:solidFill>
              <a:schemeClr val="tx2"/>
            </a:solidFill>
            <a:prstDash val="solid"/>
          </a:ln>
        </p:spPr>
      </p:sp>
      <p:sp>
        <p:nvSpPr>
          <p:cNvPr id="336" name="text-504"/>
          <p:cNvSpPr txBox="1"/>
          <p:nvPr/>
        </p:nvSpPr>
        <p:spPr>
          <a:xfrm>
            <a:off x="5577840" y="3538728"/>
            <a:ext cx="2971800" cy="457200"/>
          </a:xfrm>
          <a:prstGeom prst="rect">
            <a:avLst/>
          </a:prstGeom>
          <a:noFill/>
          <a:ln/>
        </p:spPr>
        <p:txBody>
          <a:bodyPr wrap="square" lIns="0" tIns="0" rIns="0" bIns="0" rtlCol="0" anchor="ctr"/>
          <a:lstStyle/>
          <a:p>
            <a:pPr indent="0" marL="0">
              <a:buNone/>
            </a:pPr>
            <a:r>
              <a:rPr lang="en-US" sz="1350" b="1" dirty="0">
                <a:solidFill>
                  <a:schemeClr val="bg1"/>
                </a:solidFill>
              </a:rPr>
              <a:t>LSTM · 100 units</a:t>
            </a:r>
            <a:endParaRPr lang="en-US" sz="1350" dirty="0"/>
          </a:p>
        </p:txBody>
      </p:sp>
      <p:sp>
        <p:nvSpPr>
          <p:cNvPr id="337" name="text-505"/>
          <p:cNvSpPr txBox="1"/>
          <p:nvPr/>
        </p:nvSpPr>
        <p:spPr>
          <a:xfrm>
            <a:off x="8503920" y="3538728"/>
            <a:ext cx="777240" cy="457200"/>
          </a:xfrm>
          <a:prstGeom prst="rect">
            <a:avLst/>
          </a:prstGeom>
          <a:noFill/>
          <a:ln/>
        </p:spPr>
        <p:txBody>
          <a:bodyPr wrap="square" lIns="0" tIns="0" rIns="0" bIns="0" rtlCol="0" anchor="ctr"/>
          <a:lstStyle/>
          <a:p>
            <a:pPr algn="r" indent="0" marL="0">
              <a:buNone/>
            </a:pPr>
            <a:r>
              <a:rPr lang="en-US" sz="1200" dirty="0">
                <a:solidFill>
                  <a:schemeClr val="bg1"/>
                </a:solidFill>
              </a:rPr>
              <a:t>66,000</a:t>
            </a:r>
            <a:endParaRPr lang="en-US" sz="1200" dirty="0"/>
          </a:p>
        </p:txBody>
      </p:sp>
      <p:sp>
        <p:nvSpPr>
          <p:cNvPr id="338" name="arrow-506"/>
          <p:cNvSpPr/>
          <p:nvPr/>
        </p:nvSpPr>
        <p:spPr>
          <a:xfrm>
            <a:off x="7429500" y="3995928"/>
            <a:ext cx="91" cy="118872"/>
          </a:xfrm>
          <a:prstGeom prst="line">
            <a:avLst/>
          </a:prstGeom>
          <a:noFill/>
          <a:ln w="15875">
            <a:solidFill>
              <a:schemeClr val="accent3"/>
            </a:solidFill>
            <a:prstDash val="solid"/>
            <a:tailEnd type="triangle"/>
          </a:ln>
        </p:spPr>
      </p:sp>
      <p:sp>
        <p:nvSpPr>
          <p:cNvPr id="339" name="layer-507"/>
          <p:cNvSpPr/>
          <p:nvPr/>
        </p:nvSpPr>
        <p:spPr>
          <a:xfrm>
            <a:off x="5440680" y="4114800"/>
            <a:ext cx="3977640" cy="457200"/>
          </a:xfrm>
          <a:prstGeom prst="roundRect">
            <a:avLst>
              <a:gd name="adj" fmla="val 12000"/>
            </a:avLst>
          </a:prstGeom>
          <a:solidFill>
            <a:schemeClr val="tx2"/>
          </a:solidFill>
          <a:ln w="12700">
            <a:solidFill>
              <a:schemeClr val="tx2"/>
            </a:solidFill>
            <a:prstDash val="solid"/>
          </a:ln>
        </p:spPr>
      </p:sp>
      <p:sp>
        <p:nvSpPr>
          <p:cNvPr id="340" name="text-508"/>
          <p:cNvSpPr txBox="1"/>
          <p:nvPr/>
        </p:nvSpPr>
        <p:spPr>
          <a:xfrm>
            <a:off x="5577840" y="4114800"/>
            <a:ext cx="2971800" cy="457200"/>
          </a:xfrm>
          <a:prstGeom prst="rect">
            <a:avLst/>
          </a:prstGeom>
          <a:noFill/>
          <a:ln/>
        </p:spPr>
        <p:txBody>
          <a:bodyPr wrap="square" lIns="0" tIns="0" rIns="0" bIns="0" rtlCol="0" anchor="ctr"/>
          <a:lstStyle/>
          <a:p>
            <a:pPr indent="0" marL="0">
              <a:buNone/>
            </a:pPr>
            <a:r>
              <a:rPr lang="en-US" sz="1350" b="1" dirty="0">
                <a:solidFill>
                  <a:schemeClr val="bg1"/>
                </a:solidFill>
              </a:rPr>
              <a:t>LSTM · 50 units</a:t>
            </a:r>
            <a:endParaRPr lang="en-US" sz="1350" dirty="0"/>
          </a:p>
        </p:txBody>
      </p:sp>
      <p:sp>
        <p:nvSpPr>
          <p:cNvPr id="341" name="text-509"/>
          <p:cNvSpPr txBox="1"/>
          <p:nvPr/>
        </p:nvSpPr>
        <p:spPr>
          <a:xfrm>
            <a:off x="8503920" y="4114800"/>
            <a:ext cx="777240" cy="457200"/>
          </a:xfrm>
          <a:prstGeom prst="rect">
            <a:avLst/>
          </a:prstGeom>
          <a:noFill/>
          <a:ln/>
        </p:spPr>
        <p:txBody>
          <a:bodyPr wrap="square" lIns="0" tIns="0" rIns="0" bIns="0" rtlCol="0" anchor="ctr"/>
          <a:lstStyle/>
          <a:p>
            <a:pPr algn="r" indent="0" marL="0">
              <a:buNone/>
            </a:pPr>
            <a:r>
              <a:rPr lang="en-US" sz="1200" dirty="0">
                <a:solidFill>
                  <a:schemeClr val="bg1"/>
                </a:solidFill>
              </a:rPr>
              <a:t>30,200</a:t>
            </a:r>
            <a:endParaRPr lang="en-US" sz="1200" dirty="0"/>
          </a:p>
        </p:txBody>
      </p:sp>
      <p:sp>
        <p:nvSpPr>
          <p:cNvPr id="342" name="arrow-510"/>
          <p:cNvSpPr/>
          <p:nvPr/>
        </p:nvSpPr>
        <p:spPr>
          <a:xfrm>
            <a:off x="7429500" y="4572000"/>
            <a:ext cx="91" cy="118872"/>
          </a:xfrm>
          <a:prstGeom prst="line">
            <a:avLst/>
          </a:prstGeom>
          <a:noFill/>
          <a:ln w="15875">
            <a:solidFill>
              <a:schemeClr val="accent3"/>
            </a:solidFill>
            <a:prstDash val="solid"/>
            <a:tailEnd type="triangle"/>
          </a:ln>
        </p:spPr>
      </p:sp>
      <p:sp>
        <p:nvSpPr>
          <p:cNvPr id="343" name="layer-511"/>
          <p:cNvSpPr/>
          <p:nvPr/>
        </p:nvSpPr>
        <p:spPr>
          <a:xfrm>
            <a:off x="5440680" y="4690872"/>
            <a:ext cx="3977640" cy="457200"/>
          </a:xfrm>
          <a:prstGeom prst="roundRect">
            <a:avLst>
              <a:gd name="adj" fmla="val 12000"/>
            </a:avLst>
          </a:prstGeom>
          <a:solidFill>
            <a:schemeClr val="accent3"/>
          </a:solidFill>
          <a:ln w="12700">
            <a:solidFill>
              <a:schemeClr val="accent3"/>
            </a:solidFill>
            <a:prstDash val="solid"/>
          </a:ln>
        </p:spPr>
      </p:sp>
      <p:sp>
        <p:nvSpPr>
          <p:cNvPr id="344" name="text-512"/>
          <p:cNvSpPr txBox="1"/>
          <p:nvPr/>
        </p:nvSpPr>
        <p:spPr>
          <a:xfrm>
            <a:off x="5577840" y="4690872"/>
            <a:ext cx="2971800" cy="457200"/>
          </a:xfrm>
          <a:prstGeom prst="rect">
            <a:avLst/>
          </a:prstGeom>
          <a:noFill/>
          <a:ln/>
        </p:spPr>
        <p:txBody>
          <a:bodyPr wrap="square" lIns="0" tIns="0" rIns="0" bIns="0" rtlCol="0" anchor="ctr"/>
          <a:lstStyle/>
          <a:p>
            <a:pPr indent="0" marL="0">
              <a:buNone/>
            </a:pPr>
            <a:r>
              <a:rPr lang="en-US" sz="1350" b="1" dirty="0">
                <a:solidFill>
                  <a:schemeClr val="bg1"/>
                </a:solidFill>
              </a:rPr>
              <a:t>Dropout · 0.2</a:t>
            </a:r>
            <a:endParaRPr lang="en-US" sz="1350" dirty="0"/>
          </a:p>
        </p:txBody>
      </p:sp>
      <p:sp>
        <p:nvSpPr>
          <p:cNvPr id="345" name="text-513"/>
          <p:cNvSpPr txBox="1"/>
          <p:nvPr/>
        </p:nvSpPr>
        <p:spPr>
          <a:xfrm>
            <a:off x="8503920" y="4690872"/>
            <a:ext cx="777240" cy="457200"/>
          </a:xfrm>
          <a:prstGeom prst="rect">
            <a:avLst/>
          </a:prstGeom>
          <a:noFill/>
          <a:ln/>
        </p:spPr>
        <p:txBody>
          <a:bodyPr wrap="square" lIns="0" tIns="0" rIns="0" bIns="0" rtlCol="0" anchor="ctr"/>
          <a:lstStyle/>
          <a:p>
            <a:pPr algn="r" indent="0" marL="0">
              <a:buNone/>
            </a:pPr>
            <a:r>
              <a:rPr lang="en-US" sz="1200" dirty="0">
                <a:solidFill>
                  <a:schemeClr val="bg1"/>
                </a:solidFill>
              </a:rPr>
              <a:t>0</a:t>
            </a:r>
            <a:endParaRPr lang="en-US" sz="1200" dirty="0"/>
          </a:p>
        </p:txBody>
      </p:sp>
      <p:sp>
        <p:nvSpPr>
          <p:cNvPr id="346" name="arrow-514"/>
          <p:cNvSpPr/>
          <p:nvPr/>
        </p:nvSpPr>
        <p:spPr>
          <a:xfrm>
            <a:off x="7429500" y="5148072"/>
            <a:ext cx="91" cy="118872"/>
          </a:xfrm>
          <a:prstGeom prst="line">
            <a:avLst/>
          </a:prstGeom>
          <a:noFill/>
          <a:ln w="15875">
            <a:solidFill>
              <a:schemeClr val="accent3"/>
            </a:solidFill>
            <a:prstDash val="solid"/>
            <a:tailEnd type="triangle"/>
          </a:ln>
        </p:spPr>
      </p:sp>
      <p:sp>
        <p:nvSpPr>
          <p:cNvPr id="347" name="layer-515"/>
          <p:cNvSpPr/>
          <p:nvPr/>
        </p:nvSpPr>
        <p:spPr>
          <a:xfrm>
            <a:off x="5440680" y="5266944"/>
            <a:ext cx="3977640" cy="457200"/>
          </a:xfrm>
          <a:prstGeom prst="roundRect">
            <a:avLst>
              <a:gd name="adj" fmla="val 12000"/>
            </a:avLst>
          </a:prstGeom>
          <a:solidFill>
            <a:schemeClr val="accent2"/>
          </a:solidFill>
          <a:ln w="12700">
            <a:solidFill>
              <a:schemeClr val="accent2"/>
            </a:solidFill>
            <a:prstDash val="solid"/>
          </a:ln>
        </p:spPr>
      </p:sp>
      <p:sp>
        <p:nvSpPr>
          <p:cNvPr id="348" name="text-516"/>
          <p:cNvSpPr txBox="1"/>
          <p:nvPr/>
        </p:nvSpPr>
        <p:spPr>
          <a:xfrm>
            <a:off x="5577840" y="5266944"/>
            <a:ext cx="2971800" cy="457200"/>
          </a:xfrm>
          <a:prstGeom prst="rect">
            <a:avLst/>
          </a:prstGeom>
          <a:noFill/>
          <a:ln/>
        </p:spPr>
        <p:txBody>
          <a:bodyPr wrap="square" lIns="0" tIns="0" rIns="0" bIns="0" rtlCol="0" anchor="ctr"/>
          <a:lstStyle/>
          <a:p>
            <a:pPr indent="0" marL="0">
              <a:buNone/>
            </a:pPr>
            <a:r>
              <a:rPr lang="en-US" sz="1350" b="1" dirty="0">
                <a:solidFill>
                  <a:schemeClr val="bg1"/>
                </a:solidFill>
              </a:rPr>
              <a:t>Dense · 144 outputs</a:t>
            </a:r>
            <a:endParaRPr lang="en-US" sz="1350" dirty="0"/>
          </a:p>
        </p:txBody>
      </p:sp>
      <p:sp>
        <p:nvSpPr>
          <p:cNvPr id="349" name="text-517"/>
          <p:cNvSpPr txBox="1"/>
          <p:nvPr/>
        </p:nvSpPr>
        <p:spPr>
          <a:xfrm>
            <a:off x="8503920" y="5266944"/>
            <a:ext cx="777240" cy="457200"/>
          </a:xfrm>
          <a:prstGeom prst="rect">
            <a:avLst/>
          </a:prstGeom>
          <a:noFill/>
          <a:ln/>
        </p:spPr>
        <p:txBody>
          <a:bodyPr wrap="square" lIns="0" tIns="0" rIns="0" bIns="0" rtlCol="0" anchor="ctr"/>
          <a:lstStyle/>
          <a:p>
            <a:pPr algn="r" indent="0" marL="0">
              <a:buNone/>
            </a:pPr>
            <a:r>
              <a:rPr lang="en-US" sz="1200" dirty="0">
                <a:solidFill>
                  <a:schemeClr val="bg1"/>
                </a:solidFill>
              </a:rPr>
              <a:t>7,344</a:t>
            </a:r>
            <a:endParaRPr lang="en-US" sz="1200" dirty="0"/>
          </a:p>
        </p:txBody>
      </p:sp>
      <p:sp>
        <p:nvSpPr>
          <p:cNvPr id="350" name="text-518"/>
          <p:cNvSpPr txBox="1"/>
          <p:nvPr/>
        </p:nvSpPr>
        <p:spPr>
          <a:xfrm>
            <a:off x="8503920" y="960120"/>
            <a:ext cx="777240" cy="228600"/>
          </a:xfrm>
          <a:prstGeom prst="rect">
            <a:avLst/>
          </a:prstGeom>
          <a:noFill/>
          <a:ln/>
        </p:spPr>
        <p:txBody>
          <a:bodyPr wrap="square" lIns="0" tIns="0" rIns="0" bIns="0" rtlCol="0" anchor="t"/>
          <a:lstStyle/>
          <a:p>
            <a:pPr algn="r" indent="0" marL="0">
              <a:buNone/>
            </a:pPr>
            <a:r>
              <a:rPr lang="en-US" sz="1000" dirty="0">
                <a:solidFill>
                  <a:schemeClr val="accent3"/>
                </a:solidFill>
              </a:rPr>
              <a:t>parameters</a:t>
            </a:r>
            <a:endParaRPr lang="en-US" sz="1000" dirty="0"/>
          </a:p>
        </p:txBody>
      </p:sp>
      <p:sp>
        <p:nvSpPr>
          <p:cNvPr id="351" name="brk-519"/>
          <p:cNvSpPr/>
          <p:nvPr/>
        </p:nvSpPr>
        <p:spPr>
          <a:xfrm>
            <a:off x="9646920" y="1810512"/>
            <a:ext cx="91" cy="1609344"/>
          </a:xfrm>
          <a:prstGeom prst="line">
            <a:avLst/>
          </a:prstGeom>
          <a:noFill/>
          <a:ln w="31750">
            <a:solidFill>
              <a:schemeClr val="accent1"/>
            </a:solidFill>
            <a:prstDash val="solid"/>
          </a:ln>
        </p:spPr>
      </p:sp>
      <p:sp>
        <p:nvSpPr>
          <p:cNvPr id="352" name="text-520"/>
          <p:cNvSpPr txBox="1"/>
          <p:nvPr/>
        </p:nvSpPr>
        <p:spPr>
          <a:xfrm>
            <a:off x="9921240" y="1810512"/>
            <a:ext cx="1721815" cy="274320"/>
          </a:xfrm>
          <a:prstGeom prst="rect">
            <a:avLst/>
          </a:prstGeom>
          <a:noFill/>
          <a:ln/>
        </p:spPr>
        <p:txBody>
          <a:bodyPr wrap="square" lIns="0" tIns="0" rIns="0" bIns="0" rtlCol="0" anchor="t"/>
          <a:lstStyle/>
          <a:p>
            <a:pPr indent="0" marL="0">
              <a:buNone/>
            </a:pPr>
            <a:r>
              <a:rPr lang="en-US" sz="1400" b="1" dirty="0">
                <a:solidFill>
                  <a:schemeClr val="accent1"/>
                </a:solidFill>
              </a:rPr>
              <a:t>CNN</a:t>
            </a:r>
            <a:endParaRPr lang="en-US" sz="1400" dirty="0"/>
          </a:p>
        </p:txBody>
      </p:sp>
      <p:sp>
        <p:nvSpPr>
          <p:cNvPr id="353" name="text-521"/>
          <p:cNvSpPr txBox="1"/>
          <p:nvPr/>
        </p:nvSpPr>
        <p:spPr>
          <a:xfrm>
            <a:off x="9921240" y="2103120"/>
            <a:ext cx="1721815" cy="1335024"/>
          </a:xfrm>
          <a:prstGeom prst="rect">
            <a:avLst/>
          </a:prstGeom>
          <a:noFill/>
          <a:ln/>
        </p:spPr>
        <p:txBody>
          <a:bodyPr wrap="square" lIns="0" tIns="0" rIns="0" bIns="0" rtlCol="0" anchor="t"/>
          <a:lstStyle/>
          <a:p>
            <a:pPr indent="0" marL="0">
              <a:buNone/>
            </a:pPr>
            <a:r>
              <a:rPr lang="en-US" sz="1250" dirty="0">
                <a:solidFill>
                  <a:schemeClr val="tx1"/>
                </a:solidFill>
              </a:rPr>
              <a:t>Detects short-term patterns across neighbouring 5-minute readings. Causal: never sees a later reading.</a:t>
            </a:r>
            <a:endParaRPr lang="en-US" sz="1250" dirty="0"/>
          </a:p>
        </p:txBody>
      </p:sp>
      <p:sp>
        <p:nvSpPr>
          <p:cNvPr id="354" name="brk-522"/>
          <p:cNvSpPr/>
          <p:nvPr/>
        </p:nvSpPr>
        <p:spPr>
          <a:xfrm>
            <a:off x="9646920" y="3538728"/>
            <a:ext cx="91" cy="1033272"/>
          </a:xfrm>
          <a:prstGeom prst="line">
            <a:avLst/>
          </a:prstGeom>
          <a:noFill/>
          <a:ln w="31750">
            <a:solidFill>
              <a:schemeClr val="tx2"/>
            </a:solidFill>
            <a:prstDash val="solid"/>
          </a:ln>
        </p:spPr>
      </p:sp>
      <p:sp>
        <p:nvSpPr>
          <p:cNvPr id="355" name="text-523"/>
          <p:cNvSpPr txBox="1"/>
          <p:nvPr/>
        </p:nvSpPr>
        <p:spPr>
          <a:xfrm>
            <a:off x="9921240" y="3538728"/>
            <a:ext cx="1721815" cy="274320"/>
          </a:xfrm>
          <a:prstGeom prst="rect">
            <a:avLst/>
          </a:prstGeom>
          <a:noFill/>
          <a:ln/>
        </p:spPr>
        <p:txBody>
          <a:bodyPr wrap="square" lIns="0" tIns="0" rIns="0" bIns="0" rtlCol="0" anchor="t"/>
          <a:lstStyle/>
          <a:p>
            <a:pPr indent="0" marL="0">
              <a:buNone/>
            </a:pPr>
            <a:r>
              <a:rPr lang="en-US" sz="1400" b="1" dirty="0">
                <a:solidFill>
                  <a:schemeClr val="tx2"/>
                </a:solidFill>
              </a:rPr>
              <a:t>LSTM</a:t>
            </a:r>
            <a:endParaRPr lang="en-US" sz="1400" dirty="0"/>
          </a:p>
        </p:txBody>
      </p:sp>
      <p:sp>
        <p:nvSpPr>
          <p:cNvPr id="356" name="text-524"/>
          <p:cNvSpPr txBox="1"/>
          <p:nvPr/>
        </p:nvSpPr>
        <p:spPr>
          <a:xfrm>
            <a:off x="9921240" y="3831336"/>
            <a:ext cx="1721815" cy="758952"/>
          </a:xfrm>
          <a:prstGeom prst="rect">
            <a:avLst/>
          </a:prstGeom>
          <a:noFill/>
          <a:ln/>
        </p:spPr>
        <p:txBody>
          <a:bodyPr wrap="square" lIns="0" tIns="0" rIns="0" bIns="0" rtlCol="0" anchor="t"/>
          <a:lstStyle/>
          <a:p>
            <a:pPr indent="0" marL="0">
              <a:buNone/>
            </a:pPr>
            <a:r>
              <a:rPr lang="en-US" sz="1250" dirty="0">
                <a:solidFill>
                  <a:schemeClr val="tx1"/>
                </a:solidFill>
              </a:rPr>
              <a:t>Learns how those patterns evolve over time.</a:t>
            </a:r>
            <a:endParaRPr lang="en-US" sz="1250" dirty="0"/>
          </a:p>
        </p:txBody>
      </p:sp>
      <p:sp>
        <p:nvSpPr>
          <p:cNvPr id="357" name="card-525"/>
          <p:cNvSpPr/>
          <p:nvPr/>
        </p:nvSpPr>
        <p:spPr>
          <a:xfrm>
            <a:off x="548640" y="5623560"/>
            <a:ext cx="4572000" cy="566928"/>
          </a:xfrm>
          <a:prstGeom prst="roundRect">
            <a:avLst>
              <a:gd name="adj" fmla="val 12903"/>
            </a:avLst>
          </a:prstGeom>
          <a:solidFill>
            <a:schemeClr val="bg2"/>
          </a:solidFill>
          <a:ln w="9525">
            <a:solidFill>
              <a:schemeClr val="bg2"/>
            </a:solidFill>
            <a:prstDash val="solid"/>
          </a:ln>
        </p:spPr>
      </p:sp>
      <p:sp>
        <p:nvSpPr>
          <p:cNvPr id="358" name="text-526"/>
          <p:cNvSpPr txBox="1"/>
          <p:nvPr/>
        </p:nvSpPr>
        <p:spPr>
          <a:xfrm>
            <a:off x="731520" y="5623560"/>
            <a:ext cx="4297680" cy="566928"/>
          </a:xfrm>
          <a:prstGeom prst="rect">
            <a:avLst/>
          </a:prstGeom>
          <a:noFill/>
          <a:ln/>
        </p:spPr>
        <p:txBody>
          <a:bodyPr wrap="square" lIns="0" tIns="0" rIns="0" bIns="0" rtlCol="0" anchor="ctr"/>
          <a:lstStyle/>
          <a:p>
            <a:pPr indent="0" marL="0">
              <a:buNone/>
            </a:pPr>
            <a:r>
              <a:rPr lang="en-US" sz="2200" b="1" dirty="0">
                <a:solidFill>
                  <a:schemeClr val="accent1"/>
                </a:solidFill>
              </a:rPr>
              <a:t>143,608</a:t>
            </a:r>
            <a:pPr indent="0" marL="0">
              <a:buNone/>
            </a:pPr>
            <a:r>
              <a:rPr lang="en-US" sz="1300" dirty="0">
                <a:solidFill>
                  <a:schemeClr val="tx1"/>
                </a:solidFill>
              </a:rPr>
              <a:t>  parameters in the planned model (checked in code)</a:t>
            </a:r>
            <a:endParaRPr lang="en-US" sz="1400" dirty="0"/>
          </a:p>
        </p:txBody>
      </p:sp>
      <p:sp>
        <p:nvSpPr>
          <p:cNvPr id="359" name="chip-527"/>
          <p:cNvSpPr/>
          <p:nvPr/>
        </p:nvSpPr>
        <p:spPr>
          <a:xfrm>
            <a:off x="6473952" y="5833872"/>
            <a:ext cx="2788920" cy="274320"/>
          </a:xfrm>
          <a:prstGeom prst="roundRect">
            <a:avLst>
              <a:gd name="adj" fmla="val 50000"/>
            </a:avLst>
          </a:prstGeom>
          <a:solidFill>
            <a:schemeClr val="bg1"/>
          </a:solidFill>
          <a:ln w="15875">
            <a:solidFill>
              <a:schemeClr val="accent2"/>
            </a:solidFill>
            <a:prstDash val="dash"/>
          </a:ln>
        </p:spPr>
      </p:sp>
      <p:sp>
        <p:nvSpPr>
          <p:cNvPr id="360" name="text-528"/>
          <p:cNvSpPr txBox="1"/>
          <p:nvPr/>
        </p:nvSpPr>
        <p:spPr>
          <a:xfrm>
            <a:off x="6473952" y="5833872"/>
            <a:ext cx="2788920" cy="274320"/>
          </a:xfrm>
          <a:prstGeom prst="rect">
            <a:avLst/>
          </a:prstGeom>
          <a:noFill/>
          <a:ln/>
        </p:spPr>
        <p:txBody>
          <a:bodyPr wrap="square" lIns="0" tIns="0" rIns="0" bIns="0" rtlCol="0" anchor="ctr"/>
          <a:lstStyle/>
          <a:p>
            <a:pPr algn="ctr" indent="0" marL="0">
              <a:buNone/>
            </a:pPr>
            <a:r>
              <a:rPr lang="en-US" sz="1050" b="1" spc="50" kern="0" dirty="0">
                <a:solidFill>
                  <a:schemeClr val="accent2"/>
                </a:solidFill>
              </a:rPr>
              <a:t>PLANNED MODEL · TRAINED IN PHASE 4</a:t>
            </a:r>
            <a:endParaRPr lang="en-US" sz="105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Experimental Methodology &amp; Baselines</a:t>
            </a:r>
            <a:endParaRPr lang="en-US" sz="3200" dirty="0"/>
          </a:p>
        </p:txBody>
      </p:sp>
      <p:sp>
        <p:nvSpPr>
          <p:cNvPr id="3" name="step-529"/>
          <p:cNvSpPr/>
          <p:nvPr/>
        </p:nvSpPr>
        <p:spPr>
          <a:xfrm>
            <a:off x="548640" y="1280160"/>
            <a:ext cx="5394960" cy="585216"/>
          </a:xfrm>
          <a:prstGeom prst="roundRect">
            <a:avLst>
              <a:gd name="adj" fmla="val 12500"/>
            </a:avLst>
          </a:prstGeom>
          <a:solidFill>
            <a:schemeClr val="bg2"/>
          </a:solidFill>
          <a:ln w="12700">
            <a:solidFill>
              <a:schemeClr val="bg2"/>
            </a:solidFill>
            <a:prstDash val="solid"/>
          </a:ln>
        </p:spPr>
      </p:sp>
      <p:sp>
        <p:nvSpPr>
          <p:cNvPr id="4" name="text-530"/>
          <p:cNvSpPr txBox="1"/>
          <p:nvPr/>
        </p:nvSpPr>
        <p:spPr>
          <a:xfrm>
            <a:off x="685800" y="1280160"/>
            <a:ext cx="320040" cy="585216"/>
          </a:xfrm>
          <a:prstGeom prst="rect">
            <a:avLst/>
          </a:prstGeom>
          <a:noFill/>
          <a:ln/>
        </p:spPr>
        <p:txBody>
          <a:bodyPr wrap="square" lIns="0" tIns="0" rIns="0" bIns="0" rtlCol="0" anchor="ctr"/>
          <a:lstStyle/>
          <a:p>
            <a:pPr indent="0" marL="0">
              <a:buNone/>
            </a:pPr>
            <a:r>
              <a:rPr lang="en-US" sz="1800" b="1" dirty="0">
                <a:solidFill>
                  <a:schemeClr val="accent1"/>
                </a:solidFill>
              </a:rPr>
              <a:t>1</a:t>
            </a:r>
            <a:endParaRPr lang="en-US" sz="1800" dirty="0"/>
          </a:p>
        </p:txBody>
      </p:sp>
      <p:sp>
        <p:nvSpPr>
          <p:cNvPr id="5" name="text-531"/>
          <p:cNvSpPr txBox="1"/>
          <p:nvPr/>
        </p:nvSpPr>
        <p:spPr>
          <a:xfrm>
            <a:off x="1051560" y="1325880"/>
            <a:ext cx="3017520" cy="274320"/>
          </a:xfrm>
          <a:prstGeom prst="rect">
            <a:avLst/>
          </a:prstGeom>
          <a:noFill/>
          <a:ln/>
        </p:spPr>
        <p:txBody>
          <a:bodyPr wrap="square" lIns="0" tIns="0" rIns="0" bIns="0" rtlCol="0" anchor="t"/>
          <a:lstStyle/>
          <a:p>
            <a:pPr indent="0" marL="0">
              <a:buNone/>
            </a:pPr>
            <a:r>
              <a:rPr lang="en-US" sz="1500" b="1" dirty="0">
                <a:solidFill>
                  <a:schemeClr val="tx2"/>
                </a:solidFill>
              </a:rPr>
              <a:t>Persistence</a:t>
            </a:r>
            <a:endParaRPr lang="en-US" sz="1500" dirty="0"/>
          </a:p>
        </p:txBody>
      </p:sp>
      <p:sp>
        <p:nvSpPr>
          <p:cNvPr id="6" name="text-532"/>
          <p:cNvSpPr txBox="1"/>
          <p:nvPr/>
        </p:nvSpPr>
        <p:spPr>
          <a:xfrm>
            <a:off x="1051560" y="1581912"/>
            <a:ext cx="3291840" cy="256032"/>
          </a:xfrm>
          <a:prstGeom prst="rect">
            <a:avLst/>
          </a:prstGeom>
          <a:noFill/>
          <a:ln/>
        </p:spPr>
        <p:txBody>
          <a:bodyPr wrap="square" lIns="0" tIns="0" rIns="0" bIns="0" rtlCol="0" anchor="t"/>
          <a:lstStyle/>
          <a:p>
            <a:pPr indent="0" marL="0">
              <a:buNone/>
            </a:pPr>
            <a:r>
              <a:rPr lang="en-US" sz="1200" dirty="0">
                <a:solidFill>
                  <a:schemeClr val="accent3"/>
                </a:solidFill>
              </a:rPr>
              <a:t>next value = current value</a:t>
            </a:r>
            <a:endParaRPr lang="en-US" sz="1200" dirty="0"/>
          </a:p>
        </p:txBody>
      </p:sp>
      <p:sp>
        <p:nvSpPr>
          <p:cNvPr id="7" name="chip-533"/>
          <p:cNvSpPr/>
          <p:nvPr/>
        </p:nvSpPr>
        <p:spPr>
          <a:xfrm>
            <a:off x="5349240" y="1435608"/>
            <a:ext cx="457200" cy="274320"/>
          </a:xfrm>
          <a:prstGeom prst="roundRect">
            <a:avLst>
              <a:gd name="adj" fmla="val 50000"/>
            </a:avLst>
          </a:prstGeom>
          <a:solidFill>
            <a:schemeClr val="accent6"/>
          </a:solidFill>
          <a:ln w="12700">
            <a:solidFill>
              <a:schemeClr val="accent6"/>
            </a:solidFill>
            <a:prstDash val="solid"/>
          </a:ln>
        </p:spPr>
      </p:sp>
      <p:sp>
        <p:nvSpPr>
          <p:cNvPr id="8" name="text-534"/>
          <p:cNvSpPr txBox="1"/>
          <p:nvPr/>
        </p:nvSpPr>
        <p:spPr>
          <a:xfrm>
            <a:off x="5349240" y="1435608"/>
            <a:ext cx="457200" cy="274320"/>
          </a:xfrm>
          <a:prstGeom prst="rect">
            <a:avLst/>
          </a:prstGeom>
          <a:noFill/>
          <a:ln/>
        </p:spPr>
        <p:txBody>
          <a:bodyPr wrap="square" lIns="0" tIns="0" rIns="0" bIns="0" rtlCol="0" anchor="ctr"/>
          <a:lstStyle/>
          <a:p>
            <a:pPr algn="ctr" indent="0" marL="0">
              <a:buNone/>
            </a:pPr>
            <a:r>
              <a:rPr lang="en-US" sz="1050" b="1" spc="50" kern="0" dirty="0">
                <a:solidFill>
                  <a:schemeClr val="bg1"/>
                </a:solidFill>
              </a:rPr>
              <a:t>DONE</a:t>
            </a:r>
            <a:endParaRPr lang="en-US" sz="1050" dirty="0"/>
          </a:p>
        </p:txBody>
      </p:sp>
      <p:sp>
        <p:nvSpPr>
          <p:cNvPr id="9" name="arrow-535"/>
          <p:cNvSpPr/>
          <p:nvPr/>
        </p:nvSpPr>
        <p:spPr>
          <a:xfrm>
            <a:off x="777240" y="1865376"/>
            <a:ext cx="91" cy="128016"/>
          </a:xfrm>
          <a:prstGeom prst="line">
            <a:avLst/>
          </a:prstGeom>
          <a:noFill/>
          <a:ln w="15875">
            <a:solidFill>
              <a:schemeClr val="accent3"/>
            </a:solidFill>
            <a:prstDash val="solid"/>
            <a:tailEnd type="triangle"/>
          </a:ln>
        </p:spPr>
      </p:sp>
      <p:sp>
        <p:nvSpPr>
          <p:cNvPr id="10" name="step-536"/>
          <p:cNvSpPr/>
          <p:nvPr/>
        </p:nvSpPr>
        <p:spPr>
          <a:xfrm>
            <a:off x="548640" y="1993392"/>
            <a:ext cx="5394960" cy="585216"/>
          </a:xfrm>
          <a:prstGeom prst="roundRect">
            <a:avLst>
              <a:gd name="adj" fmla="val 12500"/>
            </a:avLst>
          </a:prstGeom>
          <a:solidFill>
            <a:schemeClr val="bg2"/>
          </a:solidFill>
          <a:ln w="12700">
            <a:solidFill>
              <a:schemeClr val="bg2"/>
            </a:solidFill>
            <a:prstDash val="solid"/>
          </a:ln>
        </p:spPr>
      </p:sp>
      <p:sp>
        <p:nvSpPr>
          <p:cNvPr id="11" name="text-537"/>
          <p:cNvSpPr txBox="1"/>
          <p:nvPr/>
        </p:nvSpPr>
        <p:spPr>
          <a:xfrm>
            <a:off x="685800" y="1993392"/>
            <a:ext cx="320040" cy="585216"/>
          </a:xfrm>
          <a:prstGeom prst="rect">
            <a:avLst/>
          </a:prstGeom>
          <a:noFill/>
          <a:ln/>
        </p:spPr>
        <p:txBody>
          <a:bodyPr wrap="square" lIns="0" tIns="0" rIns="0" bIns="0" rtlCol="0" anchor="ctr"/>
          <a:lstStyle/>
          <a:p>
            <a:pPr indent="0" marL="0">
              <a:buNone/>
            </a:pPr>
            <a:r>
              <a:rPr lang="en-US" sz="1800" b="1" dirty="0">
                <a:solidFill>
                  <a:schemeClr val="accent1"/>
                </a:solidFill>
              </a:rPr>
              <a:t>2</a:t>
            </a:r>
            <a:endParaRPr lang="en-US" sz="1800" dirty="0"/>
          </a:p>
        </p:txBody>
      </p:sp>
      <p:sp>
        <p:nvSpPr>
          <p:cNvPr id="12" name="text-538"/>
          <p:cNvSpPr txBox="1"/>
          <p:nvPr/>
        </p:nvSpPr>
        <p:spPr>
          <a:xfrm>
            <a:off x="1051560" y="2039112"/>
            <a:ext cx="3017520" cy="274320"/>
          </a:xfrm>
          <a:prstGeom prst="rect">
            <a:avLst/>
          </a:prstGeom>
          <a:noFill/>
          <a:ln/>
        </p:spPr>
        <p:txBody>
          <a:bodyPr wrap="square" lIns="0" tIns="0" rIns="0" bIns="0" rtlCol="0" anchor="t"/>
          <a:lstStyle/>
          <a:p>
            <a:pPr indent="0" marL="0">
              <a:buNone/>
            </a:pPr>
            <a:r>
              <a:rPr lang="en-US" sz="1500" b="1" dirty="0">
                <a:solidFill>
                  <a:schemeClr val="tx2"/>
                </a:solidFill>
              </a:rPr>
              <a:t>ARIMA</a:t>
            </a:r>
            <a:endParaRPr lang="en-US" sz="1500" dirty="0"/>
          </a:p>
        </p:txBody>
      </p:sp>
      <p:sp>
        <p:nvSpPr>
          <p:cNvPr id="13" name="text-539"/>
          <p:cNvSpPr txBox="1"/>
          <p:nvPr/>
        </p:nvSpPr>
        <p:spPr>
          <a:xfrm>
            <a:off x="1051560" y="2295144"/>
            <a:ext cx="3291840" cy="256032"/>
          </a:xfrm>
          <a:prstGeom prst="rect">
            <a:avLst/>
          </a:prstGeom>
          <a:noFill/>
          <a:ln/>
        </p:spPr>
        <p:txBody>
          <a:bodyPr wrap="square" lIns="0" tIns="0" rIns="0" bIns="0" rtlCol="0" anchor="t"/>
          <a:lstStyle/>
          <a:p>
            <a:pPr indent="0" marL="0">
              <a:buNone/>
            </a:pPr>
            <a:r>
              <a:rPr lang="en-US" sz="1200" dirty="0">
                <a:solidFill>
                  <a:schemeClr val="accent3"/>
                </a:solidFill>
              </a:rPr>
              <a:t>statistical baseline, 5 busiest flows</a:t>
            </a:r>
            <a:endParaRPr lang="en-US" sz="1200" dirty="0"/>
          </a:p>
        </p:txBody>
      </p:sp>
      <p:sp>
        <p:nvSpPr>
          <p:cNvPr id="14" name="chip-540"/>
          <p:cNvSpPr/>
          <p:nvPr/>
        </p:nvSpPr>
        <p:spPr>
          <a:xfrm>
            <a:off x="5349240" y="2148840"/>
            <a:ext cx="457200" cy="274320"/>
          </a:xfrm>
          <a:prstGeom prst="roundRect">
            <a:avLst>
              <a:gd name="adj" fmla="val 50000"/>
            </a:avLst>
          </a:prstGeom>
          <a:solidFill>
            <a:schemeClr val="accent6"/>
          </a:solidFill>
          <a:ln w="12700">
            <a:solidFill>
              <a:schemeClr val="accent6"/>
            </a:solidFill>
            <a:prstDash val="solid"/>
          </a:ln>
        </p:spPr>
      </p:sp>
      <p:sp>
        <p:nvSpPr>
          <p:cNvPr id="15" name="text-541"/>
          <p:cNvSpPr txBox="1"/>
          <p:nvPr/>
        </p:nvSpPr>
        <p:spPr>
          <a:xfrm>
            <a:off x="5349240" y="2148840"/>
            <a:ext cx="457200" cy="274320"/>
          </a:xfrm>
          <a:prstGeom prst="rect">
            <a:avLst/>
          </a:prstGeom>
          <a:noFill/>
          <a:ln/>
        </p:spPr>
        <p:txBody>
          <a:bodyPr wrap="square" lIns="0" tIns="0" rIns="0" bIns="0" rtlCol="0" anchor="ctr"/>
          <a:lstStyle/>
          <a:p>
            <a:pPr algn="ctr" indent="0" marL="0">
              <a:buNone/>
            </a:pPr>
            <a:r>
              <a:rPr lang="en-US" sz="1050" b="1" spc="50" kern="0" dirty="0">
                <a:solidFill>
                  <a:schemeClr val="bg1"/>
                </a:solidFill>
              </a:rPr>
              <a:t>DONE</a:t>
            </a:r>
            <a:endParaRPr lang="en-US" sz="1050" dirty="0"/>
          </a:p>
        </p:txBody>
      </p:sp>
      <p:sp>
        <p:nvSpPr>
          <p:cNvPr id="16" name="arrow-542"/>
          <p:cNvSpPr/>
          <p:nvPr/>
        </p:nvSpPr>
        <p:spPr>
          <a:xfrm>
            <a:off x="777240" y="2578608"/>
            <a:ext cx="91" cy="128016"/>
          </a:xfrm>
          <a:prstGeom prst="line">
            <a:avLst/>
          </a:prstGeom>
          <a:noFill/>
          <a:ln w="15875">
            <a:solidFill>
              <a:schemeClr val="accent3"/>
            </a:solidFill>
            <a:prstDash val="solid"/>
            <a:tailEnd type="triangle"/>
          </a:ln>
        </p:spPr>
      </p:sp>
      <p:sp>
        <p:nvSpPr>
          <p:cNvPr id="17" name="step-543"/>
          <p:cNvSpPr/>
          <p:nvPr/>
        </p:nvSpPr>
        <p:spPr>
          <a:xfrm>
            <a:off x="548640" y="2706624"/>
            <a:ext cx="5394960" cy="585216"/>
          </a:xfrm>
          <a:prstGeom prst="roundRect">
            <a:avLst>
              <a:gd name="adj" fmla="val 12500"/>
            </a:avLst>
          </a:prstGeom>
          <a:solidFill>
            <a:schemeClr val="bg2"/>
          </a:solidFill>
          <a:ln w="12700">
            <a:solidFill>
              <a:schemeClr val="bg2"/>
            </a:solidFill>
            <a:prstDash val="solid"/>
          </a:ln>
        </p:spPr>
      </p:sp>
      <p:sp>
        <p:nvSpPr>
          <p:cNvPr id="18" name="text-544"/>
          <p:cNvSpPr txBox="1"/>
          <p:nvPr/>
        </p:nvSpPr>
        <p:spPr>
          <a:xfrm>
            <a:off x="685800" y="2706624"/>
            <a:ext cx="320040" cy="585216"/>
          </a:xfrm>
          <a:prstGeom prst="rect">
            <a:avLst/>
          </a:prstGeom>
          <a:noFill/>
          <a:ln/>
        </p:spPr>
        <p:txBody>
          <a:bodyPr wrap="square" lIns="0" tIns="0" rIns="0" bIns="0" rtlCol="0" anchor="ctr"/>
          <a:lstStyle/>
          <a:p>
            <a:pPr indent="0" marL="0">
              <a:buNone/>
            </a:pPr>
            <a:r>
              <a:rPr lang="en-US" sz="1800" b="1" dirty="0">
                <a:solidFill>
                  <a:schemeClr val="accent1"/>
                </a:solidFill>
              </a:rPr>
              <a:t>3</a:t>
            </a:r>
            <a:endParaRPr lang="en-US" sz="1800" dirty="0"/>
          </a:p>
        </p:txBody>
      </p:sp>
      <p:sp>
        <p:nvSpPr>
          <p:cNvPr id="19" name="text-545"/>
          <p:cNvSpPr txBox="1"/>
          <p:nvPr/>
        </p:nvSpPr>
        <p:spPr>
          <a:xfrm>
            <a:off x="1051560" y="2752344"/>
            <a:ext cx="3017520" cy="274320"/>
          </a:xfrm>
          <a:prstGeom prst="rect">
            <a:avLst/>
          </a:prstGeom>
          <a:noFill/>
          <a:ln/>
        </p:spPr>
        <p:txBody>
          <a:bodyPr wrap="square" lIns="0" tIns="0" rIns="0" bIns="0" rtlCol="0" anchor="t"/>
          <a:lstStyle/>
          <a:p>
            <a:pPr indent="0" marL="0">
              <a:buNone/>
            </a:pPr>
            <a:r>
              <a:rPr lang="en-US" sz="1500" b="1" dirty="0">
                <a:solidFill>
                  <a:schemeClr val="tx2"/>
                </a:solidFill>
              </a:rPr>
              <a:t>LSTM-only</a:t>
            </a:r>
            <a:endParaRPr lang="en-US" sz="1500" dirty="0"/>
          </a:p>
        </p:txBody>
      </p:sp>
      <p:sp>
        <p:nvSpPr>
          <p:cNvPr id="20" name="text-546"/>
          <p:cNvSpPr txBox="1"/>
          <p:nvPr/>
        </p:nvSpPr>
        <p:spPr>
          <a:xfrm>
            <a:off x="1051560" y="3008376"/>
            <a:ext cx="3291840" cy="256032"/>
          </a:xfrm>
          <a:prstGeom prst="rect">
            <a:avLst/>
          </a:prstGeom>
          <a:noFill/>
          <a:ln/>
        </p:spPr>
        <p:txBody>
          <a:bodyPr wrap="square" lIns="0" tIns="0" rIns="0" bIns="0" rtlCol="0" anchor="t"/>
          <a:lstStyle/>
          <a:p>
            <a:pPr indent="0" marL="0">
              <a:buNone/>
            </a:pPr>
            <a:r>
              <a:rPr lang="en-US" sz="1200" dirty="0">
                <a:solidFill>
                  <a:schemeClr val="accent3"/>
                </a:solidFill>
              </a:rPr>
              <a:t>planned model without the CNN</a:t>
            </a:r>
            <a:endParaRPr lang="en-US" sz="1200" dirty="0"/>
          </a:p>
        </p:txBody>
      </p:sp>
      <p:sp>
        <p:nvSpPr>
          <p:cNvPr id="21" name="chip-547"/>
          <p:cNvSpPr/>
          <p:nvPr/>
        </p:nvSpPr>
        <p:spPr>
          <a:xfrm>
            <a:off x="5349240" y="2862072"/>
            <a:ext cx="457200" cy="274320"/>
          </a:xfrm>
          <a:prstGeom prst="roundRect">
            <a:avLst>
              <a:gd name="adj" fmla="val 50000"/>
            </a:avLst>
          </a:prstGeom>
          <a:solidFill>
            <a:schemeClr val="accent6"/>
          </a:solidFill>
          <a:ln w="12700">
            <a:solidFill>
              <a:schemeClr val="accent6"/>
            </a:solidFill>
            <a:prstDash val="solid"/>
          </a:ln>
        </p:spPr>
      </p:sp>
      <p:sp>
        <p:nvSpPr>
          <p:cNvPr id="22" name="text-548"/>
          <p:cNvSpPr txBox="1"/>
          <p:nvPr/>
        </p:nvSpPr>
        <p:spPr>
          <a:xfrm>
            <a:off x="5349240" y="2862072"/>
            <a:ext cx="457200" cy="274320"/>
          </a:xfrm>
          <a:prstGeom prst="rect">
            <a:avLst/>
          </a:prstGeom>
          <a:noFill/>
          <a:ln/>
        </p:spPr>
        <p:txBody>
          <a:bodyPr wrap="square" lIns="0" tIns="0" rIns="0" bIns="0" rtlCol="0" anchor="ctr"/>
          <a:lstStyle/>
          <a:p>
            <a:pPr algn="ctr" indent="0" marL="0">
              <a:buNone/>
            </a:pPr>
            <a:r>
              <a:rPr lang="en-US" sz="1050" b="1" spc="50" kern="0" dirty="0">
                <a:solidFill>
                  <a:schemeClr val="bg1"/>
                </a:solidFill>
              </a:rPr>
              <a:t>DONE</a:t>
            </a:r>
            <a:endParaRPr lang="en-US" sz="1050" dirty="0"/>
          </a:p>
        </p:txBody>
      </p:sp>
      <p:sp>
        <p:nvSpPr>
          <p:cNvPr id="23" name="arrow-549"/>
          <p:cNvSpPr/>
          <p:nvPr/>
        </p:nvSpPr>
        <p:spPr>
          <a:xfrm>
            <a:off x="777240" y="3291840"/>
            <a:ext cx="91" cy="128016"/>
          </a:xfrm>
          <a:prstGeom prst="line">
            <a:avLst/>
          </a:prstGeom>
          <a:noFill/>
          <a:ln w="15875">
            <a:solidFill>
              <a:schemeClr val="accent3"/>
            </a:solidFill>
            <a:prstDash val="solid"/>
            <a:tailEnd type="triangle"/>
          </a:ln>
        </p:spPr>
      </p:sp>
      <p:sp>
        <p:nvSpPr>
          <p:cNvPr id="24" name="step-550"/>
          <p:cNvSpPr/>
          <p:nvPr/>
        </p:nvSpPr>
        <p:spPr>
          <a:xfrm>
            <a:off x="548640" y="3419856"/>
            <a:ext cx="5394960" cy="585216"/>
          </a:xfrm>
          <a:prstGeom prst="roundRect">
            <a:avLst>
              <a:gd name="adj" fmla="val 12500"/>
            </a:avLst>
          </a:prstGeom>
          <a:solidFill>
            <a:schemeClr val="bg2"/>
          </a:solidFill>
          <a:ln w="12700">
            <a:solidFill>
              <a:schemeClr val="bg2"/>
            </a:solidFill>
            <a:prstDash val="solid"/>
          </a:ln>
        </p:spPr>
      </p:sp>
      <p:sp>
        <p:nvSpPr>
          <p:cNvPr id="25" name="text-551"/>
          <p:cNvSpPr txBox="1"/>
          <p:nvPr/>
        </p:nvSpPr>
        <p:spPr>
          <a:xfrm>
            <a:off x="685800" y="3419856"/>
            <a:ext cx="320040" cy="585216"/>
          </a:xfrm>
          <a:prstGeom prst="rect">
            <a:avLst/>
          </a:prstGeom>
          <a:noFill/>
          <a:ln/>
        </p:spPr>
        <p:txBody>
          <a:bodyPr wrap="square" lIns="0" tIns="0" rIns="0" bIns="0" rtlCol="0" anchor="ctr"/>
          <a:lstStyle/>
          <a:p>
            <a:pPr indent="0" marL="0">
              <a:buNone/>
            </a:pPr>
            <a:r>
              <a:rPr lang="en-US" sz="1800" b="1" dirty="0">
                <a:solidFill>
                  <a:schemeClr val="accent1"/>
                </a:solidFill>
              </a:rPr>
              <a:t>4</a:t>
            </a:r>
            <a:endParaRPr lang="en-US" sz="1800" dirty="0"/>
          </a:p>
        </p:txBody>
      </p:sp>
      <p:sp>
        <p:nvSpPr>
          <p:cNvPr id="26" name="text-552"/>
          <p:cNvSpPr txBox="1"/>
          <p:nvPr/>
        </p:nvSpPr>
        <p:spPr>
          <a:xfrm>
            <a:off x="1051560" y="3465576"/>
            <a:ext cx="3017520" cy="274320"/>
          </a:xfrm>
          <a:prstGeom prst="rect">
            <a:avLst/>
          </a:prstGeom>
          <a:noFill/>
          <a:ln/>
        </p:spPr>
        <p:txBody>
          <a:bodyPr wrap="square" lIns="0" tIns="0" rIns="0" bIns="0" rtlCol="0" anchor="t"/>
          <a:lstStyle/>
          <a:p>
            <a:pPr indent="0" marL="0">
              <a:buNone/>
            </a:pPr>
            <a:r>
              <a:rPr lang="en-US" sz="1500" b="1" dirty="0">
                <a:solidFill>
                  <a:schemeClr val="tx2"/>
                </a:solidFill>
              </a:rPr>
              <a:t>CNN-only</a:t>
            </a:r>
            <a:endParaRPr lang="en-US" sz="1500" dirty="0"/>
          </a:p>
        </p:txBody>
      </p:sp>
      <p:sp>
        <p:nvSpPr>
          <p:cNvPr id="27" name="text-553"/>
          <p:cNvSpPr txBox="1"/>
          <p:nvPr/>
        </p:nvSpPr>
        <p:spPr>
          <a:xfrm>
            <a:off x="1051560" y="3721608"/>
            <a:ext cx="3291840" cy="256032"/>
          </a:xfrm>
          <a:prstGeom prst="rect">
            <a:avLst/>
          </a:prstGeom>
          <a:noFill/>
          <a:ln/>
        </p:spPr>
        <p:txBody>
          <a:bodyPr wrap="square" lIns="0" tIns="0" rIns="0" bIns="0" rtlCol="0" anchor="t"/>
          <a:lstStyle/>
          <a:p>
            <a:pPr indent="0" marL="0">
              <a:buNone/>
            </a:pPr>
            <a:r>
              <a:rPr lang="en-US" sz="1200" dirty="0">
                <a:solidFill>
                  <a:schemeClr val="accent3"/>
                </a:solidFill>
              </a:rPr>
              <a:t>planned model without the LSTM</a:t>
            </a:r>
            <a:endParaRPr lang="en-US" sz="1200" dirty="0"/>
          </a:p>
        </p:txBody>
      </p:sp>
      <p:sp>
        <p:nvSpPr>
          <p:cNvPr id="28" name="chip-554"/>
          <p:cNvSpPr/>
          <p:nvPr/>
        </p:nvSpPr>
        <p:spPr>
          <a:xfrm>
            <a:off x="5349240" y="3575304"/>
            <a:ext cx="457200" cy="274320"/>
          </a:xfrm>
          <a:prstGeom prst="roundRect">
            <a:avLst>
              <a:gd name="adj" fmla="val 50000"/>
            </a:avLst>
          </a:prstGeom>
          <a:solidFill>
            <a:schemeClr val="accent6"/>
          </a:solidFill>
          <a:ln w="12700">
            <a:solidFill>
              <a:schemeClr val="accent6"/>
            </a:solidFill>
            <a:prstDash val="solid"/>
          </a:ln>
        </p:spPr>
      </p:sp>
      <p:sp>
        <p:nvSpPr>
          <p:cNvPr id="29" name="text-555"/>
          <p:cNvSpPr txBox="1"/>
          <p:nvPr/>
        </p:nvSpPr>
        <p:spPr>
          <a:xfrm>
            <a:off x="5349240" y="3575304"/>
            <a:ext cx="457200" cy="274320"/>
          </a:xfrm>
          <a:prstGeom prst="rect">
            <a:avLst/>
          </a:prstGeom>
          <a:noFill/>
          <a:ln/>
        </p:spPr>
        <p:txBody>
          <a:bodyPr wrap="square" lIns="0" tIns="0" rIns="0" bIns="0" rtlCol="0" anchor="ctr"/>
          <a:lstStyle/>
          <a:p>
            <a:pPr algn="ctr" indent="0" marL="0">
              <a:buNone/>
            </a:pPr>
            <a:r>
              <a:rPr lang="en-US" sz="1050" b="1" spc="50" kern="0" dirty="0">
                <a:solidFill>
                  <a:schemeClr val="bg1"/>
                </a:solidFill>
              </a:rPr>
              <a:t>DONE</a:t>
            </a:r>
            <a:endParaRPr lang="en-US" sz="1050" dirty="0"/>
          </a:p>
        </p:txBody>
      </p:sp>
      <p:sp>
        <p:nvSpPr>
          <p:cNvPr id="30" name="arrow-556"/>
          <p:cNvSpPr/>
          <p:nvPr/>
        </p:nvSpPr>
        <p:spPr>
          <a:xfrm>
            <a:off x="777240" y="4005072"/>
            <a:ext cx="91" cy="128016"/>
          </a:xfrm>
          <a:prstGeom prst="line">
            <a:avLst/>
          </a:prstGeom>
          <a:noFill/>
          <a:ln w="15875">
            <a:solidFill>
              <a:schemeClr val="accent3"/>
            </a:solidFill>
            <a:prstDash val="solid"/>
            <a:tailEnd type="triangle"/>
          </a:ln>
        </p:spPr>
      </p:sp>
      <p:sp>
        <p:nvSpPr>
          <p:cNvPr id="31" name="step-557"/>
          <p:cNvSpPr/>
          <p:nvPr/>
        </p:nvSpPr>
        <p:spPr>
          <a:xfrm>
            <a:off x="548640" y="4133088"/>
            <a:ext cx="5394960" cy="585216"/>
          </a:xfrm>
          <a:prstGeom prst="roundRect">
            <a:avLst>
              <a:gd name="adj" fmla="val 12500"/>
            </a:avLst>
          </a:prstGeom>
          <a:solidFill>
            <a:schemeClr val="bg1"/>
          </a:solidFill>
          <a:ln w="19050">
            <a:solidFill>
              <a:schemeClr val="accent2"/>
            </a:solidFill>
            <a:prstDash val="dash"/>
          </a:ln>
        </p:spPr>
      </p:sp>
      <p:sp>
        <p:nvSpPr>
          <p:cNvPr id="32" name="text-558"/>
          <p:cNvSpPr txBox="1"/>
          <p:nvPr/>
        </p:nvSpPr>
        <p:spPr>
          <a:xfrm>
            <a:off x="685800" y="4133088"/>
            <a:ext cx="320040" cy="585216"/>
          </a:xfrm>
          <a:prstGeom prst="rect">
            <a:avLst/>
          </a:prstGeom>
          <a:noFill/>
          <a:ln/>
        </p:spPr>
        <p:txBody>
          <a:bodyPr wrap="square" lIns="0" tIns="0" rIns="0" bIns="0" rtlCol="0" anchor="ctr"/>
          <a:lstStyle/>
          <a:p>
            <a:pPr indent="0" marL="0">
              <a:buNone/>
            </a:pPr>
            <a:r>
              <a:rPr lang="en-US" sz="1800" b="1" dirty="0">
                <a:solidFill>
                  <a:schemeClr val="accent2"/>
                </a:solidFill>
              </a:rPr>
              <a:t>5</a:t>
            </a:r>
            <a:endParaRPr lang="en-US" sz="1800" dirty="0"/>
          </a:p>
        </p:txBody>
      </p:sp>
      <p:sp>
        <p:nvSpPr>
          <p:cNvPr id="33" name="text-559"/>
          <p:cNvSpPr txBox="1"/>
          <p:nvPr/>
        </p:nvSpPr>
        <p:spPr>
          <a:xfrm>
            <a:off x="1051560" y="4178808"/>
            <a:ext cx="3017520" cy="274320"/>
          </a:xfrm>
          <a:prstGeom prst="rect">
            <a:avLst/>
          </a:prstGeom>
          <a:noFill/>
          <a:ln/>
        </p:spPr>
        <p:txBody>
          <a:bodyPr wrap="square" lIns="0" tIns="0" rIns="0" bIns="0" rtlCol="0" anchor="t"/>
          <a:lstStyle/>
          <a:p>
            <a:pPr indent="0" marL="0">
              <a:buNone/>
            </a:pPr>
            <a:r>
              <a:rPr lang="en-US" sz="1500" b="1" dirty="0">
                <a:solidFill>
                  <a:schemeClr val="tx2"/>
                </a:solidFill>
              </a:rPr>
              <a:t>CNN-LSTM</a:t>
            </a:r>
            <a:endParaRPr lang="en-US" sz="1500" dirty="0"/>
          </a:p>
        </p:txBody>
      </p:sp>
      <p:sp>
        <p:nvSpPr>
          <p:cNvPr id="34" name="text-560"/>
          <p:cNvSpPr txBox="1"/>
          <p:nvPr/>
        </p:nvSpPr>
        <p:spPr>
          <a:xfrm>
            <a:off x="1051560" y="4434840"/>
            <a:ext cx="3291840" cy="256032"/>
          </a:xfrm>
          <a:prstGeom prst="rect">
            <a:avLst/>
          </a:prstGeom>
          <a:noFill/>
          <a:ln/>
        </p:spPr>
        <p:txBody>
          <a:bodyPr wrap="square" lIns="0" tIns="0" rIns="0" bIns="0" rtlCol="0" anchor="t"/>
          <a:lstStyle/>
          <a:p>
            <a:pPr indent="0" marL="0">
              <a:buNone/>
            </a:pPr>
            <a:r>
              <a:rPr lang="en-US" sz="1200" dirty="0">
                <a:solidFill>
                  <a:schemeClr val="accent3"/>
                </a:solidFill>
              </a:rPr>
              <a:t>the planned hybrid</a:t>
            </a:r>
            <a:endParaRPr lang="en-US" sz="1200" dirty="0"/>
          </a:p>
        </p:txBody>
      </p:sp>
      <p:sp>
        <p:nvSpPr>
          <p:cNvPr id="35" name="chip-561"/>
          <p:cNvSpPr/>
          <p:nvPr/>
        </p:nvSpPr>
        <p:spPr>
          <a:xfrm>
            <a:off x="5116068" y="4288536"/>
            <a:ext cx="690372" cy="274320"/>
          </a:xfrm>
          <a:prstGeom prst="roundRect">
            <a:avLst>
              <a:gd name="adj" fmla="val 50000"/>
            </a:avLst>
          </a:prstGeom>
          <a:solidFill>
            <a:schemeClr val="bg1"/>
          </a:solidFill>
          <a:ln w="15875">
            <a:solidFill>
              <a:schemeClr val="accent2"/>
            </a:solidFill>
            <a:prstDash val="dash"/>
          </a:ln>
        </p:spPr>
      </p:sp>
      <p:sp>
        <p:nvSpPr>
          <p:cNvPr id="36" name="text-562"/>
          <p:cNvSpPr txBox="1"/>
          <p:nvPr/>
        </p:nvSpPr>
        <p:spPr>
          <a:xfrm>
            <a:off x="5116068" y="4288536"/>
            <a:ext cx="690372" cy="274320"/>
          </a:xfrm>
          <a:prstGeom prst="rect">
            <a:avLst/>
          </a:prstGeom>
          <a:noFill/>
          <a:ln/>
        </p:spPr>
        <p:txBody>
          <a:bodyPr wrap="square" lIns="0" tIns="0" rIns="0" bIns="0" rtlCol="0" anchor="ctr"/>
          <a:lstStyle/>
          <a:p>
            <a:pPr algn="ctr" indent="0" marL="0">
              <a:buNone/>
            </a:pPr>
            <a:r>
              <a:rPr lang="en-US" sz="1050" b="1" spc="50" kern="0" dirty="0">
                <a:solidFill>
                  <a:schemeClr val="accent2"/>
                </a:solidFill>
              </a:rPr>
              <a:t>PHASE 4</a:t>
            </a:r>
            <a:endParaRPr lang="en-US" sz="1050" dirty="0"/>
          </a:p>
        </p:txBody>
      </p:sp>
      <p:sp>
        <p:nvSpPr>
          <p:cNvPr id="37" name="arrow-563"/>
          <p:cNvSpPr/>
          <p:nvPr/>
        </p:nvSpPr>
        <p:spPr>
          <a:xfrm>
            <a:off x="777240" y="4718304"/>
            <a:ext cx="91" cy="128016"/>
          </a:xfrm>
          <a:prstGeom prst="line">
            <a:avLst/>
          </a:prstGeom>
          <a:noFill/>
          <a:ln w="15875">
            <a:solidFill>
              <a:schemeClr val="accent3"/>
            </a:solidFill>
            <a:prstDash val="solid"/>
            <a:tailEnd type="triangle"/>
          </a:ln>
        </p:spPr>
      </p:sp>
      <p:sp>
        <p:nvSpPr>
          <p:cNvPr id="38" name="step-564"/>
          <p:cNvSpPr/>
          <p:nvPr/>
        </p:nvSpPr>
        <p:spPr>
          <a:xfrm>
            <a:off x="548640" y="4846320"/>
            <a:ext cx="5394960" cy="585216"/>
          </a:xfrm>
          <a:prstGeom prst="roundRect">
            <a:avLst>
              <a:gd name="adj" fmla="val 12500"/>
            </a:avLst>
          </a:prstGeom>
          <a:solidFill>
            <a:schemeClr val="bg2"/>
          </a:solidFill>
          <a:ln w="12700">
            <a:solidFill>
              <a:schemeClr val="bg2"/>
            </a:solidFill>
            <a:prstDash val="solid"/>
          </a:ln>
        </p:spPr>
      </p:sp>
      <p:sp>
        <p:nvSpPr>
          <p:cNvPr id="39" name="text-565"/>
          <p:cNvSpPr txBox="1"/>
          <p:nvPr/>
        </p:nvSpPr>
        <p:spPr>
          <a:xfrm>
            <a:off x="685800" y="4846320"/>
            <a:ext cx="320040" cy="585216"/>
          </a:xfrm>
          <a:prstGeom prst="rect">
            <a:avLst/>
          </a:prstGeom>
          <a:noFill/>
          <a:ln/>
        </p:spPr>
        <p:txBody>
          <a:bodyPr wrap="square" lIns="0" tIns="0" rIns="0" bIns="0" rtlCol="0" anchor="ctr"/>
          <a:lstStyle/>
          <a:p>
            <a:pPr indent="0" marL="0">
              <a:buNone/>
            </a:pPr>
            <a:r>
              <a:rPr lang="en-US" sz="1800" b="1" dirty="0">
                <a:solidFill>
                  <a:schemeClr val="accent1"/>
                </a:solidFill>
              </a:rPr>
              <a:t>6</a:t>
            </a:r>
            <a:endParaRPr lang="en-US" sz="1800" dirty="0"/>
          </a:p>
        </p:txBody>
      </p:sp>
      <p:sp>
        <p:nvSpPr>
          <p:cNvPr id="40" name="text-566"/>
          <p:cNvSpPr txBox="1"/>
          <p:nvPr/>
        </p:nvSpPr>
        <p:spPr>
          <a:xfrm>
            <a:off x="1051560" y="4892040"/>
            <a:ext cx="3017520" cy="274320"/>
          </a:xfrm>
          <a:prstGeom prst="rect">
            <a:avLst/>
          </a:prstGeom>
          <a:noFill/>
          <a:ln/>
        </p:spPr>
        <p:txBody>
          <a:bodyPr wrap="square" lIns="0" tIns="0" rIns="0" bIns="0" rtlCol="0" anchor="t"/>
          <a:lstStyle/>
          <a:p>
            <a:pPr indent="0" marL="0">
              <a:buNone/>
            </a:pPr>
            <a:r>
              <a:rPr lang="en-US" sz="1500" b="1" dirty="0">
                <a:solidFill>
                  <a:schemeClr val="tx2"/>
                </a:solidFill>
              </a:rPr>
              <a:t>Residual / tuned models</a:t>
            </a:r>
            <a:endParaRPr lang="en-US" sz="1500" dirty="0"/>
          </a:p>
        </p:txBody>
      </p:sp>
      <p:sp>
        <p:nvSpPr>
          <p:cNvPr id="41" name="text-567"/>
          <p:cNvSpPr txBox="1"/>
          <p:nvPr/>
        </p:nvSpPr>
        <p:spPr>
          <a:xfrm>
            <a:off x="1051560" y="5148072"/>
            <a:ext cx="3291840" cy="256032"/>
          </a:xfrm>
          <a:prstGeom prst="rect">
            <a:avLst/>
          </a:prstGeom>
          <a:noFill/>
          <a:ln/>
        </p:spPr>
        <p:txBody>
          <a:bodyPr wrap="square" lIns="0" tIns="0" rIns="0" bIns="0" rtlCol="0" anchor="t"/>
          <a:lstStyle/>
          <a:p>
            <a:pPr indent="0" marL="0">
              <a:buNone/>
            </a:pPr>
            <a:r>
              <a:rPr lang="en-US" sz="1200" dirty="0">
                <a:solidFill>
                  <a:schemeClr val="accent3"/>
                </a:solidFill>
              </a:rPr>
              <a:t>residual LSTM &amp; CNN done; tuning planned</a:t>
            </a:r>
            <a:endParaRPr lang="en-US" sz="1200" dirty="0"/>
          </a:p>
        </p:txBody>
      </p:sp>
      <p:sp>
        <p:nvSpPr>
          <p:cNvPr id="42" name="chip-568"/>
          <p:cNvSpPr/>
          <p:nvPr/>
        </p:nvSpPr>
        <p:spPr>
          <a:xfrm>
            <a:off x="4805172" y="5001768"/>
            <a:ext cx="1001268" cy="274320"/>
          </a:xfrm>
          <a:prstGeom prst="roundRect">
            <a:avLst>
              <a:gd name="adj" fmla="val 50000"/>
            </a:avLst>
          </a:prstGeom>
          <a:solidFill>
            <a:schemeClr val="bg1"/>
          </a:solidFill>
          <a:ln w="15875">
            <a:solidFill>
              <a:schemeClr val="accent2"/>
            </a:solidFill>
            <a:prstDash val="dash"/>
          </a:ln>
        </p:spPr>
      </p:sp>
      <p:sp>
        <p:nvSpPr>
          <p:cNvPr id="43" name="text-569"/>
          <p:cNvSpPr txBox="1"/>
          <p:nvPr/>
        </p:nvSpPr>
        <p:spPr>
          <a:xfrm>
            <a:off x="4805172" y="5001768"/>
            <a:ext cx="1001268" cy="274320"/>
          </a:xfrm>
          <a:prstGeom prst="rect">
            <a:avLst/>
          </a:prstGeom>
          <a:noFill/>
          <a:ln/>
        </p:spPr>
        <p:txBody>
          <a:bodyPr wrap="square" lIns="0" tIns="0" rIns="0" bIns="0" rtlCol="0" anchor="ctr"/>
          <a:lstStyle/>
          <a:p>
            <a:pPr algn="ctr" indent="0" marL="0">
              <a:buNone/>
            </a:pPr>
            <a:r>
              <a:rPr lang="en-US" sz="1050" b="1" spc="50" kern="0" dirty="0">
                <a:solidFill>
                  <a:schemeClr val="accent2"/>
                </a:solidFill>
              </a:rPr>
              <a:t>PARTLY DONE</a:t>
            </a:r>
            <a:endParaRPr lang="en-US" sz="1050" dirty="0"/>
          </a:p>
        </p:txBody>
      </p:sp>
      <p:sp>
        <p:nvSpPr>
          <p:cNvPr id="44" name="card-570"/>
          <p:cNvSpPr/>
          <p:nvPr/>
        </p:nvSpPr>
        <p:spPr>
          <a:xfrm>
            <a:off x="6446520" y="1280160"/>
            <a:ext cx="5196535" cy="1691640"/>
          </a:xfrm>
          <a:prstGeom prst="roundRect">
            <a:avLst>
              <a:gd name="adj" fmla="val 4324"/>
            </a:avLst>
          </a:prstGeom>
          <a:solidFill>
            <a:schemeClr val="tx2"/>
          </a:solidFill>
          <a:ln w="9525">
            <a:solidFill>
              <a:schemeClr val="tx2"/>
            </a:solidFill>
            <a:prstDash val="solid"/>
          </a:ln>
          <a:effectLst>
            <a:outerShdw sx="100000" sy="100000" kx="0" ky="0" algn="bl" rotWithShape="0" blurRad="76200" dist="25400" dir="5400000">
              <a:srgbClr val="000000">
                <a:alpha val="12000"/>
              </a:srgbClr>
            </a:outerShdw>
          </a:effectLst>
        </p:spPr>
      </p:sp>
      <p:sp>
        <p:nvSpPr>
          <p:cNvPr id="45" name="text-571"/>
          <p:cNvSpPr txBox="1"/>
          <p:nvPr/>
        </p:nvSpPr>
        <p:spPr>
          <a:xfrm>
            <a:off x="6720840" y="1417320"/>
            <a:ext cx="2743200" cy="274320"/>
          </a:xfrm>
          <a:prstGeom prst="rect">
            <a:avLst/>
          </a:prstGeom>
          <a:noFill/>
          <a:ln/>
        </p:spPr>
        <p:txBody>
          <a:bodyPr wrap="square" lIns="0" tIns="0" rIns="0" bIns="0" rtlCol="0" anchor="t"/>
          <a:lstStyle/>
          <a:p>
            <a:pPr indent="0" marL="0">
              <a:buNone/>
            </a:pPr>
            <a:r>
              <a:rPr lang="en-US" sz="1100" b="1" spc="200" kern="0" dirty="0">
                <a:solidFill>
                  <a:schemeClr val="accent4"/>
                </a:solidFill>
              </a:rPr>
              <a:t>THE BAR TO BEAT</a:t>
            </a:r>
            <a:endParaRPr lang="en-US" sz="1100" dirty="0"/>
          </a:p>
        </p:txBody>
      </p:sp>
      <p:sp>
        <p:nvSpPr>
          <p:cNvPr id="46" name="text-572"/>
          <p:cNvSpPr txBox="1"/>
          <p:nvPr/>
        </p:nvSpPr>
        <p:spPr>
          <a:xfrm>
            <a:off x="6720840" y="1691640"/>
            <a:ext cx="4647895" cy="457200"/>
          </a:xfrm>
          <a:prstGeom prst="rect">
            <a:avLst/>
          </a:prstGeom>
          <a:noFill/>
          <a:ln/>
        </p:spPr>
        <p:txBody>
          <a:bodyPr wrap="square" lIns="0" tIns="0" rIns="0" bIns="0" rtlCol="0" anchor="t"/>
          <a:lstStyle/>
          <a:p>
            <a:pPr indent="0" marL="0">
              <a:buNone/>
            </a:pPr>
            <a:r>
              <a:rPr lang="en-US" sz="2100" b="1" dirty="0">
                <a:solidFill>
                  <a:schemeClr val="bg1"/>
                </a:solidFill>
                <a:latin typeface="Cambria" pitchFamily="34" charset="0"/>
                <a:ea typeface="Cambria" pitchFamily="34" charset="-122"/>
                <a:cs typeface="Cambria" pitchFamily="34" charset="-120"/>
              </a:rPr>
              <a:t>Next traffic value = current traffic value</a:t>
            </a:r>
            <a:endParaRPr lang="en-US" sz="2100" dirty="0"/>
          </a:p>
        </p:txBody>
      </p:sp>
      <p:sp>
        <p:nvSpPr>
          <p:cNvPr id="47" name="text-573"/>
          <p:cNvSpPr txBox="1"/>
          <p:nvPr/>
        </p:nvSpPr>
        <p:spPr>
          <a:xfrm>
            <a:off x="6720840" y="2212848"/>
            <a:ext cx="4647895" cy="685800"/>
          </a:xfrm>
          <a:prstGeom prst="rect">
            <a:avLst/>
          </a:prstGeom>
          <a:noFill/>
          <a:ln/>
        </p:spPr>
        <p:txBody>
          <a:bodyPr wrap="square" lIns="0" tIns="0" rIns="0" bIns="0" rtlCol="0" anchor="t"/>
          <a:lstStyle/>
          <a:p>
            <a:pPr indent="0" marL="0">
              <a:buNone/>
            </a:pPr>
            <a:r>
              <a:rPr lang="en-US" sz="1350" dirty="0">
                <a:solidFill>
                  <a:schemeClr val="bg1"/>
                </a:solidFill>
              </a:rPr>
              <a:t>Persistence needs no training, yet at 5-minute steps it is hard to beat. Every learned model must beat it, or improve on it meaningfully.</a:t>
            </a:r>
            <a:endParaRPr lang="en-US" sz="1350" dirty="0"/>
          </a:p>
        </p:txBody>
      </p:sp>
      <p:sp>
        <p:nvSpPr>
          <p:cNvPr id="48" name="card-574"/>
          <p:cNvSpPr/>
          <p:nvPr/>
        </p:nvSpPr>
        <p:spPr>
          <a:xfrm>
            <a:off x="6446520" y="3200400"/>
            <a:ext cx="2483968" cy="932688"/>
          </a:xfrm>
          <a:prstGeom prst="roundRect">
            <a:avLst>
              <a:gd name="adj" fmla="val 784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49" name="text-575"/>
          <p:cNvSpPr txBox="1"/>
          <p:nvPr/>
        </p:nvSpPr>
        <p:spPr>
          <a:xfrm>
            <a:off x="6629400" y="3310128"/>
            <a:ext cx="2118208" cy="320040"/>
          </a:xfrm>
          <a:prstGeom prst="rect">
            <a:avLst/>
          </a:prstGeom>
          <a:noFill/>
          <a:ln/>
        </p:spPr>
        <p:txBody>
          <a:bodyPr wrap="square" lIns="0" tIns="0" rIns="0" bIns="0" rtlCol="0" anchor="t"/>
          <a:lstStyle/>
          <a:p>
            <a:pPr indent="0" marL="0">
              <a:buNone/>
            </a:pPr>
            <a:r>
              <a:rPr lang="en-US" sz="1600" b="1" dirty="0">
                <a:solidFill>
                  <a:schemeClr val="accent1"/>
                </a:solidFill>
              </a:rPr>
              <a:t>MAE</a:t>
            </a:r>
            <a:endParaRPr lang="en-US" sz="1600" dirty="0"/>
          </a:p>
        </p:txBody>
      </p:sp>
      <p:sp>
        <p:nvSpPr>
          <p:cNvPr id="50" name="text-576"/>
          <p:cNvSpPr txBox="1"/>
          <p:nvPr/>
        </p:nvSpPr>
        <p:spPr>
          <a:xfrm>
            <a:off x="6629400" y="3630168"/>
            <a:ext cx="2118208" cy="457200"/>
          </a:xfrm>
          <a:prstGeom prst="rect">
            <a:avLst/>
          </a:prstGeom>
          <a:noFill/>
          <a:ln/>
        </p:spPr>
        <p:txBody>
          <a:bodyPr wrap="square" lIns="0" tIns="0" rIns="0" bIns="0" rtlCol="0" anchor="t"/>
          <a:lstStyle/>
          <a:p>
            <a:pPr indent="0" marL="0">
              <a:buNone/>
            </a:pPr>
            <a:r>
              <a:rPr lang="en-US" sz="1250" dirty="0">
                <a:solidFill>
                  <a:schemeClr val="tx1"/>
                </a:solidFill>
              </a:rPr>
              <a:t>Average absolute error, in Mbit/s</a:t>
            </a:r>
            <a:endParaRPr lang="en-US" sz="1250" dirty="0"/>
          </a:p>
        </p:txBody>
      </p:sp>
      <p:sp>
        <p:nvSpPr>
          <p:cNvPr id="51" name="card-577"/>
          <p:cNvSpPr/>
          <p:nvPr/>
        </p:nvSpPr>
        <p:spPr>
          <a:xfrm>
            <a:off x="9159088" y="3200400"/>
            <a:ext cx="2483968" cy="932688"/>
          </a:xfrm>
          <a:prstGeom prst="roundRect">
            <a:avLst>
              <a:gd name="adj" fmla="val 784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52" name="text-578"/>
          <p:cNvSpPr txBox="1"/>
          <p:nvPr/>
        </p:nvSpPr>
        <p:spPr>
          <a:xfrm>
            <a:off x="9341968" y="3310128"/>
            <a:ext cx="2118208" cy="320040"/>
          </a:xfrm>
          <a:prstGeom prst="rect">
            <a:avLst/>
          </a:prstGeom>
          <a:noFill/>
          <a:ln/>
        </p:spPr>
        <p:txBody>
          <a:bodyPr wrap="square" lIns="0" tIns="0" rIns="0" bIns="0" rtlCol="0" anchor="t"/>
          <a:lstStyle/>
          <a:p>
            <a:pPr indent="0" marL="0">
              <a:buNone/>
            </a:pPr>
            <a:r>
              <a:rPr lang="en-US" sz="1600" b="1" dirty="0">
                <a:solidFill>
                  <a:schemeClr val="accent1"/>
                </a:solidFill>
              </a:rPr>
              <a:t>RMSE</a:t>
            </a:r>
            <a:endParaRPr lang="en-US" sz="1600" dirty="0"/>
          </a:p>
        </p:txBody>
      </p:sp>
      <p:sp>
        <p:nvSpPr>
          <p:cNvPr id="53" name="text-579"/>
          <p:cNvSpPr txBox="1"/>
          <p:nvPr/>
        </p:nvSpPr>
        <p:spPr>
          <a:xfrm>
            <a:off x="9341968" y="3630168"/>
            <a:ext cx="2118208" cy="457200"/>
          </a:xfrm>
          <a:prstGeom prst="rect">
            <a:avLst/>
          </a:prstGeom>
          <a:noFill/>
          <a:ln/>
        </p:spPr>
        <p:txBody>
          <a:bodyPr wrap="square" lIns="0" tIns="0" rIns="0" bIns="0" rtlCol="0" anchor="t"/>
          <a:lstStyle/>
          <a:p>
            <a:pPr indent="0" marL="0">
              <a:buNone/>
            </a:pPr>
            <a:r>
              <a:rPr lang="en-US" sz="1250" dirty="0">
                <a:solidFill>
                  <a:schemeClr val="tx1"/>
                </a:solidFill>
              </a:rPr>
              <a:t>Like MAE, but large misses count more</a:t>
            </a:r>
            <a:endParaRPr lang="en-US" sz="1250" dirty="0"/>
          </a:p>
        </p:txBody>
      </p:sp>
      <p:sp>
        <p:nvSpPr>
          <p:cNvPr id="54" name="card-580"/>
          <p:cNvSpPr/>
          <p:nvPr/>
        </p:nvSpPr>
        <p:spPr>
          <a:xfrm>
            <a:off x="6446520" y="4297680"/>
            <a:ext cx="2483968" cy="932688"/>
          </a:xfrm>
          <a:prstGeom prst="roundRect">
            <a:avLst>
              <a:gd name="adj" fmla="val 784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55" name="text-581"/>
          <p:cNvSpPr txBox="1"/>
          <p:nvPr/>
        </p:nvSpPr>
        <p:spPr>
          <a:xfrm>
            <a:off x="6629400" y="4407408"/>
            <a:ext cx="2118208" cy="320040"/>
          </a:xfrm>
          <a:prstGeom prst="rect">
            <a:avLst/>
          </a:prstGeom>
          <a:noFill/>
          <a:ln/>
        </p:spPr>
        <p:txBody>
          <a:bodyPr wrap="square" lIns="0" tIns="0" rIns="0" bIns="0" rtlCol="0" anchor="t"/>
          <a:lstStyle/>
          <a:p>
            <a:pPr indent="0" marL="0">
              <a:buNone/>
            </a:pPr>
            <a:r>
              <a:rPr lang="en-US" sz="1600" b="1" dirty="0">
                <a:solidFill>
                  <a:schemeClr val="accent1"/>
                </a:solidFill>
              </a:rPr>
              <a:t>MAPE</a:t>
            </a:r>
            <a:endParaRPr lang="en-US" sz="1600" dirty="0"/>
          </a:p>
        </p:txBody>
      </p:sp>
      <p:sp>
        <p:nvSpPr>
          <p:cNvPr id="56" name="text-582"/>
          <p:cNvSpPr txBox="1"/>
          <p:nvPr/>
        </p:nvSpPr>
        <p:spPr>
          <a:xfrm>
            <a:off x="6629400" y="4727448"/>
            <a:ext cx="2118208" cy="457200"/>
          </a:xfrm>
          <a:prstGeom prst="rect">
            <a:avLst/>
          </a:prstGeom>
          <a:noFill/>
          <a:ln/>
        </p:spPr>
        <p:txBody>
          <a:bodyPr wrap="square" lIns="0" tIns="0" rIns="0" bIns="0" rtlCol="0" anchor="t"/>
          <a:lstStyle/>
          <a:p>
            <a:pPr indent="0" marL="0">
              <a:buNone/>
            </a:pPr>
            <a:r>
              <a:rPr lang="en-US" sz="1250" dirty="0">
                <a:solidFill>
                  <a:schemeClr val="tx1"/>
                </a:solidFill>
              </a:rPr>
              <a:t>Error as a percentage of the true value</a:t>
            </a:r>
            <a:endParaRPr lang="en-US" sz="1250" dirty="0"/>
          </a:p>
        </p:txBody>
      </p:sp>
      <p:sp>
        <p:nvSpPr>
          <p:cNvPr id="57" name="card-583"/>
          <p:cNvSpPr/>
          <p:nvPr/>
        </p:nvSpPr>
        <p:spPr>
          <a:xfrm>
            <a:off x="9159088" y="4297680"/>
            <a:ext cx="2483968" cy="932688"/>
          </a:xfrm>
          <a:prstGeom prst="roundRect">
            <a:avLst>
              <a:gd name="adj" fmla="val 784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58" name="text-584"/>
          <p:cNvSpPr txBox="1"/>
          <p:nvPr/>
        </p:nvSpPr>
        <p:spPr>
          <a:xfrm>
            <a:off x="9341968" y="4407408"/>
            <a:ext cx="2118208" cy="320040"/>
          </a:xfrm>
          <a:prstGeom prst="rect">
            <a:avLst/>
          </a:prstGeom>
          <a:noFill/>
          <a:ln/>
        </p:spPr>
        <p:txBody>
          <a:bodyPr wrap="square" lIns="0" tIns="0" rIns="0" bIns="0" rtlCol="0" anchor="t"/>
          <a:lstStyle/>
          <a:p>
            <a:pPr indent="0" marL="0">
              <a:buNone/>
            </a:pPr>
            <a:r>
              <a:rPr lang="en-US" sz="1600" b="1" dirty="0">
                <a:solidFill>
                  <a:schemeClr val="accent1"/>
                </a:solidFill>
              </a:rPr>
              <a:t>MAPE coverage</a:t>
            </a:r>
            <a:endParaRPr lang="en-US" sz="1600" dirty="0"/>
          </a:p>
        </p:txBody>
      </p:sp>
      <p:sp>
        <p:nvSpPr>
          <p:cNvPr id="59" name="text-585"/>
          <p:cNvSpPr txBox="1"/>
          <p:nvPr/>
        </p:nvSpPr>
        <p:spPr>
          <a:xfrm>
            <a:off x="9341968" y="4727448"/>
            <a:ext cx="2118208" cy="457200"/>
          </a:xfrm>
          <a:prstGeom prst="rect">
            <a:avLst/>
          </a:prstGeom>
          <a:noFill/>
          <a:ln/>
        </p:spPr>
        <p:txBody>
          <a:bodyPr wrap="square" lIns="0" tIns="0" rIns="0" bIns="0" rtlCol="0" anchor="t"/>
          <a:lstStyle/>
          <a:p>
            <a:pPr indent="0" marL="0">
              <a:buNone/>
            </a:pPr>
            <a:r>
              <a:rPr lang="en-US" sz="1250" dirty="0">
                <a:solidFill>
                  <a:schemeClr val="tx1"/>
                </a:solidFill>
              </a:rPr>
              <a:t>Share of values MAPE uses (true value ≥ 10% of average)</a:t>
            </a:r>
            <a:endParaRPr lang="en-US" sz="1250" dirty="0"/>
          </a:p>
        </p:txBody>
      </p:sp>
      <p:sp>
        <p:nvSpPr>
          <p:cNvPr id="60" name="text-586"/>
          <p:cNvSpPr txBox="1"/>
          <p:nvPr/>
        </p:nvSpPr>
        <p:spPr>
          <a:xfrm>
            <a:off x="6446520" y="5440680"/>
            <a:ext cx="5196535" cy="594360"/>
          </a:xfrm>
          <a:prstGeom prst="rect">
            <a:avLst/>
          </a:prstGeom>
          <a:noFill/>
          <a:ln/>
        </p:spPr>
        <p:txBody>
          <a:bodyPr wrap="square" lIns="0" tIns="0" rIns="0" bIns="0" rtlCol="0" anchor="t"/>
          <a:lstStyle/>
          <a:p>
            <a:pPr indent="0" marL="0">
              <a:buNone/>
            </a:pPr>
            <a:r>
              <a:rPr lang="en-US" sz="1250" dirty="0">
                <a:solidFill>
                  <a:schemeClr val="accent3"/>
                </a:solidFill>
              </a:rPr>
              <a:t>Validation data picks settings and stops training; test data is used once, at the end. Errors are measured in Mbit/s after undoing the scaling.</a:t>
            </a:r>
            <a:endParaRPr lang="en-US" sz="125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Results So Far: Baselines &amp; Single Models</a:t>
            </a:r>
            <a:endParaRPr lang="en-US" sz="3200" dirty="0"/>
          </a:p>
        </p:txBody>
      </p:sp>
      <p:graphicFrame>
        <p:nvGraphicFramePr>
          <p:cNvPr id="3" name="mae-chart-587" descr=""/>
          <p:cNvGraphicFramePr/>
          <p:nvPr/>
        </p:nvGraphicFramePr>
        <p:xfrm>
          <a:off x="548640" y="1188720"/>
          <a:ext cx="6492240" cy="4572000"/>
        </p:xfrm>
        <a:graphic xmlns:a="http://schemas.openxmlformats.org/drawingml/2006/main">
          <a:graphicData uri="http://schemas.openxmlformats.org/drawingml/2006/chart">
            <c:chart xmlns:c="http://schemas.openxmlformats.org/drawingml/2006/chart" r:id="rId1"/>
          </a:graphicData>
        </a:graphic>
      </p:graphicFrame>
      <p:sp>
        <p:nvSpPr>
          <p:cNvPr id="4" name="text-588"/>
          <p:cNvSpPr txBox="1"/>
          <p:nvPr/>
        </p:nvSpPr>
        <p:spPr>
          <a:xfrm>
            <a:off x="7315200" y="1188720"/>
            <a:ext cx="1417320" cy="731520"/>
          </a:xfrm>
          <a:prstGeom prst="rect">
            <a:avLst/>
          </a:prstGeom>
          <a:noFill/>
          <a:ln/>
        </p:spPr>
        <p:txBody>
          <a:bodyPr wrap="square" lIns="0" tIns="0" rIns="0" bIns="0" rtlCol="0" anchor="ctr"/>
          <a:lstStyle/>
          <a:p>
            <a:pPr indent="0" marL="0">
              <a:buNone/>
            </a:pPr>
            <a:r>
              <a:rPr lang="en-US" sz="3200" b="1" dirty="0">
                <a:solidFill>
                  <a:schemeClr val="accent5"/>
                </a:solidFill>
                <a:latin typeface="Cambria" pitchFamily="34" charset="0"/>
                <a:ea typeface="Cambria" pitchFamily="34" charset="-122"/>
                <a:cs typeface="Cambria" pitchFamily="34" charset="-120"/>
              </a:rPr>
              <a:t>2.8×</a:t>
            </a:r>
            <a:endParaRPr lang="en-US" sz="3200" dirty="0"/>
          </a:p>
        </p:txBody>
      </p:sp>
      <p:sp>
        <p:nvSpPr>
          <p:cNvPr id="5" name="text-589"/>
          <p:cNvSpPr txBox="1"/>
          <p:nvPr/>
        </p:nvSpPr>
        <p:spPr>
          <a:xfrm>
            <a:off x="8778240" y="1261872"/>
            <a:ext cx="2864815" cy="274320"/>
          </a:xfrm>
          <a:prstGeom prst="rect">
            <a:avLst/>
          </a:prstGeom>
          <a:noFill/>
          <a:ln/>
        </p:spPr>
        <p:txBody>
          <a:bodyPr wrap="square" lIns="0" tIns="0" rIns="0" bIns="0" rtlCol="0" anchor="t"/>
          <a:lstStyle/>
          <a:p>
            <a:pPr indent="0" marL="0">
              <a:buNone/>
            </a:pPr>
            <a:r>
              <a:rPr lang="en-US" sz="1400" b="1" dirty="0">
                <a:solidFill>
                  <a:schemeClr val="tx2"/>
                </a:solidFill>
              </a:rPr>
              <a:t>worse than persistence</a:t>
            </a:r>
            <a:endParaRPr lang="en-US" sz="1400" dirty="0"/>
          </a:p>
        </p:txBody>
      </p:sp>
      <p:sp>
        <p:nvSpPr>
          <p:cNvPr id="6" name="text-590"/>
          <p:cNvSpPr txBox="1"/>
          <p:nvPr/>
        </p:nvSpPr>
        <p:spPr>
          <a:xfrm>
            <a:off x="8778240" y="1554480"/>
            <a:ext cx="2864815" cy="274320"/>
          </a:xfrm>
          <a:prstGeom prst="rect">
            <a:avLst/>
          </a:prstGeom>
          <a:noFill/>
          <a:ln/>
        </p:spPr>
        <p:txBody>
          <a:bodyPr wrap="square" lIns="0" tIns="0" rIns="0" bIns="0" rtlCol="0" anchor="t"/>
          <a:lstStyle/>
          <a:p>
            <a:pPr indent="0" marL="0">
              <a:buNone/>
            </a:pPr>
            <a:r>
              <a:rPr lang="en-US" sz="1250" dirty="0">
                <a:solidFill>
                  <a:schemeClr val="accent3"/>
                </a:solidFill>
              </a:rPr>
              <a:t>LSTM-only, as planned (9.076)</a:t>
            </a:r>
            <a:endParaRPr lang="en-US" sz="1250" dirty="0"/>
          </a:p>
        </p:txBody>
      </p:sp>
      <p:sp>
        <p:nvSpPr>
          <p:cNvPr id="7" name="text-591"/>
          <p:cNvSpPr txBox="1"/>
          <p:nvPr/>
        </p:nvSpPr>
        <p:spPr>
          <a:xfrm>
            <a:off x="7315200" y="2057400"/>
            <a:ext cx="1417320" cy="731520"/>
          </a:xfrm>
          <a:prstGeom prst="rect">
            <a:avLst/>
          </a:prstGeom>
          <a:noFill/>
          <a:ln/>
        </p:spPr>
        <p:txBody>
          <a:bodyPr wrap="square" lIns="0" tIns="0" rIns="0" bIns="0" rtlCol="0" anchor="ctr"/>
          <a:lstStyle/>
          <a:p>
            <a:pPr indent="0" marL="0">
              <a:buNone/>
            </a:pPr>
            <a:r>
              <a:rPr lang="en-US" sz="3200" b="1" dirty="0">
                <a:solidFill>
                  <a:schemeClr val="accent5"/>
                </a:solidFill>
                <a:latin typeface="Cambria" pitchFamily="34" charset="0"/>
                <a:ea typeface="Cambria" pitchFamily="34" charset="-122"/>
                <a:cs typeface="Cambria" pitchFamily="34" charset="-120"/>
              </a:rPr>
              <a:t>3.4×</a:t>
            </a:r>
            <a:endParaRPr lang="en-US" sz="3200" dirty="0"/>
          </a:p>
        </p:txBody>
      </p:sp>
      <p:sp>
        <p:nvSpPr>
          <p:cNvPr id="8" name="text-592"/>
          <p:cNvSpPr txBox="1"/>
          <p:nvPr/>
        </p:nvSpPr>
        <p:spPr>
          <a:xfrm>
            <a:off x="8778240" y="2130552"/>
            <a:ext cx="2864815" cy="274320"/>
          </a:xfrm>
          <a:prstGeom prst="rect">
            <a:avLst/>
          </a:prstGeom>
          <a:noFill/>
          <a:ln/>
        </p:spPr>
        <p:txBody>
          <a:bodyPr wrap="square" lIns="0" tIns="0" rIns="0" bIns="0" rtlCol="0" anchor="t"/>
          <a:lstStyle/>
          <a:p>
            <a:pPr indent="0" marL="0">
              <a:buNone/>
            </a:pPr>
            <a:r>
              <a:rPr lang="en-US" sz="1400" b="1" dirty="0">
                <a:solidFill>
                  <a:schemeClr val="tx2"/>
                </a:solidFill>
              </a:rPr>
              <a:t>worse than persistence</a:t>
            </a:r>
            <a:endParaRPr lang="en-US" sz="1400" dirty="0"/>
          </a:p>
        </p:txBody>
      </p:sp>
      <p:sp>
        <p:nvSpPr>
          <p:cNvPr id="9" name="text-593"/>
          <p:cNvSpPr txBox="1"/>
          <p:nvPr/>
        </p:nvSpPr>
        <p:spPr>
          <a:xfrm>
            <a:off x="8778240" y="2423160"/>
            <a:ext cx="2864815" cy="274320"/>
          </a:xfrm>
          <a:prstGeom prst="rect">
            <a:avLst/>
          </a:prstGeom>
          <a:noFill/>
          <a:ln/>
        </p:spPr>
        <p:txBody>
          <a:bodyPr wrap="square" lIns="0" tIns="0" rIns="0" bIns="0" rtlCol="0" anchor="t"/>
          <a:lstStyle/>
          <a:p>
            <a:pPr indent="0" marL="0">
              <a:buNone/>
            </a:pPr>
            <a:r>
              <a:rPr lang="en-US" sz="1250" dirty="0">
                <a:solidFill>
                  <a:schemeClr val="accent3"/>
                </a:solidFill>
              </a:rPr>
              <a:t>CNN-only, as planned (10.821)</a:t>
            </a:r>
            <a:endParaRPr lang="en-US" sz="1250" dirty="0"/>
          </a:p>
        </p:txBody>
      </p:sp>
      <p:sp>
        <p:nvSpPr>
          <p:cNvPr id="10" name="text-594"/>
          <p:cNvSpPr txBox="1"/>
          <p:nvPr/>
        </p:nvSpPr>
        <p:spPr>
          <a:xfrm>
            <a:off x="7315200" y="2926080"/>
            <a:ext cx="1417320" cy="73152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 0.3%</a:t>
            </a:r>
            <a:endParaRPr lang="en-US" sz="3200" dirty="0"/>
          </a:p>
        </p:txBody>
      </p:sp>
      <p:sp>
        <p:nvSpPr>
          <p:cNvPr id="11" name="text-595"/>
          <p:cNvSpPr txBox="1"/>
          <p:nvPr/>
        </p:nvSpPr>
        <p:spPr>
          <a:xfrm>
            <a:off x="8778240" y="2999232"/>
            <a:ext cx="2864815" cy="274320"/>
          </a:xfrm>
          <a:prstGeom prst="rect">
            <a:avLst/>
          </a:prstGeom>
          <a:noFill/>
          <a:ln/>
        </p:spPr>
        <p:txBody>
          <a:bodyPr wrap="square" lIns="0" tIns="0" rIns="0" bIns="0" rtlCol="0" anchor="t"/>
          <a:lstStyle/>
          <a:p>
            <a:pPr indent="0" marL="0">
              <a:buNone/>
            </a:pPr>
            <a:r>
              <a:rPr lang="en-US" sz="1400" b="1" dirty="0">
                <a:solidFill>
                  <a:schemeClr val="tx2"/>
                </a:solidFill>
              </a:rPr>
              <a:t>from persistence</a:t>
            </a:r>
            <a:endParaRPr lang="en-US" sz="1400" dirty="0"/>
          </a:p>
        </p:txBody>
      </p:sp>
      <p:sp>
        <p:nvSpPr>
          <p:cNvPr id="12" name="text-596"/>
          <p:cNvSpPr txBox="1"/>
          <p:nvPr/>
        </p:nvSpPr>
        <p:spPr>
          <a:xfrm>
            <a:off x="8778240" y="3291840"/>
            <a:ext cx="2864815" cy="274320"/>
          </a:xfrm>
          <a:prstGeom prst="rect">
            <a:avLst/>
          </a:prstGeom>
          <a:noFill/>
          <a:ln/>
        </p:spPr>
        <p:txBody>
          <a:bodyPr wrap="square" lIns="0" tIns="0" rIns="0" bIns="0" rtlCol="0" anchor="t"/>
          <a:lstStyle/>
          <a:p>
            <a:pPr indent="0" marL="0">
              <a:buNone/>
            </a:pPr>
            <a:r>
              <a:rPr lang="en-US" sz="1250" dirty="0">
                <a:solidFill>
                  <a:schemeClr val="accent3"/>
                </a:solidFill>
              </a:rPr>
              <a:t>Residual LSTM 3.226 · residual CNN 3.222</a:t>
            </a:r>
            <a:endParaRPr lang="en-US" sz="1250" dirty="0"/>
          </a:p>
        </p:txBody>
      </p:sp>
      <p:sp>
        <p:nvSpPr>
          <p:cNvPr id="13" name="text-597"/>
          <p:cNvSpPr txBox="1"/>
          <p:nvPr/>
        </p:nvSpPr>
        <p:spPr>
          <a:xfrm>
            <a:off x="7315200" y="3840480"/>
            <a:ext cx="4327855" cy="274320"/>
          </a:xfrm>
          <a:prstGeom prst="rect">
            <a:avLst/>
          </a:prstGeom>
          <a:noFill/>
          <a:ln/>
        </p:spPr>
        <p:txBody>
          <a:bodyPr wrap="square" lIns="0" tIns="0" rIns="0" bIns="0" rtlCol="0" anchor="t"/>
          <a:lstStyle/>
          <a:p>
            <a:pPr indent="0" marL="0">
              <a:buNone/>
            </a:pPr>
            <a:r>
              <a:rPr lang="en-US" sz="1400" b="1" dirty="0">
                <a:solidFill>
                  <a:schemeClr val="tx2"/>
                </a:solidFill>
              </a:rPr>
              <a:t>5 busiest flows only (test MAE, Mbit/s)</a:t>
            </a:r>
            <a:endParaRPr lang="en-US" sz="1400" dirty="0"/>
          </a:p>
        </p:txBody>
      </p:sp>
      <p:graphicFrame>
        <p:nvGraphicFramePr>
          <p:cNvPr id="8" name="top5-598"/>
          <p:cNvGraphicFramePr>
            <a:graphicFrameLocks noGrp="1"/>
          </p:cNvGraphicFramePr>
          <p:nvPr>
            <p:extLst>
              <p:ext uri="{D42A27DB-BD31-4B8C-83A1-F6EECF244321}">
                <p14:modId xmlns:p14="http://schemas.microsoft.com/office/powerpoint/2010/main" val="1579011935"/>
              </p:ext>
            </p:extLst>
          </p:nvPr>
        </p:nvGraphicFramePr>
        <p:xfrm>
          <a:off x="7315200" y="4160520"/>
          <a:ext cx="4327855" cy="914400"/>
        </p:xfrm>
        <a:graphic>
          <a:graphicData uri="http://schemas.openxmlformats.org/drawingml/2006/table">
            <a:tbl>
              <a:tblPr/>
              <a:tblGrid>
                <a:gridCol w="3322015"/>
                <a:gridCol w="1005840"/>
              </a:tblGrid>
              <a:tr h="310896">
                <a:tc>
                  <a:txBody>
                    <a:bodyPr/>
                    <a:lstStyle/>
                    <a:p>
                      <a:pPr indent="0" marL="0">
                        <a:buNone/>
                      </a:pPr>
                      <a:r>
                        <a:rPr lang="en-US" sz="1300" dirty="0">
                          <a:solidFill>
                            <a:schemeClr val="tx1"/>
                          </a:solidFill>
                        </a:rPr>
                        <a:t>Persistence</a:t>
                      </a:r>
                      <a:endParaRPr lang="en-US" sz="1300" dirty="0"/>
                    </a:p>
                  </a:txBody>
                  <a:tcPr marL="73152" marR="73152" marT="27432" marB="27432"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21.28</a:t>
                      </a:r>
                      <a:endParaRPr lang="en-US" sz="1300" dirty="0"/>
                    </a:p>
                  </a:txBody>
                  <a:tcPr marL="73152" marR="73152" marT="27432" marB="27432"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r>
              <a:tr h="310896">
                <a:tc>
                  <a:txBody>
                    <a:bodyPr/>
                    <a:lstStyle/>
                    <a:p>
                      <a:pPr indent="0" marL="0">
                        <a:buNone/>
                      </a:pPr>
                      <a:r>
                        <a:rPr lang="en-US" sz="1300" dirty="0">
                          <a:solidFill>
                            <a:schemeClr val="tx1"/>
                          </a:solidFill>
                        </a:rPr>
                        <a:t>ARIMA</a:t>
                      </a:r>
                      <a:endParaRPr lang="en-US" sz="1300" dirty="0"/>
                    </a:p>
                  </a:txBody>
                  <a:tcPr marL="73152" marR="73152" marT="27432" marB="27432"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21.87</a:t>
                      </a:r>
                      <a:endParaRPr lang="en-US" sz="1300" dirty="0"/>
                    </a:p>
                  </a:txBody>
                  <a:tcPr marL="73152" marR="73152" marT="27432" marB="27432"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r>
              <a:tr h="310896">
                <a:tc>
                  <a:txBody>
                    <a:bodyPr/>
                    <a:lstStyle/>
                    <a:p>
                      <a:pPr indent="0" marL="0">
                        <a:buNone/>
                      </a:pPr>
                      <a:r>
                        <a:rPr lang="en-US" sz="1300" b="1" dirty="0">
                          <a:solidFill>
                            <a:schemeClr val="accent1"/>
                          </a:solidFill>
                        </a:rPr>
                        <a:t>LSTM-only, residual (best)</a:t>
                      </a:r>
                      <a:endParaRPr lang="en-US" sz="1300" dirty="0"/>
                    </a:p>
                  </a:txBody>
                  <a:tcPr marL="73152" marR="73152" marT="27432" marB="27432"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accent1"/>
                          </a:solidFill>
                        </a:rPr>
                        <a:t>21.25</a:t>
                      </a:r>
                      <a:endParaRPr lang="en-US" sz="1300" dirty="0"/>
                    </a:p>
                  </a:txBody>
                  <a:tcPr marL="73152" marR="73152" marT="27432" marB="27432"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r>
              <a:tr h="310896">
                <a:tc>
                  <a:txBody>
                    <a:bodyPr/>
                    <a:lstStyle/>
                    <a:p>
                      <a:pPr indent="0" marL="0">
                        <a:buNone/>
                      </a:pPr>
                      <a:r>
                        <a:rPr lang="en-US" sz="1300" dirty="0">
                          <a:solidFill>
                            <a:schemeClr val="tx1"/>
                          </a:solidFill>
                        </a:rPr>
                        <a:t>CNN-only, residual</a:t>
                      </a:r>
                      <a:endParaRPr lang="en-US" sz="1300" dirty="0"/>
                    </a:p>
                  </a:txBody>
                  <a:tcPr marL="73152" marR="73152" marT="27432" marB="27432"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21.31</a:t>
                      </a:r>
                      <a:endParaRPr lang="en-US" sz="1300" dirty="0"/>
                    </a:p>
                  </a:txBody>
                  <a:tcPr marL="73152" marR="73152" marT="27432" marB="27432"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bg1"/>
                    </a:solidFill>
                  </a:tcPr>
                </a:tc>
              </a:tr>
            </a:tbl>
          </a:graphicData>
        </a:graphic>
      </p:graphicFrame>
      <p:sp>
        <p:nvSpPr>
          <p:cNvPr id="15" name="card-599"/>
          <p:cNvSpPr/>
          <p:nvPr/>
        </p:nvSpPr>
        <p:spPr>
          <a:xfrm>
            <a:off x="548640" y="5870448"/>
            <a:ext cx="11094415" cy="411480"/>
          </a:xfrm>
          <a:prstGeom prst="roundRect">
            <a:avLst>
              <a:gd name="adj" fmla="val 17778"/>
            </a:avLst>
          </a:prstGeom>
          <a:solidFill>
            <a:schemeClr val="bg1"/>
          </a:solidFill>
          <a:ln w="19050">
            <a:solidFill>
              <a:schemeClr val="accent2"/>
            </a:solidFill>
            <a:prstDash val="dash"/>
          </a:ln>
        </p:spPr>
      </p:sp>
      <p:sp>
        <p:nvSpPr>
          <p:cNvPr id="16" name="text-600"/>
          <p:cNvSpPr txBox="1"/>
          <p:nvPr/>
        </p:nvSpPr>
        <p:spPr>
          <a:xfrm>
            <a:off x="731520" y="5870448"/>
            <a:ext cx="10728655" cy="411480"/>
          </a:xfrm>
          <a:prstGeom prst="rect">
            <a:avLst/>
          </a:prstGeom>
          <a:noFill/>
          <a:ln/>
        </p:spPr>
        <p:txBody>
          <a:bodyPr wrap="square" lIns="0" tIns="0" rIns="0" bIns="0" rtlCol="0" anchor="ctr"/>
          <a:lstStyle/>
          <a:p>
            <a:pPr indent="0" marL="0">
              <a:buNone/>
            </a:pPr>
            <a:r>
              <a:rPr lang="en-US" sz="1300" b="1" dirty="0">
                <a:solidFill>
                  <a:schemeClr val="accent2"/>
                </a:solidFill>
              </a:rPr>
              <a:t>Not yet done: </a:t>
            </a:r>
            <a:pPr indent="0" marL="0">
              <a:buNone/>
            </a:pPr>
            <a:r>
              <a:rPr lang="en-US" sz="1300" dirty="0">
                <a:solidFill>
                  <a:schemeClr val="tx1"/>
                </a:solidFill>
              </a:rPr>
              <a:t>the CNN-LSTM hybrid has not been trained (Phase 4), so no CNN-LSTM result is claimed here.</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Key Findings &amp; Analysis</a:t>
            </a:r>
            <a:endParaRPr lang="en-US" sz="3200" dirty="0"/>
          </a:p>
        </p:txBody>
      </p:sp>
      <p:sp>
        <p:nvSpPr>
          <p:cNvPr id="3" name="card-601"/>
          <p:cNvSpPr/>
          <p:nvPr/>
        </p:nvSpPr>
        <p:spPr>
          <a:xfrm>
            <a:off x="548640" y="1234440"/>
            <a:ext cx="4480560" cy="4800600"/>
          </a:xfrm>
          <a:prstGeom prst="roundRect">
            <a:avLst>
              <a:gd name="adj" fmla="val 163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4" name="text-602"/>
          <p:cNvSpPr txBox="1"/>
          <p:nvPr/>
        </p:nvSpPr>
        <p:spPr>
          <a:xfrm>
            <a:off x="822960" y="1371600"/>
            <a:ext cx="3931920" cy="365760"/>
          </a:xfrm>
          <a:prstGeom prst="rect">
            <a:avLst/>
          </a:prstGeom>
          <a:noFill/>
          <a:ln/>
        </p:spPr>
        <p:txBody>
          <a:bodyPr wrap="square" lIns="0" tIns="0" rIns="0" bIns="0" rtlCol="0" anchor="t"/>
          <a:lstStyle/>
          <a:p>
            <a:pPr indent="0" marL="0">
              <a:buNone/>
            </a:pPr>
            <a:r>
              <a:rPr lang="en-US" sz="1700" b="1" dirty="0">
                <a:solidFill>
                  <a:schemeClr val="tx2"/>
                </a:solidFill>
              </a:rPr>
              <a:t>Residual learning</a:t>
            </a:r>
            <a:endParaRPr lang="en-US" sz="1700" dirty="0"/>
          </a:p>
        </p:txBody>
      </p:sp>
      <p:sp>
        <p:nvSpPr>
          <p:cNvPr id="5" name="cur-603"/>
          <p:cNvSpPr/>
          <p:nvPr/>
        </p:nvSpPr>
        <p:spPr>
          <a:xfrm>
            <a:off x="960120" y="1874520"/>
            <a:ext cx="3657600" cy="685800"/>
          </a:xfrm>
          <a:prstGeom prst="roundRect">
            <a:avLst>
              <a:gd name="adj" fmla="val 10667"/>
            </a:avLst>
          </a:prstGeom>
          <a:solidFill>
            <a:schemeClr val="accent2"/>
          </a:solidFill>
          <a:ln w="12700">
            <a:solidFill>
              <a:schemeClr val="accent2"/>
            </a:solidFill>
            <a:prstDash val="solid"/>
          </a:ln>
        </p:spPr>
      </p:sp>
      <p:sp>
        <p:nvSpPr>
          <p:cNvPr id="6" name="text-604"/>
          <p:cNvSpPr txBox="1"/>
          <p:nvPr/>
        </p:nvSpPr>
        <p:spPr>
          <a:xfrm>
            <a:off x="960120" y="1874520"/>
            <a:ext cx="3657600" cy="685800"/>
          </a:xfrm>
          <a:prstGeom prst="rect">
            <a:avLst/>
          </a:prstGeom>
          <a:noFill/>
          <a:ln/>
        </p:spPr>
        <p:txBody>
          <a:bodyPr wrap="square" lIns="0" tIns="0" rIns="0" bIns="0" rtlCol="0" anchor="ctr"/>
          <a:lstStyle/>
          <a:p>
            <a:pPr algn="ctr" indent="0" marL="0">
              <a:buNone/>
            </a:pPr>
            <a:r>
              <a:rPr lang="en-US" sz="1500" b="1" dirty="0">
                <a:solidFill>
                  <a:schemeClr val="bg1"/>
                </a:solidFill>
              </a:rPr>
              <a:t>Current value</a:t>
            </a:r>
            <a:endParaRPr lang="en-US" sz="1500" dirty="0"/>
          </a:p>
          <a:p>
            <a:pPr algn="ctr" indent="0" marL="0">
              <a:buNone/>
            </a:pPr>
            <a:r>
              <a:rPr lang="en-US" sz="1500" b="1" dirty="0">
                <a:solidFill>
                  <a:schemeClr val="bg1"/>
                </a:solidFill>
              </a:rPr>
              <a:t>(persistence)</a:t>
            </a:r>
            <a:endParaRPr lang="en-US" sz="1500" dirty="0"/>
          </a:p>
        </p:txBody>
      </p:sp>
      <p:sp>
        <p:nvSpPr>
          <p:cNvPr id="7" name="icon-bg-605"/>
          <p:cNvSpPr/>
          <p:nvPr/>
        </p:nvSpPr>
        <p:spPr>
          <a:xfrm>
            <a:off x="2560320" y="2697480"/>
            <a:ext cx="457200" cy="457200"/>
          </a:xfrm>
          <a:prstGeom prst="ellipse">
            <a:avLst/>
          </a:prstGeom>
          <a:solidFill>
            <a:schemeClr val="accent3"/>
          </a:solidFill>
          <a:ln w="12700">
            <a:solidFill>
              <a:schemeClr val="accent3"/>
            </a:solidFill>
            <a:prstDash val="solid"/>
          </a:ln>
        </p:spPr>
      </p:sp>
      <p:pic>
        <p:nvPicPr>
          <p:cNvPr id="8" name="icon-606" descr="preencoded.png">    </p:cNvPr>
          <p:cNvPicPr>
            <a:picLocks noChangeAspect="1"/>
          </p:cNvPicPr>
          <p:nvPr/>
        </p:nvPicPr>
        <p:blipFill>
          <a:blip r:embed="rId1"/>
          <a:stretch>
            <a:fillRect/>
          </a:stretch>
        </p:blipFill>
        <p:spPr>
          <a:xfrm>
            <a:off x="2670048" y="2807208"/>
            <a:ext cx="237744" cy="237744"/>
          </a:xfrm>
          <a:prstGeom prst="rect">
            <a:avLst/>
          </a:prstGeom>
        </p:spPr>
      </p:pic>
      <p:sp>
        <p:nvSpPr>
          <p:cNvPr id="9" name="corr-607"/>
          <p:cNvSpPr/>
          <p:nvPr/>
        </p:nvSpPr>
        <p:spPr>
          <a:xfrm>
            <a:off x="960120" y="3291840"/>
            <a:ext cx="3657600" cy="685800"/>
          </a:xfrm>
          <a:prstGeom prst="roundRect">
            <a:avLst>
              <a:gd name="adj" fmla="val 10667"/>
            </a:avLst>
          </a:prstGeom>
          <a:solidFill>
            <a:schemeClr val="accent1"/>
          </a:solidFill>
          <a:ln w="12700">
            <a:solidFill>
              <a:schemeClr val="accent1"/>
            </a:solidFill>
            <a:prstDash val="solid"/>
          </a:ln>
        </p:spPr>
      </p:sp>
      <p:sp>
        <p:nvSpPr>
          <p:cNvPr id="10" name="text-608"/>
          <p:cNvSpPr txBox="1"/>
          <p:nvPr/>
        </p:nvSpPr>
        <p:spPr>
          <a:xfrm>
            <a:off x="960120" y="3291840"/>
            <a:ext cx="3657600" cy="685800"/>
          </a:xfrm>
          <a:prstGeom prst="rect">
            <a:avLst/>
          </a:prstGeom>
          <a:noFill/>
          <a:ln/>
        </p:spPr>
        <p:txBody>
          <a:bodyPr wrap="square" lIns="0" tIns="0" rIns="0" bIns="0" rtlCol="0" anchor="ctr"/>
          <a:lstStyle/>
          <a:p>
            <a:pPr algn="ctr" indent="0" marL="0">
              <a:buNone/>
            </a:pPr>
            <a:r>
              <a:rPr lang="en-US" sz="1500" b="1" dirty="0">
                <a:solidFill>
                  <a:schemeClr val="bg1"/>
                </a:solidFill>
              </a:rPr>
              <a:t>Learned correction</a:t>
            </a:r>
            <a:endParaRPr lang="en-US" sz="1500" dirty="0"/>
          </a:p>
          <a:p>
            <a:pPr algn="ctr" indent="0" marL="0">
              <a:buNone/>
            </a:pPr>
            <a:r>
              <a:rPr lang="en-US" sz="1500" b="1" dirty="0">
                <a:solidFill>
                  <a:schemeClr val="bg1"/>
                </a:solidFill>
              </a:rPr>
              <a:t>(network output, starts at 0)</a:t>
            </a:r>
            <a:endParaRPr lang="en-US" sz="1500" dirty="0"/>
          </a:p>
        </p:txBody>
      </p:sp>
      <p:sp>
        <p:nvSpPr>
          <p:cNvPr id="11" name="arrow-609"/>
          <p:cNvSpPr/>
          <p:nvPr/>
        </p:nvSpPr>
        <p:spPr>
          <a:xfrm>
            <a:off x="2788920" y="4041648"/>
            <a:ext cx="91" cy="365760"/>
          </a:xfrm>
          <a:prstGeom prst="line">
            <a:avLst/>
          </a:prstGeom>
          <a:noFill/>
          <a:ln w="28575">
            <a:solidFill>
              <a:schemeClr val="accent3"/>
            </a:solidFill>
            <a:prstDash val="solid"/>
            <a:tailEnd type="triangle"/>
          </a:ln>
        </p:spPr>
      </p:sp>
      <p:sp>
        <p:nvSpPr>
          <p:cNvPr id="12" name="pred-610"/>
          <p:cNvSpPr/>
          <p:nvPr/>
        </p:nvSpPr>
        <p:spPr>
          <a:xfrm>
            <a:off x="960120" y="4462272"/>
            <a:ext cx="3657600" cy="566928"/>
          </a:xfrm>
          <a:prstGeom prst="roundRect">
            <a:avLst>
              <a:gd name="adj" fmla="val 12903"/>
            </a:avLst>
          </a:prstGeom>
          <a:solidFill>
            <a:schemeClr val="tx2"/>
          </a:solidFill>
          <a:ln w="12700">
            <a:solidFill>
              <a:schemeClr val="tx2"/>
            </a:solidFill>
            <a:prstDash val="solid"/>
          </a:ln>
        </p:spPr>
      </p:sp>
      <p:sp>
        <p:nvSpPr>
          <p:cNvPr id="13" name="text-611"/>
          <p:cNvSpPr txBox="1"/>
          <p:nvPr/>
        </p:nvSpPr>
        <p:spPr>
          <a:xfrm>
            <a:off x="960120" y="4462272"/>
            <a:ext cx="3657600" cy="566928"/>
          </a:xfrm>
          <a:prstGeom prst="rect">
            <a:avLst/>
          </a:prstGeom>
          <a:noFill/>
          <a:ln/>
        </p:spPr>
        <p:txBody>
          <a:bodyPr wrap="square" lIns="0" tIns="0" rIns="0" bIns="0" rtlCol="0" anchor="ctr"/>
          <a:lstStyle/>
          <a:p>
            <a:pPr algn="ctr" indent="0" marL="0">
              <a:buNone/>
            </a:pPr>
            <a:r>
              <a:rPr lang="en-US" sz="1500" b="1" dirty="0">
                <a:solidFill>
                  <a:schemeClr val="bg1"/>
                </a:solidFill>
              </a:rPr>
              <a:t>Future prediction</a:t>
            </a:r>
            <a:endParaRPr lang="en-US" sz="1500" dirty="0"/>
          </a:p>
        </p:txBody>
      </p:sp>
      <p:sp>
        <p:nvSpPr>
          <p:cNvPr id="14" name="text-612"/>
          <p:cNvSpPr txBox="1"/>
          <p:nvPr/>
        </p:nvSpPr>
        <p:spPr>
          <a:xfrm>
            <a:off x="822960" y="5212080"/>
            <a:ext cx="4023360" cy="320040"/>
          </a:xfrm>
          <a:prstGeom prst="rect">
            <a:avLst/>
          </a:prstGeom>
          <a:noFill/>
          <a:ln/>
        </p:spPr>
        <p:txBody>
          <a:bodyPr wrap="square" lIns="0" tIns="0" rIns="0" bIns="0" rtlCol="0" anchor="t"/>
          <a:lstStyle/>
          <a:p>
            <a:pPr indent="0" marL="0">
              <a:buNone/>
            </a:pPr>
            <a:r>
              <a:rPr lang="en-US" sz="1400" dirty="0">
                <a:solidFill>
                  <a:schemeClr val="tx1"/>
                </a:solidFill>
              </a:rPr>
              <a:t>LSTM-only test MAE:  </a:t>
            </a:r>
            <a:pPr indent="0" marL="0">
              <a:buNone/>
            </a:pPr>
            <a:r>
              <a:rPr lang="en-US" sz="1400" b="1" dirty="0">
                <a:solidFill>
                  <a:schemeClr val="accent1"/>
                </a:solidFill>
              </a:rPr>
              <a:t>9.076 → 3.226 Mbit/s</a:t>
            </a:r>
            <a:endParaRPr lang="en-US" sz="1400" dirty="0"/>
          </a:p>
        </p:txBody>
      </p:sp>
      <p:sp>
        <p:nvSpPr>
          <p:cNvPr id="15" name="text-613"/>
          <p:cNvSpPr txBox="1"/>
          <p:nvPr/>
        </p:nvSpPr>
        <p:spPr>
          <a:xfrm>
            <a:off x="822960" y="5532120"/>
            <a:ext cx="4023360" cy="274320"/>
          </a:xfrm>
          <a:prstGeom prst="rect">
            <a:avLst/>
          </a:prstGeom>
          <a:noFill/>
          <a:ln/>
        </p:spPr>
        <p:txBody>
          <a:bodyPr wrap="square" lIns="0" tIns="0" rIns="0" bIns="0" rtlCol="0" anchor="t"/>
          <a:lstStyle/>
          <a:p>
            <a:pPr indent="0" marL="0">
              <a:buNone/>
            </a:pPr>
            <a:r>
              <a:rPr lang="en-US" sz="1200" dirty="0">
                <a:solidFill>
                  <a:schemeClr val="accent3"/>
                </a:solidFill>
              </a:rPr>
              <a:t>(as planned → residual)</a:t>
            </a:r>
            <a:endParaRPr lang="en-US" sz="1200" dirty="0"/>
          </a:p>
        </p:txBody>
      </p:sp>
      <p:sp>
        <p:nvSpPr>
          <p:cNvPr id="16" name="card-614"/>
          <p:cNvSpPr/>
          <p:nvPr/>
        </p:nvSpPr>
        <p:spPr>
          <a:xfrm>
            <a:off x="5349240" y="1234440"/>
            <a:ext cx="3032608" cy="1069848"/>
          </a:xfrm>
          <a:prstGeom prst="roundRect">
            <a:avLst>
              <a:gd name="adj" fmla="val 6838"/>
            </a:avLst>
          </a:prstGeom>
          <a:solidFill>
            <a:schemeClr val="bg1"/>
          </a:solidFill>
          <a:ln w="9525">
            <a:solidFill>
              <a:srgbClr val="D5DEE3"/>
            </a:solidFill>
            <a:prstDash val="solid"/>
          </a:ln>
          <a:effectLst>
            <a:outerShdw sx="100000" sy="100000" kx="0" ky="0" algn="bl" rotWithShape="0" blurRad="76200" dist="25400" dir="5400000">
              <a:srgbClr val="000000">
                <a:alpha val="12000"/>
              </a:srgbClr>
            </a:outerShdw>
          </a:effectLst>
        </p:spPr>
      </p:sp>
      <p:sp>
        <p:nvSpPr>
          <p:cNvPr id="17" name="num-615"/>
          <p:cNvSpPr/>
          <p:nvPr/>
        </p:nvSpPr>
        <p:spPr>
          <a:xfrm>
            <a:off x="5486400" y="1389888"/>
            <a:ext cx="384048" cy="384048"/>
          </a:xfrm>
          <a:prstGeom prst="ellipse">
            <a:avLst/>
          </a:prstGeom>
          <a:solidFill>
            <a:schemeClr val="accent1"/>
          </a:solidFill>
          <a:ln w="12700">
            <a:solidFill>
              <a:schemeClr val="bg1"/>
            </a:solidFill>
            <a:prstDash val="solid"/>
          </a:ln>
        </p:spPr>
      </p:sp>
      <p:sp>
        <p:nvSpPr>
          <p:cNvPr id="18" name="text-616"/>
          <p:cNvSpPr txBox="1"/>
          <p:nvPr/>
        </p:nvSpPr>
        <p:spPr>
          <a:xfrm>
            <a:off x="5486400" y="13898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9" name="text-617"/>
          <p:cNvSpPr txBox="1"/>
          <p:nvPr/>
        </p:nvSpPr>
        <p:spPr>
          <a:xfrm>
            <a:off x="5989320" y="1325880"/>
            <a:ext cx="2255368" cy="886968"/>
          </a:xfrm>
          <a:prstGeom prst="rect">
            <a:avLst/>
          </a:prstGeom>
          <a:noFill/>
          <a:ln/>
        </p:spPr>
        <p:txBody>
          <a:bodyPr wrap="square" lIns="0" tIns="0" rIns="0" bIns="0" rtlCol="0" anchor="ctr"/>
          <a:lstStyle/>
          <a:p>
            <a:pPr indent="0" marL="0">
              <a:buNone/>
            </a:pPr>
            <a:r>
              <a:rPr lang="en-US" sz="1350" dirty="0">
                <a:solidFill>
                  <a:schemeClr val="tx1"/>
                </a:solidFill>
              </a:rPr>
              <a:t>Persistence is a very strong baseline at 5-minute steps.</a:t>
            </a:r>
            <a:endParaRPr lang="en-US" sz="1350" dirty="0"/>
          </a:p>
        </p:txBody>
      </p:sp>
      <p:sp>
        <p:nvSpPr>
          <p:cNvPr id="20" name="card-618"/>
          <p:cNvSpPr/>
          <p:nvPr/>
        </p:nvSpPr>
        <p:spPr>
          <a:xfrm>
            <a:off x="5349240" y="2478024"/>
            <a:ext cx="3032608" cy="1069848"/>
          </a:xfrm>
          <a:prstGeom prst="roundRect">
            <a:avLst>
              <a:gd name="adj" fmla="val 6838"/>
            </a:avLst>
          </a:prstGeom>
          <a:solidFill>
            <a:schemeClr val="bg1"/>
          </a:solidFill>
          <a:ln w="9525">
            <a:solidFill>
              <a:srgbClr val="D5DEE3"/>
            </a:solidFill>
            <a:prstDash val="solid"/>
          </a:ln>
          <a:effectLst>
            <a:outerShdw sx="100000" sy="100000" kx="0" ky="0" algn="bl" rotWithShape="0" blurRad="76200" dist="25400" dir="5400000">
              <a:srgbClr val="000000">
                <a:alpha val="12000"/>
              </a:srgbClr>
            </a:outerShdw>
          </a:effectLst>
        </p:spPr>
      </p:sp>
      <p:sp>
        <p:nvSpPr>
          <p:cNvPr id="21" name="num-619"/>
          <p:cNvSpPr/>
          <p:nvPr/>
        </p:nvSpPr>
        <p:spPr>
          <a:xfrm>
            <a:off x="5486400" y="2633472"/>
            <a:ext cx="384048" cy="384048"/>
          </a:xfrm>
          <a:prstGeom prst="ellipse">
            <a:avLst/>
          </a:prstGeom>
          <a:solidFill>
            <a:schemeClr val="accent1"/>
          </a:solidFill>
          <a:ln w="12700">
            <a:solidFill>
              <a:schemeClr val="bg1"/>
            </a:solidFill>
            <a:prstDash val="solid"/>
          </a:ln>
        </p:spPr>
      </p:sp>
      <p:sp>
        <p:nvSpPr>
          <p:cNvPr id="22" name="text-620"/>
          <p:cNvSpPr txBox="1"/>
          <p:nvPr/>
        </p:nvSpPr>
        <p:spPr>
          <a:xfrm>
            <a:off x="5486400" y="26334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3" name="text-621"/>
          <p:cNvSpPr txBox="1"/>
          <p:nvPr/>
        </p:nvSpPr>
        <p:spPr>
          <a:xfrm>
            <a:off x="5989320" y="2569464"/>
            <a:ext cx="2255368" cy="886968"/>
          </a:xfrm>
          <a:prstGeom prst="rect">
            <a:avLst/>
          </a:prstGeom>
          <a:noFill/>
          <a:ln/>
        </p:spPr>
        <p:txBody>
          <a:bodyPr wrap="square" lIns="0" tIns="0" rIns="0" bIns="0" rtlCol="0" anchor="ctr"/>
          <a:lstStyle/>
          <a:p>
            <a:pPr indent="0" marL="0">
              <a:buNone/>
            </a:pPr>
            <a:r>
              <a:rPr lang="en-US" sz="1350" dirty="0">
                <a:solidFill>
                  <a:schemeClr val="tx1"/>
                </a:solidFill>
              </a:rPr>
              <a:t>Predicting the traffic level from scratch performed poorly (2.8–3.4× worse).</a:t>
            </a:r>
            <a:endParaRPr lang="en-US" sz="1350" dirty="0"/>
          </a:p>
        </p:txBody>
      </p:sp>
      <p:sp>
        <p:nvSpPr>
          <p:cNvPr id="24" name="card-622"/>
          <p:cNvSpPr/>
          <p:nvPr/>
        </p:nvSpPr>
        <p:spPr>
          <a:xfrm>
            <a:off x="5349240" y="3721608"/>
            <a:ext cx="3032608" cy="1069848"/>
          </a:xfrm>
          <a:prstGeom prst="roundRect">
            <a:avLst>
              <a:gd name="adj" fmla="val 6838"/>
            </a:avLst>
          </a:prstGeom>
          <a:solidFill>
            <a:schemeClr val="bg1"/>
          </a:solidFill>
          <a:ln w="9525">
            <a:solidFill>
              <a:srgbClr val="D5DEE3"/>
            </a:solidFill>
            <a:prstDash val="solid"/>
          </a:ln>
          <a:effectLst>
            <a:outerShdw sx="100000" sy="100000" kx="0" ky="0" algn="bl" rotWithShape="0" blurRad="76200" dist="25400" dir="5400000">
              <a:srgbClr val="000000">
                <a:alpha val="12000"/>
              </a:srgbClr>
            </a:outerShdw>
          </a:effectLst>
        </p:spPr>
      </p:sp>
      <p:sp>
        <p:nvSpPr>
          <p:cNvPr id="25" name="num-623"/>
          <p:cNvSpPr/>
          <p:nvPr/>
        </p:nvSpPr>
        <p:spPr>
          <a:xfrm>
            <a:off x="5486400" y="3877056"/>
            <a:ext cx="384048" cy="384048"/>
          </a:xfrm>
          <a:prstGeom prst="ellipse">
            <a:avLst/>
          </a:prstGeom>
          <a:solidFill>
            <a:schemeClr val="accent1"/>
          </a:solidFill>
          <a:ln w="12700">
            <a:solidFill>
              <a:schemeClr val="bg1"/>
            </a:solidFill>
            <a:prstDash val="solid"/>
          </a:ln>
        </p:spPr>
      </p:sp>
      <p:sp>
        <p:nvSpPr>
          <p:cNvPr id="26" name="text-624"/>
          <p:cNvSpPr txBox="1"/>
          <p:nvPr/>
        </p:nvSpPr>
        <p:spPr>
          <a:xfrm>
            <a:off x="5486400" y="38770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7" name="text-625"/>
          <p:cNvSpPr txBox="1"/>
          <p:nvPr/>
        </p:nvSpPr>
        <p:spPr>
          <a:xfrm>
            <a:off x="5989320" y="3813048"/>
            <a:ext cx="2255368" cy="886968"/>
          </a:xfrm>
          <a:prstGeom prst="rect">
            <a:avLst/>
          </a:prstGeom>
          <a:noFill/>
          <a:ln/>
        </p:spPr>
        <p:txBody>
          <a:bodyPr wrap="square" lIns="0" tIns="0" rIns="0" bIns="0" rtlCol="0" anchor="ctr"/>
          <a:lstStyle/>
          <a:p>
            <a:pPr indent="0" marL="0">
              <a:buNone/>
            </a:pPr>
            <a:r>
              <a:rPr lang="en-US" sz="1350" dirty="0">
                <a:solidFill>
                  <a:schemeClr val="tx1"/>
                </a:solidFill>
              </a:rPr>
              <a:t>Residual learning cut the error by about two thirds.</a:t>
            </a:r>
            <a:endParaRPr lang="en-US" sz="1350" dirty="0"/>
          </a:p>
        </p:txBody>
      </p:sp>
      <p:sp>
        <p:nvSpPr>
          <p:cNvPr id="28" name="card-626"/>
          <p:cNvSpPr/>
          <p:nvPr/>
        </p:nvSpPr>
        <p:spPr>
          <a:xfrm>
            <a:off x="5349240" y="4965192"/>
            <a:ext cx="3032608" cy="1069848"/>
          </a:xfrm>
          <a:prstGeom prst="roundRect">
            <a:avLst>
              <a:gd name="adj" fmla="val 6838"/>
            </a:avLst>
          </a:prstGeom>
          <a:solidFill>
            <a:schemeClr val="bg1"/>
          </a:solidFill>
          <a:ln w="9525">
            <a:solidFill>
              <a:srgbClr val="D5DEE3"/>
            </a:solidFill>
            <a:prstDash val="solid"/>
          </a:ln>
          <a:effectLst>
            <a:outerShdw sx="100000" sy="100000" kx="0" ky="0" algn="bl" rotWithShape="0" blurRad="76200" dist="25400" dir="5400000">
              <a:srgbClr val="000000">
                <a:alpha val="12000"/>
              </a:srgbClr>
            </a:outerShdw>
          </a:effectLst>
        </p:spPr>
      </p:sp>
      <p:sp>
        <p:nvSpPr>
          <p:cNvPr id="29" name="num-627"/>
          <p:cNvSpPr/>
          <p:nvPr/>
        </p:nvSpPr>
        <p:spPr>
          <a:xfrm>
            <a:off x="5486400" y="5120640"/>
            <a:ext cx="384048" cy="384048"/>
          </a:xfrm>
          <a:prstGeom prst="ellipse">
            <a:avLst/>
          </a:prstGeom>
          <a:solidFill>
            <a:schemeClr val="accent1"/>
          </a:solidFill>
          <a:ln w="12700">
            <a:solidFill>
              <a:schemeClr val="bg1"/>
            </a:solidFill>
            <a:prstDash val="solid"/>
          </a:ln>
        </p:spPr>
      </p:sp>
      <p:sp>
        <p:nvSpPr>
          <p:cNvPr id="30" name="text-628"/>
          <p:cNvSpPr txBox="1"/>
          <p:nvPr/>
        </p:nvSpPr>
        <p:spPr>
          <a:xfrm>
            <a:off x="5486400" y="51206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1" name="text-629"/>
          <p:cNvSpPr txBox="1"/>
          <p:nvPr/>
        </p:nvSpPr>
        <p:spPr>
          <a:xfrm>
            <a:off x="5989320" y="5056632"/>
            <a:ext cx="2255368" cy="886968"/>
          </a:xfrm>
          <a:prstGeom prst="rect">
            <a:avLst/>
          </a:prstGeom>
          <a:noFill/>
          <a:ln/>
        </p:spPr>
        <p:txBody>
          <a:bodyPr wrap="square" lIns="0" tIns="0" rIns="0" bIns="0" rtlCol="0" anchor="ctr"/>
          <a:lstStyle/>
          <a:p>
            <a:pPr indent="0" marL="0">
              <a:buNone/>
            </a:pPr>
            <a:r>
              <a:rPr lang="en-US" sz="1350" dirty="0">
                <a:solidFill>
                  <a:schemeClr val="tx1"/>
                </a:solidFill>
              </a:rPr>
              <a:t>Residual models learn a small correction to the latest value.</a:t>
            </a:r>
            <a:endParaRPr lang="en-US" sz="1350" dirty="0"/>
          </a:p>
        </p:txBody>
      </p:sp>
      <p:sp>
        <p:nvSpPr>
          <p:cNvPr id="32" name="card-630"/>
          <p:cNvSpPr/>
          <p:nvPr/>
        </p:nvSpPr>
        <p:spPr>
          <a:xfrm>
            <a:off x="8610448" y="1234440"/>
            <a:ext cx="3032608" cy="1069848"/>
          </a:xfrm>
          <a:prstGeom prst="roundRect">
            <a:avLst>
              <a:gd name="adj" fmla="val 6838"/>
            </a:avLst>
          </a:prstGeom>
          <a:solidFill>
            <a:schemeClr val="bg1"/>
          </a:solidFill>
          <a:ln w="9525">
            <a:solidFill>
              <a:srgbClr val="D5DEE3"/>
            </a:solidFill>
            <a:prstDash val="solid"/>
          </a:ln>
          <a:effectLst>
            <a:outerShdw sx="100000" sy="100000" kx="0" ky="0" algn="bl" rotWithShape="0" blurRad="76200" dist="25400" dir="5400000">
              <a:srgbClr val="000000">
                <a:alpha val="12000"/>
              </a:srgbClr>
            </a:outerShdw>
          </a:effectLst>
        </p:spPr>
      </p:sp>
      <p:sp>
        <p:nvSpPr>
          <p:cNvPr id="33" name="num-631"/>
          <p:cNvSpPr/>
          <p:nvPr/>
        </p:nvSpPr>
        <p:spPr>
          <a:xfrm>
            <a:off x="8747608" y="1389888"/>
            <a:ext cx="384048" cy="384048"/>
          </a:xfrm>
          <a:prstGeom prst="ellipse">
            <a:avLst/>
          </a:prstGeom>
          <a:solidFill>
            <a:schemeClr val="accent2"/>
          </a:solidFill>
          <a:ln w="12700">
            <a:solidFill>
              <a:schemeClr val="bg1"/>
            </a:solidFill>
            <a:prstDash val="solid"/>
          </a:ln>
        </p:spPr>
      </p:sp>
      <p:sp>
        <p:nvSpPr>
          <p:cNvPr id="34" name="text-632"/>
          <p:cNvSpPr txBox="1"/>
          <p:nvPr/>
        </p:nvSpPr>
        <p:spPr>
          <a:xfrm>
            <a:off x="8747608" y="13898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5" name="text-633"/>
          <p:cNvSpPr txBox="1"/>
          <p:nvPr/>
        </p:nvSpPr>
        <p:spPr>
          <a:xfrm>
            <a:off x="9250528" y="1325880"/>
            <a:ext cx="2255368" cy="886968"/>
          </a:xfrm>
          <a:prstGeom prst="rect">
            <a:avLst/>
          </a:prstGeom>
          <a:noFill/>
          <a:ln/>
        </p:spPr>
        <p:txBody>
          <a:bodyPr wrap="square" lIns="0" tIns="0" rIns="0" bIns="0" rtlCol="0" anchor="ctr"/>
          <a:lstStyle/>
          <a:p>
            <a:pPr indent="0" marL="0">
              <a:buNone/>
            </a:pPr>
            <a:r>
              <a:rPr lang="en-US" sz="1350" dirty="0">
                <a:solidFill>
                  <a:schemeClr val="tx1"/>
                </a:solidFill>
              </a:rPr>
              <a:t>Residual LSTM edges past persistence on the 5 busiest flows (21.25 vs 21.28).</a:t>
            </a:r>
            <a:endParaRPr lang="en-US" sz="1350" dirty="0"/>
          </a:p>
        </p:txBody>
      </p:sp>
      <p:sp>
        <p:nvSpPr>
          <p:cNvPr id="36" name="card-634"/>
          <p:cNvSpPr/>
          <p:nvPr/>
        </p:nvSpPr>
        <p:spPr>
          <a:xfrm>
            <a:off x="8610448" y="2478024"/>
            <a:ext cx="3032608" cy="1069848"/>
          </a:xfrm>
          <a:prstGeom prst="roundRect">
            <a:avLst>
              <a:gd name="adj" fmla="val 6838"/>
            </a:avLst>
          </a:prstGeom>
          <a:solidFill>
            <a:schemeClr val="bg1"/>
          </a:solidFill>
          <a:ln w="9525">
            <a:solidFill>
              <a:srgbClr val="D5DEE3"/>
            </a:solidFill>
            <a:prstDash val="solid"/>
          </a:ln>
          <a:effectLst>
            <a:outerShdw sx="100000" sy="100000" kx="0" ky="0" algn="bl" rotWithShape="0" blurRad="76200" dist="25400" dir="5400000">
              <a:srgbClr val="000000">
                <a:alpha val="12000"/>
              </a:srgbClr>
            </a:outerShdw>
          </a:effectLst>
        </p:spPr>
      </p:sp>
      <p:sp>
        <p:nvSpPr>
          <p:cNvPr id="37" name="num-635"/>
          <p:cNvSpPr/>
          <p:nvPr/>
        </p:nvSpPr>
        <p:spPr>
          <a:xfrm>
            <a:off x="8747608" y="2633472"/>
            <a:ext cx="384048" cy="384048"/>
          </a:xfrm>
          <a:prstGeom prst="ellipse">
            <a:avLst/>
          </a:prstGeom>
          <a:solidFill>
            <a:schemeClr val="accent1"/>
          </a:solidFill>
          <a:ln w="12700">
            <a:solidFill>
              <a:schemeClr val="bg1"/>
            </a:solidFill>
            <a:prstDash val="solid"/>
          </a:ln>
        </p:spPr>
      </p:sp>
      <p:sp>
        <p:nvSpPr>
          <p:cNvPr id="38" name="text-636"/>
          <p:cNvSpPr txBox="1"/>
          <p:nvPr/>
        </p:nvSpPr>
        <p:spPr>
          <a:xfrm>
            <a:off x="8747608" y="26334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9" name="text-637"/>
          <p:cNvSpPr txBox="1"/>
          <p:nvPr/>
        </p:nvSpPr>
        <p:spPr>
          <a:xfrm>
            <a:off x="9250528" y="2569464"/>
            <a:ext cx="2255368" cy="886968"/>
          </a:xfrm>
          <a:prstGeom prst="rect">
            <a:avLst/>
          </a:prstGeom>
          <a:noFill/>
          <a:ln/>
        </p:spPr>
        <p:txBody>
          <a:bodyPr wrap="square" lIns="0" tIns="0" rIns="0" bIns="0" rtlCol="0" anchor="ctr"/>
          <a:lstStyle/>
          <a:p>
            <a:pPr indent="0" marL="0">
              <a:buNone/>
            </a:pPr>
            <a:r>
              <a:rPr lang="en-US" sz="1350" dirty="0">
                <a:solidFill>
                  <a:schemeClr val="tx1"/>
                </a:solidFill>
              </a:rPr>
              <a:t>Sudden bursts are hard: the planned models stay near typical levels.</a:t>
            </a:r>
            <a:endParaRPr lang="en-US" sz="1350" dirty="0"/>
          </a:p>
        </p:txBody>
      </p:sp>
      <p:sp>
        <p:nvSpPr>
          <p:cNvPr id="40" name="card-638"/>
          <p:cNvSpPr/>
          <p:nvPr/>
        </p:nvSpPr>
        <p:spPr>
          <a:xfrm>
            <a:off x="8610448" y="3721608"/>
            <a:ext cx="3032608" cy="1069848"/>
          </a:xfrm>
          <a:prstGeom prst="roundRect">
            <a:avLst>
              <a:gd name="adj" fmla="val 6838"/>
            </a:avLst>
          </a:prstGeom>
          <a:solidFill>
            <a:schemeClr val="bg1"/>
          </a:solidFill>
          <a:ln w="9525">
            <a:solidFill>
              <a:srgbClr val="D5DEE3"/>
            </a:solidFill>
            <a:prstDash val="solid"/>
          </a:ln>
          <a:effectLst>
            <a:outerShdw sx="100000" sy="100000" kx="0" ky="0" algn="bl" rotWithShape="0" blurRad="76200" dist="25400" dir="5400000">
              <a:srgbClr val="000000">
                <a:alpha val="12000"/>
              </a:srgbClr>
            </a:outerShdw>
          </a:effectLst>
        </p:spPr>
      </p:sp>
      <p:sp>
        <p:nvSpPr>
          <p:cNvPr id="41" name="num-639"/>
          <p:cNvSpPr/>
          <p:nvPr/>
        </p:nvSpPr>
        <p:spPr>
          <a:xfrm>
            <a:off x="8747608" y="3877056"/>
            <a:ext cx="384048" cy="384048"/>
          </a:xfrm>
          <a:prstGeom prst="ellipse">
            <a:avLst/>
          </a:prstGeom>
          <a:solidFill>
            <a:schemeClr val="accent1"/>
          </a:solidFill>
          <a:ln w="12700">
            <a:solidFill>
              <a:schemeClr val="bg1"/>
            </a:solidFill>
            <a:prstDash val="solid"/>
          </a:ln>
        </p:spPr>
      </p:sp>
      <p:sp>
        <p:nvSpPr>
          <p:cNvPr id="42" name="text-640"/>
          <p:cNvSpPr txBox="1"/>
          <p:nvPr/>
        </p:nvSpPr>
        <p:spPr>
          <a:xfrm>
            <a:off x="8747608" y="38770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43" name="text-641"/>
          <p:cNvSpPr txBox="1"/>
          <p:nvPr/>
        </p:nvSpPr>
        <p:spPr>
          <a:xfrm>
            <a:off x="9250528" y="3813048"/>
            <a:ext cx="2255368" cy="886968"/>
          </a:xfrm>
          <a:prstGeom prst="rect">
            <a:avLst/>
          </a:prstGeom>
          <a:noFill/>
          <a:ln/>
        </p:spPr>
        <p:txBody>
          <a:bodyPr wrap="square" lIns="0" tIns="0" rIns="0" bIns="0" rtlCol="0" anchor="ctr"/>
          <a:lstStyle/>
          <a:p>
            <a:pPr indent="0" marL="0">
              <a:buNone/>
            </a:pPr>
            <a:r>
              <a:rPr lang="en-US" sz="1350" dirty="0">
                <a:solidFill>
                  <a:schemeClr val="tx1"/>
                </a:solidFill>
              </a:rPr>
              <a:t>One bursty flow, LOSA→CHIN (bursts to ~6.5 Gbit/s), drives much of the error.</a:t>
            </a:r>
            <a:endParaRPr lang="en-US" sz="1350" dirty="0"/>
          </a:p>
        </p:txBody>
      </p:sp>
      <p:sp>
        <p:nvSpPr>
          <p:cNvPr id="44" name="card-642"/>
          <p:cNvSpPr/>
          <p:nvPr/>
        </p:nvSpPr>
        <p:spPr>
          <a:xfrm>
            <a:off x="8610448" y="4965192"/>
            <a:ext cx="3032608" cy="1069848"/>
          </a:xfrm>
          <a:prstGeom prst="roundRect">
            <a:avLst>
              <a:gd name="adj" fmla="val 6838"/>
            </a:avLst>
          </a:prstGeom>
          <a:solidFill>
            <a:schemeClr val="bg1"/>
          </a:solidFill>
          <a:ln w="9525">
            <a:solidFill>
              <a:srgbClr val="D5DEE3"/>
            </a:solidFill>
            <a:prstDash val="solid"/>
          </a:ln>
          <a:effectLst>
            <a:outerShdw sx="100000" sy="100000" kx="0" ky="0" algn="bl" rotWithShape="0" blurRad="76200" dist="25400" dir="5400000">
              <a:srgbClr val="000000">
                <a:alpha val="12000"/>
              </a:srgbClr>
            </a:outerShdw>
          </a:effectLst>
        </p:spPr>
      </p:sp>
      <p:sp>
        <p:nvSpPr>
          <p:cNvPr id="45" name="num-643"/>
          <p:cNvSpPr/>
          <p:nvPr/>
        </p:nvSpPr>
        <p:spPr>
          <a:xfrm>
            <a:off x="8747608" y="5120640"/>
            <a:ext cx="384048" cy="384048"/>
          </a:xfrm>
          <a:prstGeom prst="ellipse">
            <a:avLst/>
          </a:prstGeom>
          <a:solidFill>
            <a:schemeClr val="accent1"/>
          </a:solidFill>
          <a:ln w="12700">
            <a:solidFill>
              <a:schemeClr val="bg1"/>
            </a:solidFill>
            <a:prstDash val="solid"/>
          </a:ln>
        </p:spPr>
      </p:sp>
      <p:sp>
        <p:nvSpPr>
          <p:cNvPr id="46" name="text-644"/>
          <p:cNvSpPr txBox="1"/>
          <p:nvPr/>
        </p:nvSpPr>
        <p:spPr>
          <a:xfrm>
            <a:off x="8747608" y="51206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47" name="text-645"/>
          <p:cNvSpPr txBox="1"/>
          <p:nvPr/>
        </p:nvSpPr>
        <p:spPr>
          <a:xfrm>
            <a:off x="9250528" y="5056632"/>
            <a:ext cx="2255368" cy="886968"/>
          </a:xfrm>
          <a:prstGeom prst="rect">
            <a:avLst/>
          </a:prstGeom>
          <a:noFill/>
          <a:ln/>
        </p:spPr>
        <p:txBody>
          <a:bodyPr wrap="square" lIns="0" tIns="0" rIns="0" bIns="0" rtlCol="0" anchor="ctr"/>
          <a:lstStyle/>
          <a:p>
            <a:pPr indent="0" marL="0">
              <a:buNone/>
            </a:pPr>
            <a:r>
              <a:rPr lang="en-US" sz="1350" dirty="0">
                <a:solidFill>
                  <a:schemeClr val="tx1"/>
                </a:solidFill>
              </a:rPr>
              <a:t>Predicting a correction suits this task better than predicting the full level.</a:t>
            </a:r>
            <a:endParaRPr lang="en-US" sz="135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Next: Proactive Congestion Avoidance</a:t>
            </a:r>
            <a:endParaRPr lang="en-US" sz="3200" dirty="0"/>
          </a:p>
        </p:txBody>
      </p:sp>
      <p:sp>
        <p:nvSpPr>
          <p:cNvPr id="3" name="chip-646"/>
          <p:cNvSpPr/>
          <p:nvPr/>
        </p:nvSpPr>
        <p:spPr>
          <a:xfrm>
            <a:off x="548640" y="1170432"/>
            <a:ext cx="2555748" cy="274320"/>
          </a:xfrm>
          <a:prstGeom prst="roundRect">
            <a:avLst>
              <a:gd name="adj" fmla="val 50000"/>
            </a:avLst>
          </a:prstGeom>
          <a:solidFill>
            <a:schemeClr val="bg1"/>
          </a:solidFill>
          <a:ln w="15875">
            <a:solidFill>
              <a:schemeClr val="accent2"/>
            </a:solidFill>
            <a:prstDash val="dash"/>
          </a:ln>
        </p:spPr>
      </p:sp>
      <p:sp>
        <p:nvSpPr>
          <p:cNvPr id="4" name="text-647"/>
          <p:cNvSpPr txBox="1"/>
          <p:nvPr/>
        </p:nvSpPr>
        <p:spPr>
          <a:xfrm>
            <a:off x="548640" y="1170432"/>
            <a:ext cx="2555748" cy="274320"/>
          </a:xfrm>
          <a:prstGeom prst="rect">
            <a:avLst/>
          </a:prstGeom>
          <a:noFill/>
          <a:ln/>
        </p:spPr>
        <p:txBody>
          <a:bodyPr wrap="square" lIns="0" tIns="0" rIns="0" bIns="0" rtlCol="0" anchor="ctr"/>
          <a:lstStyle/>
          <a:p>
            <a:pPr algn="ctr" indent="0" marL="0">
              <a:buNone/>
            </a:pPr>
            <a:r>
              <a:rPr lang="en-US" sz="1050" b="1" spc="50" kern="0" dirty="0">
                <a:solidFill>
                  <a:schemeClr val="accent2"/>
                </a:solidFill>
              </a:rPr>
              <a:t>FUTURE WORK · NOT YET COMPLETED</a:t>
            </a:r>
            <a:endParaRPr lang="en-US" sz="1050" dirty="0"/>
          </a:p>
        </p:txBody>
      </p:sp>
      <p:sp>
        <p:nvSpPr>
          <p:cNvPr id="5" name="p9-648"/>
          <p:cNvSpPr/>
          <p:nvPr/>
        </p:nvSpPr>
        <p:spPr>
          <a:xfrm>
            <a:off x="548640" y="1645920"/>
            <a:ext cx="3931920" cy="457200"/>
          </a:xfrm>
          <a:prstGeom prst="roundRect">
            <a:avLst>
              <a:gd name="adj" fmla="val 16000"/>
            </a:avLst>
          </a:prstGeom>
          <a:solidFill>
            <a:schemeClr val="bg1"/>
          </a:solidFill>
          <a:ln w="19050">
            <a:solidFill>
              <a:schemeClr val="accent1"/>
            </a:solidFill>
            <a:prstDash val="dash"/>
          </a:ln>
        </p:spPr>
      </p:sp>
      <p:sp>
        <p:nvSpPr>
          <p:cNvPr id="6" name="text-649"/>
          <p:cNvSpPr txBox="1"/>
          <p:nvPr/>
        </p:nvSpPr>
        <p:spPr>
          <a:xfrm>
            <a:off x="548640" y="1645920"/>
            <a:ext cx="3931920" cy="457200"/>
          </a:xfrm>
          <a:prstGeom prst="rect">
            <a:avLst/>
          </a:prstGeom>
          <a:noFill/>
          <a:ln/>
        </p:spPr>
        <p:txBody>
          <a:bodyPr wrap="square" lIns="0" tIns="0" rIns="0" bIns="0" rtlCol="0" anchor="ctr"/>
          <a:lstStyle/>
          <a:p>
            <a:pPr algn="ctr" indent="0" marL="0">
              <a:buNone/>
            </a:pPr>
            <a:r>
              <a:rPr lang="en-US" sz="1400" b="1" dirty="0">
                <a:solidFill>
                  <a:schemeClr val="tx2"/>
                </a:solidFill>
              </a:rPr>
              <a:t>CNN-LSTM prediction</a:t>
            </a:r>
            <a:endParaRPr lang="en-US" sz="1400" dirty="0"/>
          </a:p>
        </p:txBody>
      </p:sp>
      <p:sp>
        <p:nvSpPr>
          <p:cNvPr id="7" name="arrow-650"/>
          <p:cNvSpPr/>
          <p:nvPr/>
        </p:nvSpPr>
        <p:spPr>
          <a:xfrm>
            <a:off x="2514600" y="2121408"/>
            <a:ext cx="91" cy="146304"/>
          </a:xfrm>
          <a:prstGeom prst="line">
            <a:avLst/>
          </a:prstGeom>
          <a:noFill/>
          <a:ln w="19050">
            <a:solidFill>
              <a:schemeClr val="accent3"/>
            </a:solidFill>
            <a:prstDash val="solid"/>
            <a:tailEnd type="triangle"/>
          </a:ln>
        </p:spPr>
      </p:sp>
      <p:sp>
        <p:nvSpPr>
          <p:cNvPr id="8" name="p9-651"/>
          <p:cNvSpPr/>
          <p:nvPr/>
        </p:nvSpPr>
        <p:spPr>
          <a:xfrm>
            <a:off x="548640" y="2286000"/>
            <a:ext cx="3931920" cy="457200"/>
          </a:xfrm>
          <a:prstGeom prst="roundRect">
            <a:avLst>
              <a:gd name="adj" fmla="val 16000"/>
            </a:avLst>
          </a:prstGeom>
          <a:solidFill>
            <a:schemeClr val="bg1"/>
          </a:solidFill>
          <a:ln w="19050">
            <a:solidFill>
              <a:schemeClr val="accent1"/>
            </a:solidFill>
            <a:prstDash val="dash"/>
          </a:ln>
        </p:spPr>
      </p:sp>
      <p:sp>
        <p:nvSpPr>
          <p:cNvPr id="9" name="text-652"/>
          <p:cNvSpPr txBox="1"/>
          <p:nvPr/>
        </p:nvSpPr>
        <p:spPr>
          <a:xfrm>
            <a:off x="548640" y="2286000"/>
            <a:ext cx="3931920" cy="457200"/>
          </a:xfrm>
          <a:prstGeom prst="rect">
            <a:avLst/>
          </a:prstGeom>
          <a:noFill/>
          <a:ln/>
        </p:spPr>
        <p:txBody>
          <a:bodyPr wrap="square" lIns="0" tIns="0" rIns="0" bIns="0" rtlCol="0" anchor="ctr"/>
          <a:lstStyle/>
          <a:p>
            <a:pPr algn="ctr" indent="0" marL="0">
              <a:buNone/>
            </a:pPr>
            <a:r>
              <a:rPr lang="en-US" sz="1400" b="1" dirty="0">
                <a:solidFill>
                  <a:schemeClr val="tx2"/>
                </a:solidFill>
              </a:rPr>
              <a:t>Predicted OD traffic (144 flows)</a:t>
            </a:r>
            <a:endParaRPr lang="en-US" sz="1400" dirty="0"/>
          </a:p>
        </p:txBody>
      </p:sp>
      <p:sp>
        <p:nvSpPr>
          <p:cNvPr id="10" name="arrow-653"/>
          <p:cNvSpPr/>
          <p:nvPr/>
        </p:nvSpPr>
        <p:spPr>
          <a:xfrm>
            <a:off x="2514600" y="2761488"/>
            <a:ext cx="91" cy="146304"/>
          </a:xfrm>
          <a:prstGeom prst="line">
            <a:avLst/>
          </a:prstGeom>
          <a:noFill/>
          <a:ln w="19050">
            <a:solidFill>
              <a:schemeClr val="accent3"/>
            </a:solidFill>
            <a:prstDash val="solid"/>
            <a:tailEnd type="triangle"/>
          </a:ln>
        </p:spPr>
      </p:sp>
      <p:sp>
        <p:nvSpPr>
          <p:cNvPr id="11" name="p9-654"/>
          <p:cNvSpPr/>
          <p:nvPr/>
        </p:nvSpPr>
        <p:spPr>
          <a:xfrm>
            <a:off x="548640" y="2926080"/>
            <a:ext cx="3931920" cy="457200"/>
          </a:xfrm>
          <a:prstGeom prst="roundRect">
            <a:avLst>
              <a:gd name="adj" fmla="val 16000"/>
            </a:avLst>
          </a:prstGeom>
          <a:solidFill>
            <a:schemeClr val="bg1"/>
          </a:solidFill>
          <a:ln w="19050">
            <a:solidFill>
              <a:schemeClr val="accent1"/>
            </a:solidFill>
            <a:prstDash val="dash"/>
          </a:ln>
        </p:spPr>
      </p:sp>
      <p:sp>
        <p:nvSpPr>
          <p:cNvPr id="12" name="text-655"/>
          <p:cNvSpPr txBox="1"/>
          <p:nvPr/>
        </p:nvSpPr>
        <p:spPr>
          <a:xfrm>
            <a:off x="548640" y="2926080"/>
            <a:ext cx="3931920" cy="457200"/>
          </a:xfrm>
          <a:prstGeom prst="rect">
            <a:avLst/>
          </a:prstGeom>
          <a:noFill/>
          <a:ln/>
        </p:spPr>
        <p:txBody>
          <a:bodyPr wrap="square" lIns="0" tIns="0" rIns="0" bIns="0" rtlCol="0" anchor="ctr"/>
          <a:lstStyle/>
          <a:p>
            <a:pPr algn="ctr" indent="0" marL="0">
              <a:buNone/>
            </a:pPr>
            <a:r>
              <a:rPr lang="en-US" sz="1400" b="1" dirty="0">
                <a:solidFill>
                  <a:schemeClr val="tx2"/>
                </a:solidFill>
              </a:rPr>
              <a:t>Routing matrix</a:t>
            </a:r>
            <a:endParaRPr lang="en-US" sz="1400" dirty="0"/>
          </a:p>
        </p:txBody>
      </p:sp>
      <p:sp>
        <p:nvSpPr>
          <p:cNvPr id="13" name="arrow-656"/>
          <p:cNvSpPr/>
          <p:nvPr/>
        </p:nvSpPr>
        <p:spPr>
          <a:xfrm>
            <a:off x="2514600" y="3401568"/>
            <a:ext cx="91" cy="146304"/>
          </a:xfrm>
          <a:prstGeom prst="line">
            <a:avLst/>
          </a:prstGeom>
          <a:noFill/>
          <a:ln w="19050">
            <a:solidFill>
              <a:schemeClr val="accent3"/>
            </a:solidFill>
            <a:prstDash val="solid"/>
            <a:tailEnd type="triangle"/>
          </a:ln>
        </p:spPr>
      </p:sp>
      <p:sp>
        <p:nvSpPr>
          <p:cNvPr id="14" name="p9-657"/>
          <p:cNvSpPr/>
          <p:nvPr/>
        </p:nvSpPr>
        <p:spPr>
          <a:xfrm>
            <a:off x="548640" y="3566160"/>
            <a:ext cx="3931920" cy="457200"/>
          </a:xfrm>
          <a:prstGeom prst="roundRect">
            <a:avLst>
              <a:gd name="adj" fmla="val 16000"/>
            </a:avLst>
          </a:prstGeom>
          <a:solidFill>
            <a:schemeClr val="bg1"/>
          </a:solidFill>
          <a:ln w="19050">
            <a:solidFill>
              <a:schemeClr val="accent1"/>
            </a:solidFill>
            <a:prstDash val="dash"/>
          </a:ln>
        </p:spPr>
      </p:sp>
      <p:sp>
        <p:nvSpPr>
          <p:cNvPr id="15" name="text-658"/>
          <p:cNvSpPr txBox="1"/>
          <p:nvPr/>
        </p:nvSpPr>
        <p:spPr>
          <a:xfrm>
            <a:off x="548640" y="3566160"/>
            <a:ext cx="3931920" cy="457200"/>
          </a:xfrm>
          <a:prstGeom prst="rect">
            <a:avLst/>
          </a:prstGeom>
          <a:noFill/>
          <a:ln/>
        </p:spPr>
        <p:txBody>
          <a:bodyPr wrap="square" lIns="0" tIns="0" rIns="0" bIns="0" rtlCol="0" anchor="ctr"/>
          <a:lstStyle/>
          <a:p>
            <a:pPr algn="ctr" indent="0" marL="0">
              <a:buNone/>
            </a:pPr>
            <a:r>
              <a:rPr lang="en-US" sz="1400" b="1" dirty="0">
                <a:solidFill>
                  <a:schemeClr val="tx2"/>
                </a:solidFill>
              </a:rPr>
              <a:t>Predicted link loads</a:t>
            </a:r>
            <a:endParaRPr lang="en-US" sz="1400" dirty="0"/>
          </a:p>
        </p:txBody>
      </p:sp>
      <p:sp>
        <p:nvSpPr>
          <p:cNvPr id="16" name="arrow-659"/>
          <p:cNvSpPr/>
          <p:nvPr/>
        </p:nvSpPr>
        <p:spPr>
          <a:xfrm>
            <a:off x="2514600" y="4041648"/>
            <a:ext cx="91" cy="146304"/>
          </a:xfrm>
          <a:prstGeom prst="line">
            <a:avLst/>
          </a:prstGeom>
          <a:noFill/>
          <a:ln w="19050">
            <a:solidFill>
              <a:schemeClr val="accent3"/>
            </a:solidFill>
            <a:prstDash val="solid"/>
            <a:tailEnd type="triangle"/>
          </a:ln>
        </p:spPr>
      </p:sp>
      <p:sp>
        <p:nvSpPr>
          <p:cNvPr id="17" name="p9-660"/>
          <p:cNvSpPr/>
          <p:nvPr/>
        </p:nvSpPr>
        <p:spPr>
          <a:xfrm>
            <a:off x="548640" y="4206240"/>
            <a:ext cx="3931920" cy="457200"/>
          </a:xfrm>
          <a:prstGeom prst="roundRect">
            <a:avLst>
              <a:gd name="adj" fmla="val 16000"/>
            </a:avLst>
          </a:prstGeom>
          <a:solidFill>
            <a:schemeClr val="bg1"/>
          </a:solidFill>
          <a:ln w="19050">
            <a:solidFill>
              <a:schemeClr val="accent1"/>
            </a:solidFill>
            <a:prstDash val="dash"/>
          </a:ln>
        </p:spPr>
      </p:sp>
      <p:sp>
        <p:nvSpPr>
          <p:cNvPr id="18" name="text-661"/>
          <p:cNvSpPr txBox="1"/>
          <p:nvPr/>
        </p:nvSpPr>
        <p:spPr>
          <a:xfrm>
            <a:off x="548640" y="4206240"/>
            <a:ext cx="3931920" cy="457200"/>
          </a:xfrm>
          <a:prstGeom prst="rect">
            <a:avLst/>
          </a:prstGeom>
          <a:noFill/>
          <a:ln/>
        </p:spPr>
        <p:txBody>
          <a:bodyPr wrap="square" lIns="0" tIns="0" rIns="0" bIns="0" rtlCol="0" anchor="ctr"/>
          <a:lstStyle/>
          <a:p>
            <a:pPr algn="ctr" indent="0" marL="0">
              <a:buNone/>
            </a:pPr>
            <a:r>
              <a:rPr lang="en-US" sz="1400" b="1" dirty="0">
                <a:solidFill>
                  <a:schemeClr val="tx2"/>
                </a:solidFill>
              </a:rPr>
              <a:t>Compare with link capacity</a:t>
            </a:r>
            <a:endParaRPr lang="en-US" sz="1400" dirty="0"/>
          </a:p>
        </p:txBody>
      </p:sp>
      <p:sp>
        <p:nvSpPr>
          <p:cNvPr id="19" name="arrow-662"/>
          <p:cNvSpPr/>
          <p:nvPr/>
        </p:nvSpPr>
        <p:spPr>
          <a:xfrm>
            <a:off x="2514600" y="4681728"/>
            <a:ext cx="91" cy="146304"/>
          </a:xfrm>
          <a:prstGeom prst="line">
            <a:avLst/>
          </a:prstGeom>
          <a:noFill/>
          <a:ln w="19050">
            <a:solidFill>
              <a:schemeClr val="accent3"/>
            </a:solidFill>
            <a:prstDash val="solid"/>
            <a:tailEnd type="triangle"/>
          </a:ln>
        </p:spPr>
      </p:sp>
      <p:sp>
        <p:nvSpPr>
          <p:cNvPr id="20" name="p9-663"/>
          <p:cNvSpPr/>
          <p:nvPr/>
        </p:nvSpPr>
        <p:spPr>
          <a:xfrm>
            <a:off x="548640" y="4846320"/>
            <a:ext cx="3931920" cy="457200"/>
          </a:xfrm>
          <a:prstGeom prst="roundRect">
            <a:avLst>
              <a:gd name="adj" fmla="val 16000"/>
            </a:avLst>
          </a:prstGeom>
          <a:solidFill>
            <a:schemeClr val="bg1"/>
          </a:solidFill>
          <a:ln w="19050">
            <a:solidFill>
              <a:schemeClr val="accent1"/>
            </a:solidFill>
            <a:prstDash val="dash"/>
          </a:ln>
        </p:spPr>
      </p:sp>
      <p:sp>
        <p:nvSpPr>
          <p:cNvPr id="21" name="text-664"/>
          <p:cNvSpPr txBox="1"/>
          <p:nvPr/>
        </p:nvSpPr>
        <p:spPr>
          <a:xfrm>
            <a:off x="548640" y="4846320"/>
            <a:ext cx="3931920" cy="457200"/>
          </a:xfrm>
          <a:prstGeom prst="rect">
            <a:avLst/>
          </a:prstGeom>
          <a:noFill/>
          <a:ln/>
        </p:spPr>
        <p:txBody>
          <a:bodyPr wrap="square" lIns="0" tIns="0" rIns="0" bIns="0" rtlCol="0" anchor="ctr"/>
          <a:lstStyle/>
          <a:p>
            <a:pPr algn="ctr" indent="0" marL="0">
              <a:buNone/>
            </a:pPr>
            <a:r>
              <a:rPr lang="en-US" sz="1400" b="1" dirty="0">
                <a:solidFill>
                  <a:schemeClr val="tx2"/>
                </a:solidFill>
              </a:rPr>
              <a:t>Congestion risk</a:t>
            </a:r>
            <a:endParaRPr lang="en-US" sz="1400" dirty="0"/>
          </a:p>
        </p:txBody>
      </p:sp>
      <p:sp>
        <p:nvSpPr>
          <p:cNvPr id="22" name="arrow-665"/>
          <p:cNvSpPr/>
          <p:nvPr/>
        </p:nvSpPr>
        <p:spPr>
          <a:xfrm>
            <a:off x="2514600" y="5321808"/>
            <a:ext cx="91" cy="146304"/>
          </a:xfrm>
          <a:prstGeom prst="line">
            <a:avLst/>
          </a:prstGeom>
          <a:noFill/>
          <a:ln w="19050">
            <a:solidFill>
              <a:schemeClr val="accent3"/>
            </a:solidFill>
            <a:prstDash val="solid"/>
            <a:tailEnd type="triangle"/>
          </a:ln>
        </p:spPr>
      </p:sp>
      <p:sp>
        <p:nvSpPr>
          <p:cNvPr id="23" name="p9-666"/>
          <p:cNvSpPr/>
          <p:nvPr/>
        </p:nvSpPr>
        <p:spPr>
          <a:xfrm>
            <a:off x="548640" y="5486400"/>
            <a:ext cx="3931920" cy="457200"/>
          </a:xfrm>
          <a:prstGeom prst="roundRect">
            <a:avLst>
              <a:gd name="adj" fmla="val 16000"/>
            </a:avLst>
          </a:prstGeom>
          <a:solidFill>
            <a:schemeClr val="accent2"/>
          </a:solidFill>
          <a:ln w="19050">
            <a:solidFill>
              <a:schemeClr val="accent2"/>
            </a:solidFill>
            <a:prstDash val="dash"/>
          </a:ln>
        </p:spPr>
      </p:sp>
      <p:sp>
        <p:nvSpPr>
          <p:cNvPr id="24" name="text-667"/>
          <p:cNvSpPr txBox="1"/>
          <p:nvPr/>
        </p:nvSpPr>
        <p:spPr>
          <a:xfrm>
            <a:off x="548640" y="5486400"/>
            <a:ext cx="3931920" cy="457200"/>
          </a:xfrm>
          <a:prstGeom prst="rect">
            <a:avLst/>
          </a:prstGeom>
          <a:noFill/>
          <a:ln/>
        </p:spPr>
        <p:txBody>
          <a:bodyPr wrap="square" lIns="0" tIns="0" rIns="0" bIns="0" rtlCol="0" anchor="ctr"/>
          <a:lstStyle/>
          <a:p>
            <a:pPr algn="ctr" indent="0" marL="0">
              <a:buNone/>
            </a:pPr>
            <a:r>
              <a:rPr lang="en-US" sz="1400" b="1" dirty="0">
                <a:solidFill>
                  <a:schemeClr val="bg1"/>
                </a:solidFill>
              </a:rPr>
              <a:t>Early warning / proactive action</a:t>
            </a:r>
            <a:endParaRPr lang="en-US" sz="1400" dirty="0"/>
          </a:p>
        </p:txBody>
      </p:sp>
      <p:sp>
        <p:nvSpPr>
          <p:cNvPr id="25" name="card-668"/>
          <p:cNvSpPr/>
          <p:nvPr/>
        </p:nvSpPr>
        <p:spPr>
          <a:xfrm>
            <a:off x="4846320" y="1645920"/>
            <a:ext cx="2926080" cy="4206240"/>
          </a:xfrm>
          <a:prstGeom prst="roundRect">
            <a:avLst>
              <a:gd name="adj" fmla="val 2500"/>
            </a:avLst>
          </a:prstGeom>
          <a:solidFill>
            <a:schemeClr val="tx2"/>
          </a:solidFill>
          <a:ln w="9525">
            <a:solidFill>
              <a:schemeClr val="tx2"/>
            </a:solidFill>
            <a:prstDash val="solid"/>
          </a:ln>
          <a:effectLst>
            <a:outerShdw sx="100000" sy="100000" kx="0" ky="0" algn="bl" rotWithShape="0" blurRad="76200" dist="25400" dir="5400000">
              <a:srgbClr val="000000">
                <a:alpha val="12000"/>
              </a:srgbClr>
            </a:outerShdw>
          </a:effectLst>
        </p:spPr>
      </p:sp>
      <p:sp>
        <p:nvSpPr>
          <p:cNvPr id="26" name="icon-bg-669"/>
          <p:cNvSpPr/>
          <p:nvPr/>
        </p:nvSpPr>
        <p:spPr>
          <a:xfrm>
            <a:off x="5120640" y="1828800"/>
            <a:ext cx="502920" cy="502920"/>
          </a:xfrm>
          <a:prstGeom prst="ellipse">
            <a:avLst/>
          </a:prstGeom>
          <a:solidFill>
            <a:schemeClr val="accent1"/>
          </a:solidFill>
          <a:ln w="12700">
            <a:solidFill>
              <a:schemeClr val="accent1"/>
            </a:solidFill>
            <a:prstDash val="solid"/>
          </a:ln>
        </p:spPr>
      </p:sp>
      <p:pic>
        <p:nvPicPr>
          <p:cNvPr id="27" name="icon-670" descr="preencoded.png">    </p:cNvPr>
          <p:cNvPicPr>
            <a:picLocks noChangeAspect="1"/>
          </p:cNvPicPr>
          <p:nvPr/>
        </p:nvPicPr>
        <p:blipFill>
          <a:blip r:embed="rId1"/>
          <a:stretch>
            <a:fillRect/>
          </a:stretch>
        </p:blipFill>
        <p:spPr>
          <a:xfrm>
            <a:off x="5241341" y="1949501"/>
            <a:ext cx="261518" cy="261518"/>
          </a:xfrm>
          <a:prstGeom prst="rect">
            <a:avLst/>
          </a:prstGeom>
        </p:spPr>
      </p:pic>
      <p:sp>
        <p:nvSpPr>
          <p:cNvPr id="28" name="text-671"/>
          <p:cNvSpPr txBox="1"/>
          <p:nvPr/>
        </p:nvSpPr>
        <p:spPr>
          <a:xfrm>
            <a:off x="5760720" y="1892808"/>
            <a:ext cx="1920240" cy="411480"/>
          </a:xfrm>
          <a:prstGeom prst="rect">
            <a:avLst/>
          </a:prstGeom>
          <a:noFill/>
          <a:ln/>
        </p:spPr>
        <p:txBody>
          <a:bodyPr wrap="square" lIns="0" tIns="0" rIns="0" bIns="0" rtlCol="0" anchor="ctr"/>
          <a:lstStyle/>
          <a:p>
            <a:pPr indent="0" marL="0">
              <a:buNone/>
            </a:pPr>
            <a:r>
              <a:rPr lang="en-US" sz="1700" b="1" dirty="0">
                <a:solidFill>
                  <a:schemeClr val="bg1"/>
                </a:solidFill>
              </a:rPr>
              <a:t>Routing matrix</a:t>
            </a:r>
            <a:endParaRPr lang="en-US" sz="1700" dirty="0"/>
          </a:p>
        </p:txBody>
      </p:sp>
      <p:sp>
        <p:nvSpPr>
          <p:cNvPr id="29" name="text-672"/>
          <p:cNvSpPr txBox="1"/>
          <p:nvPr/>
        </p:nvSpPr>
        <p:spPr>
          <a:xfrm>
            <a:off x="5120640" y="2514600"/>
            <a:ext cx="2377440" cy="54864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54 × 144</a:t>
            </a:r>
            <a:endParaRPr lang="en-US" sz="3000" dirty="0"/>
          </a:p>
        </p:txBody>
      </p:sp>
      <p:sp>
        <p:nvSpPr>
          <p:cNvPr id="30" name="text-673"/>
          <p:cNvSpPr txBox="1"/>
          <p:nvPr/>
        </p:nvSpPr>
        <p:spPr>
          <a:xfrm>
            <a:off x="5120640" y="3035808"/>
            <a:ext cx="2377440" cy="274320"/>
          </a:xfrm>
          <a:prstGeom prst="rect">
            <a:avLst/>
          </a:prstGeom>
          <a:noFill/>
          <a:ln/>
        </p:spPr>
        <p:txBody>
          <a:bodyPr wrap="square" lIns="0" tIns="0" rIns="0" bIns="0" rtlCol="0" anchor="t"/>
          <a:lstStyle/>
          <a:p>
            <a:pPr indent="0" marL="0">
              <a:buNone/>
            </a:pPr>
            <a:r>
              <a:rPr lang="en-US" sz="1200" dirty="0">
                <a:solidFill>
                  <a:schemeClr val="accent4"/>
                </a:solidFill>
              </a:rPr>
              <a:t>links × flows</a:t>
            </a:r>
            <a:endParaRPr lang="en-US" sz="1200" dirty="0"/>
          </a:p>
        </p:txBody>
      </p:sp>
      <p:sp>
        <p:nvSpPr>
          <p:cNvPr id="31" name="text-674"/>
          <p:cNvSpPr txBox="1"/>
          <p:nvPr/>
        </p:nvSpPr>
        <p:spPr>
          <a:xfrm>
            <a:off x="5120640" y="3429000"/>
            <a:ext cx="2468880" cy="16002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bg1"/>
                </a:solidFill>
              </a:rPr>
              <a:t>30 backbone links (28 at 9.92 Gbit/s, 2 at 2.48 Gbit/s)</a:t>
            </a:r>
            <a:endParaRPr lang="en-US" sz="1300" dirty="0"/>
          </a:p>
          <a:p>
            <a:pPr marL="342900" indent="-342900">
              <a:spcAft>
                <a:spcPts val="500"/>
              </a:spcAft>
              <a:buSzPct val="100000"/>
              <a:buChar char="•"/>
            </a:pPr>
            <a:r>
              <a:rPr lang="en-US" sz="1300" dirty="0">
                <a:solidFill>
                  <a:schemeClr val="bg1"/>
                </a:solidFill>
              </a:rPr>
              <a:t>24 entry/exit points at the routers</a:t>
            </a:r>
            <a:endParaRPr lang="en-US" sz="1300" dirty="0"/>
          </a:p>
          <a:p>
            <a:pPr marL="342900" indent="-342900">
              <a:spcAft>
                <a:spcPts val="500"/>
              </a:spcAft>
              <a:buSzPct val="100000"/>
              <a:buChar char="•"/>
            </a:pPr>
            <a:r>
              <a:rPr lang="en-US" sz="1300" dirty="0">
                <a:solidFill>
                  <a:schemeClr val="bg1"/>
                </a:solidFill>
              </a:rPr>
              <a:t>Each flow follows one defined path</a:t>
            </a:r>
            <a:endParaRPr lang="en-US" sz="1300" dirty="0"/>
          </a:p>
          <a:p>
            <a:pPr marL="342900" indent="-342900">
              <a:spcAft>
                <a:spcPts val="500"/>
              </a:spcAft>
              <a:buSzPct val="100000"/>
              <a:buChar char="•"/>
            </a:pPr>
            <a:r>
              <a:rPr lang="en-US" sz="1300" dirty="0">
                <a:solidFill>
                  <a:schemeClr val="bg1"/>
                </a:solidFill>
              </a:rPr>
              <a:t>Link loads = matrix × traffic</a:t>
            </a:r>
            <a:endParaRPr lang="en-US" sz="1300" dirty="0"/>
          </a:p>
        </p:txBody>
      </p:sp>
      <p:sp>
        <p:nvSpPr>
          <p:cNvPr id="32" name="text-675"/>
          <p:cNvSpPr txBox="1"/>
          <p:nvPr/>
        </p:nvSpPr>
        <p:spPr>
          <a:xfrm>
            <a:off x="5120640" y="5257800"/>
            <a:ext cx="2468880" cy="411480"/>
          </a:xfrm>
          <a:prstGeom prst="rect">
            <a:avLst/>
          </a:prstGeom>
          <a:noFill/>
          <a:ln/>
        </p:spPr>
        <p:txBody>
          <a:bodyPr wrap="square" lIns="0" tIns="0" rIns="0" bIns="0" rtlCol="0" anchor="t"/>
          <a:lstStyle/>
          <a:p>
            <a:pPr indent="0" marL="0">
              <a:buNone/>
            </a:pPr>
            <a:r>
              <a:rPr lang="en-US" sz="1150" i="1" dirty="0">
                <a:solidFill>
                  <a:schemeClr val="accent4"/>
                </a:solidFill>
              </a:rPr>
              <a:t>Already parsed and checked in Phase 1</a:t>
            </a:r>
            <a:endParaRPr lang="en-US" sz="1150" dirty="0"/>
          </a:p>
        </p:txBody>
      </p:sp>
      <p:sp>
        <p:nvSpPr>
          <p:cNvPr id="33" name="card-676"/>
          <p:cNvSpPr/>
          <p:nvPr/>
        </p:nvSpPr>
        <p:spPr>
          <a:xfrm>
            <a:off x="8092440" y="1645920"/>
            <a:ext cx="3550615" cy="932688"/>
          </a:xfrm>
          <a:prstGeom prst="roundRect">
            <a:avLst>
              <a:gd name="adj" fmla="val 7843"/>
            </a:avLst>
          </a:prstGeom>
          <a:solidFill>
            <a:schemeClr val="bg1"/>
          </a:solidFill>
          <a:ln w="19050">
            <a:solidFill>
              <a:schemeClr val="accent2"/>
            </a:solidFill>
            <a:prstDash val="dash"/>
          </a:ln>
        </p:spPr>
      </p:sp>
      <p:sp>
        <p:nvSpPr>
          <p:cNvPr id="34" name="text-677"/>
          <p:cNvSpPr txBox="1"/>
          <p:nvPr/>
        </p:nvSpPr>
        <p:spPr>
          <a:xfrm>
            <a:off x="8275320" y="1737360"/>
            <a:ext cx="1097280" cy="274320"/>
          </a:xfrm>
          <a:prstGeom prst="rect">
            <a:avLst/>
          </a:prstGeom>
          <a:noFill/>
          <a:ln/>
        </p:spPr>
        <p:txBody>
          <a:bodyPr wrap="square" lIns="0" tIns="0" rIns="0" bIns="0" rtlCol="0" anchor="t"/>
          <a:lstStyle/>
          <a:p>
            <a:pPr indent="0" marL="0">
              <a:buNone/>
            </a:pPr>
            <a:r>
              <a:rPr lang="en-US" sz="1400" b="1" dirty="0">
                <a:solidFill>
                  <a:schemeClr val="accent2"/>
                </a:solidFill>
              </a:rPr>
              <a:t>Phase 4</a:t>
            </a:r>
            <a:endParaRPr lang="en-US" sz="1400" dirty="0"/>
          </a:p>
        </p:txBody>
      </p:sp>
      <p:sp>
        <p:nvSpPr>
          <p:cNvPr id="35" name="text-678"/>
          <p:cNvSpPr txBox="1"/>
          <p:nvPr/>
        </p:nvSpPr>
        <p:spPr>
          <a:xfrm>
            <a:off x="8275320" y="2011680"/>
            <a:ext cx="3184855" cy="530352"/>
          </a:xfrm>
          <a:prstGeom prst="rect">
            <a:avLst/>
          </a:prstGeom>
          <a:noFill/>
          <a:ln/>
        </p:spPr>
        <p:txBody>
          <a:bodyPr wrap="square" lIns="0" tIns="0" rIns="0" bIns="0" rtlCol="0" anchor="t"/>
          <a:lstStyle/>
          <a:p>
            <a:pPr indent="0" marL="0">
              <a:buNone/>
            </a:pPr>
            <a:r>
              <a:rPr lang="en-US" sz="1250" dirty="0">
                <a:solidFill>
                  <a:schemeClr val="tx1"/>
                </a:solidFill>
              </a:rPr>
              <a:t>Train the CNN-LSTM; tune one setting at a time; test a loss closer to MAE</a:t>
            </a:r>
            <a:endParaRPr lang="en-US" sz="1250" dirty="0"/>
          </a:p>
        </p:txBody>
      </p:sp>
      <p:sp>
        <p:nvSpPr>
          <p:cNvPr id="36" name="card-679"/>
          <p:cNvSpPr/>
          <p:nvPr/>
        </p:nvSpPr>
        <p:spPr>
          <a:xfrm>
            <a:off x="8092440" y="2724912"/>
            <a:ext cx="3550615" cy="932688"/>
          </a:xfrm>
          <a:prstGeom prst="roundRect">
            <a:avLst>
              <a:gd name="adj" fmla="val 7843"/>
            </a:avLst>
          </a:prstGeom>
          <a:solidFill>
            <a:schemeClr val="bg1"/>
          </a:solidFill>
          <a:ln w="19050">
            <a:solidFill>
              <a:schemeClr val="accent2"/>
            </a:solidFill>
            <a:prstDash val="dash"/>
          </a:ln>
        </p:spPr>
      </p:sp>
      <p:sp>
        <p:nvSpPr>
          <p:cNvPr id="37" name="text-680"/>
          <p:cNvSpPr txBox="1"/>
          <p:nvPr/>
        </p:nvSpPr>
        <p:spPr>
          <a:xfrm>
            <a:off x="8275320" y="2816352"/>
            <a:ext cx="1097280" cy="274320"/>
          </a:xfrm>
          <a:prstGeom prst="rect">
            <a:avLst/>
          </a:prstGeom>
          <a:noFill/>
          <a:ln/>
        </p:spPr>
        <p:txBody>
          <a:bodyPr wrap="square" lIns="0" tIns="0" rIns="0" bIns="0" rtlCol="0" anchor="t"/>
          <a:lstStyle/>
          <a:p>
            <a:pPr indent="0" marL="0">
              <a:buNone/>
            </a:pPr>
            <a:r>
              <a:rPr lang="en-US" sz="1400" b="1" dirty="0">
                <a:solidFill>
                  <a:schemeClr val="accent2"/>
                </a:solidFill>
              </a:rPr>
              <a:t>Phase 5</a:t>
            </a:r>
            <a:endParaRPr lang="en-US" sz="1400" dirty="0"/>
          </a:p>
        </p:txBody>
      </p:sp>
      <p:sp>
        <p:nvSpPr>
          <p:cNvPr id="38" name="text-681"/>
          <p:cNvSpPr txBox="1"/>
          <p:nvPr/>
        </p:nvSpPr>
        <p:spPr>
          <a:xfrm>
            <a:off x="8275320" y="3090672"/>
            <a:ext cx="3184855" cy="530352"/>
          </a:xfrm>
          <a:prstGeom prst="rect">
            <a:avLst/>
          </a:prstGeom>
          <a:noFill/>
          <a:ln/>
        </p:spPr>
        <p:txBody>
          <a:bodyPr wrap="square" lIns="0" tIns="0" rIns="0" bIns="0" rtlCol="0" anchor="t"/>
          <a:lstStyle/>
          <a:p>
            <a:pPr indent="0" marL="0">
              <a:buNone/>
            </a:pPr>
            <a:r>
              <a:rPr lang="en-US" sz="1250" dirty="0">
                <a:solidFill>
                  <a:schemeClr val="tx1"/>
                </a:solidFill>
              </a:rPr>
              <a:t>Longer horizons: 6 and 12 steps (30 and 60 min); ablation/depth experiments</a:t>
            </a:r>
            <a:endParaRPr lang="en-US" sz="1250" dirty="0"/>
          </a:p>
        </p:txBody>
      </p:sp>
      <p:sp>
        <p:nvSpPr>
          <p:cNvPr id="39" name="card-682"/>
          <p:cNvSpPr/>
          <p:nvPr/>
        </p:nvSpPr>
        <p:spPr>
          <a:xfrm>
            <a:off x="8092440" y="3803904"/>
            <a:ext cx="3550615" cy="932688"/>
          </a:xfrm>
          <a:prstGeom prst="roundRect">
            <a:avLst>
              <a:gd name="adj" fmla="val 7843"/>
            </a:avLst>
          </a:prstGeom>
          <a:solidFill>
            <a:schemeClr val="bg1"/>
          </a:solidFill>
          <a:ln w="19050">
            <a:solidFill>
              <a:schemeClr val="accent2"/>
            </a:solidFill>
            <a:prstDash val="dash"/>
          </a:ln>
        </p:spPr>
      </p:sp>
      <p:sp>
        <p:nvSpPr>
          <p:cNvPr id="40" name="text-683"/>
          <p:cNvSpPr txBox="1"/>
          <p:nvPr/>
        </p:nvSpPr>
        <p:spPr>
          <a:xfrm>
            <a:off x="8275320" y="3895344"/>
            <a:ext cx="1097280" cy="274320"/>
          </a:xfrm>
          <a:prstGeom prst="rect">
            <a:avLst/>
          </a:prstGeom>
          <a:noFill/>
          <a:ln/>
        </p:spPr>
        <p:txBody>
          <a:bodyPr wrap="square" lIns="0" tIns="0" rIns="0" bIns="0" rtlCol="0" anchor="t"/>
          <a:lstStyle/>
          <a:p>
            <a:pPr indent="0" marL="0">
              <a:buNone/>
            </a:pPr>
            <a:r>
              <a:rPr lang="en-US" sz="1400" b="1" dirty="0">
                <a:solidFill>
                  <a:schemeClr val="accent2"/>
                </a:solidFill>
              </a:rPr>
              <a:t>Phase 6</a:t>
            </a:r>
            <a:endParaRPr lang="en-US" sz="1400" dirty="0"/>
          </a:p>
        </p:txBody>
      </p:sp>
      <p:sp>
        <p:nvSpPr>
          <p:cNvPr id="41" name="text-684"/>
          <p:cNvSpPr txBox="1"/>
          <p:nvPr/>
        </p:nvSpPr>
        <p:spPr>
          <a:xfrm>
            <a:off x="8275320" y="4169664"/>
            <a:ext cx="3184855" cy="530352"/>
          </a:xfrm>
          <a:prstGeom prst="rect">
            <a:avLst/>
          </a:prstGeom>
          <a:noFill/>
          <a:ln/>
        </p:spPr>
        <p:txBody>
          <a:bodyPr wrap="square" lIns="0" tIns="0" rIns="0" bIns="0" rtlCol="0" anchor="t"/>
          <a:lstStyle/>
          <a:p>
            <a:pPr indent="0" marL="0">
              <a:buNone/>
            </a:pPr>
            <a:r>
              <a:rPr lang="en-US" sz="1250" dirty="0">
                <a:solidFill>
                  <a:schemeClr val="tx1"/>
                </a:solidFill>
              </a:rPr>
              <a:t>Future link loads, congestion warnings, GÉANT generalisation test</a:t>
            </a:r>
            <a:endParaRPr lang="en-US" sz="1250" dirty="0"/>
          </a:p>
        </p:txBody>
      </p:sp>
      <p:sp>
        <p:nvSpPr>
          <p:cNvPr id="42" name="card-685"/>
          <p:cNvSpPr/>
          <p:nvPr/>
        </p:nvSpPr>
        <p:spPr>
          <a:xfrm>
            <a:off x="8092440" y="4882896"/>
            <a:ext cx="3550615" cy="932688"/>
          </a:xfrm>
          <a:prstGeom prst="roundRect">
            <a:avLst>
              <a:gd name="adj" fmla="val 7843"/>
            </a:avLst>
          </a:prstGeom>
          <a:solidFill>
            <a:schemeClr val="bg1"/>
          </a:solidFill>
          <a:ln w="19050">
            <a:solidFill>
              <a:schemeClr val="accent2"/>
            </a:solidFill>
            <a:prstDash val="dash"/>
          </a:ln>
        </p:spPr>
      </p:sp>
      <p:sp>
        <p:nvSpPr>
          <p:cNvPr id="43" name="text-686"/>
          <p:cNvSpPr txBox="1"/>
          <p:nvPr/>
        </p:nvSpPr>
        <p:spPr>
          <a:xfrm>
            <a:off x="8275320" y="4974336"/>
            <a:ext cx="1097280" cy="274320"/>
          </a:xfrm>
          <a:prstGeom prst="rect">
            <a:avLst/>
          </a:prstGeom>
          <a:noFill/>
          <a:ln/>
        </p:spPr>
        <p:txBody>
          <a:bodyPr wrap="square" lIns="0" tIns="0" rIns="0" bIns="0" rtlCol="0" anchor="t"/>
          <a:lstStyle/>
          <a:p>
            <a:pPr indent="0" marL="0">
              <a:buNone/>
            </a:pPr>
            <a:r>
              <a:rPr lang="en-US" sz="1400" b="1" dirty="0">
                <a:solidFill>
                  <a:schemeClr val="accent2"/>
                </a:solidFill>
              </a:rPr>
              <a:t>Phase 7</a:t>
            </a:r>
            <a:endParaRPr lang="en-US" sz="1400" dirty="0"/>
          </a:p>
        </p:txBody>
      </p:sp>
      <p:sp>
        <p:nvSpPr>
          <p:cNvPr id="44" name="text-687"/>
          <p:cNvSpPr txBox="1"/>
          <p:nvPr/>
        </p:nvSpPr>
        <p:spPr>
          <a:xfrm>
            <a:off x="8275320" y="5248656"/>
            <a:ext cx="3184855" cy="530352"/>
          </a:xfrm>
          <a:prstGeom prst="rect">
            <a:avLst/>
          </a:prstGeom>
          <a:noFill/>
          <a:ln/>
        </p:spPr>
        <p:txBody>
          <a:bodyPr wrap="square" lIns="0" tIns="0" rIns="0" bIns="0" rtlCol="0" anchor="t"/>
          <a:lstStyle/>
          <a:p>
            <a:pPr indent="0" marL="0">
              <a:buNone/>
            </a:pPr>
            <a:r>
              <a:rPr lang="en-US" sz="1250" dirty="0">
                <a:solidFill>
                  <a:schemeClr val="tx1"/>
                </a:solidFill>
              </a:rPr>
              <a:t>Detailed error analysis on traffic peaks; final report</a:t>
            </a:r>
            <a:endParaRPr lang="en-US" sz="125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lstStyle/>
          <a:p>
            <a:pPr indent="0" marL="0">
              <a:buNone/>
            </a:pPr>
            <a:r>
              <a:rPr lang="en-US" sz="3400" b="1" dirty="0">
                <a:solidFill>
                  <a:schemeClr val="bg1"/>
                </a:solidFill>
              </a:rPr>
              <a:t>Conclusion</a:t>
            </a:r>
            <a:endParaRPr lang="en-US" sz="3400" dirty="0"/>
          </a:p>
        </p:txBody>
      </p:sp>
      <p:sp>
        <p:nvSpPr>
          <p:cNvPr id="3" name="icon-bg-688"/>
          <p:cNvSpPr/>
          <p:nvPr/>
        </p:nvSpPr>
        <p:spPr>
          <a:xfrm>
            <a:off x="548640" y="1463040"/>
            <a:ext cx="548640" cy="548640"/>
          </a:xfrm>
          <a:prstGeom prst="ellipse">
            <a:avLst/>
          </a:prstGeom>
          <a:solidFill>
            <a:schemeClr val="accent1"/>
          </a:solidFill>
          <a:ln w="12700">
            <a:solidFill>
              <a:schemeClr val="accent1"/>
            </a:solidFill>
            <a:prstDash val="solid"/>
          </a:ln>
        </p:spPr>
      </p:sp>
      <p:pic>
        <p:nvPicPr>
          <p:cNvPr id="4" name="icon-689" descr="preencoded.png">    </p:cNvPr>
          <p:cNvPicPr>
            <a:picLocks noChangeAspect="1"/>
          </p:cNvPicPr>
          <p:nvPr/>
        </p:nvPicPr>
        <p:blipFill>
          <a:blip r:embed="rId1"/>
          <a:stretch>
            <a:fillRect/>
          </a:stretch>
        </p:blipFill>
        <p:spPr>
          <a:xfrm>
            <a:off x="680314" y="1594714"/>
            <a:ext cx="285293" cy="285293"/>
          </a:xfrm>
          <a:prstGeom prst="rect">
            <a:avLst/>
          </a:prstGeom>
        </p:spPr>
      </p:pic>
      <p:sp>
        <p:nvSpPr>
          <p:cNvPr id="5" name="text-690"/>
          <p:cNvSpPr txBox="1"/>
          <p:nvPr/>
        </p:nvSpPr>
        <p:spPr>
          <a:xfrm>
            <a:off x="1325880" y="1417320"/>
            <a:ext cx="4541368" cy="658368"/>
          </a:xfrm>
          <a:prstGeom prst="rect">
            <a:avLst/>
          </a:prstGeom>
          <a:noFill/>
          <a:ln/>
        </p:spPr>
        <p:txBody>
          <a:bodyPr wrap="square" lIns="0" tIns="0" rIns="0" bIns="0" rtlCol="0" anchor="ctr"/>
          <a:lstStyle/>
          <a:p>
            <a:pPr indent="0" marL="0">
              <a:buNone/>
            </a:pPr>
            <a:r>
              <a:rPr lang="en-US" sz="1600" dirty="0">
                <a:solidFill>
                  <a:schemeClr val="bg1"/>
                </a:solidFill>
              </a:rPr>
              <a:t>Network traffic as 144 origin-destination flows, measured every 5 minutes</a:t>
            </a:r>
            <a:endParaRPr lang="en-US" sz="1600" dirty="0"/>
          </a:p>
        </p:txBody>
      </p:sp>
      <p:sp>
        <p:nvSpPr>
          <p:cNvPr id="6" name="icon-bg-691"/>
          <p:cNvSpPr/>
          <p:nvPr/>
        </p:nvSpPr>
        <p:spPr>
          <a:xfrm>
            <a:off x="6278728" y="1463040"/>
            <a:ext cx="548640" cy="548640"/>
          </a:xfrm>
          <a:prstGeom prst="ellipse">
            <a:avLst/>
          </a:prstGeom>
          <a:solidFill>
            <a:schemeClr val="accent1"/>
          </a:solidFill>
          <a:ln w="12700">
            <a:solidFill>
              <a:schemeClr val="accent1"/>
            </a:solidFill>
            <a:prstDash val="solid"/>
          </a:ln>
        </p:spPr>
      </p:sp>
      <p:pic>
        <p:nvPicPr>
          <p:cNvPr id="7" name="icon-692" descr="preencoded.png">    </p:cNvPr>
          <p:cNvPicPr>
            <a:picLocks noChangeAspect="1"/>
          </p:cNvPicPr>
          <p:nvPr/>
        </p:nvPicPr>
        <p:blipFill>
          <a:blip r:embed="rId2"/>
          <a:stretch>
            <a:fillRect/>
          </a:stretch>
        </p:blipFill>
        <p:spPr>
          <a:xfrm>
            <a:off x="6410401" y="1594714"/>
            <a:ext cx="285293" cy="285293"/>
          </a:xfrm>
          <a:prstGeom prst="rect">
            <a:avLst/>
          </a:prstGeom>
        </p:spPr>
      </p:pic>
      <p:sp>
        <p:nvSpPr>
          <p:cNvPr id="8" name="text-693"/>
          <p:cNvSpPr txBox="1"/>
          <p:nvPr/>
        </p:nvSpPr>
        <p:spPr>
          <a:xfrm>
            <a:off x="7055968" y="1417320"/>
            <a:ext cx="4541368" cy="658368"/>
          </a:xfrm>
          <a:prstGeom prst="rect">
            <a:avLst/>
          </a:prstGeom>
          <a:noFill/>
          <a:ln/>
        </p:spPr>
        <p:txBody>
          <a:bodyPr wrap="square" lIns="0" tIns="0" rIns="0" bIns="0" rtlCol="0" anchor="ctr"/>
          <a:lstStyle/>
          <a:p>
            <a:pPr indent="0" marL="0">
              <a:buNone/>
            </a:pPr>
            <a:r>
              <a:rPr lang="en-US" sz="1600" dirty="0">
                <a:solidFill>
                  <a:schemeClr val="bg1"/>
                </a:solidFill>
              </a:rPr>
              <a:t>History turned into 1-hour input windows (12 × 144) for 5-minute-ahead forecasts</a:t>
            </a:r>
            <a:endParaRPr lang="en-US" sz="1600" dirty="0"/>
          </a:p>
        </p:txBody>
      </p:sp>
      <p:sp>
        <p:nvSpPr>
          <p:cNvPr id="9" name="icon-bg-694"/>
          <p:cNvSpPr/>
          <p:nvPr/>
        </p:nvSpPr>
        <p:spPr>
          <a:xfrm>
            <a:off x="548640" y="2487168"/>
            <a:ext cx="548640" cy="548640"/>
          </a:xfrm>
          <a:prstGeom prst="ellipse">
            <a:avLst/>
          </a:prstGeom>
          <a:solidFill>
            <a:schemeClr val="accent1"/>
          </a:solidFill>
          <a:ln w="12700">
            <a:solidFill>
              <a:schemeClr val="accent1"/>
            </a:solidFill>
            <a:prstDash val="solid"/>
          </a:ln>
        </p:spPr>
      </p:sp>
      <p:pic>
        <p:nvPicPr>
          <p:cNvPr id="10" name="icon-695" descr="preencoded.png">    </p:cNvPr>
          <p:cNvPicPr>
            <a:picLocks noChangeAspect="1"/>
          </p:cNvPicPr>
          <p:nvPr/>
        </p:nvPicPr>
        <p:blipFill>
          <a:blip r:embed="rId3"/>
          <a:stretch>
            <a:fillRect/>
          </a:stretch>
        </p:blipFill>
        <p:spPr>
          <a:xfrm>
            <a:off x="680314" y="2618842"/>
            <a:ext cx="285293" cy="285293"/>
          </a:xfrm>
          <a:prstGeom prst="rect">
            <a:avLst/>
          </a:prstGeom>
        </p:spPr>
      </p:pic>
      <p:sp>
        <p:nvSpPr>
          <p:cNvPr id="11" name="text-696"/>
          <p:cNvSpPr txBox="1"/>
          <p:nvPr/>
        </p:nvSpPr>
        <p:spPr>
          <a:xfrm>
            <a:off x="1325880" y="2441448"/>
            <a:ext cx="4541368" cy="658368"/>
          </a:xfrm>
          <a:prstGeom prst="rect">
            <a:avLst/>
          </a:prstGeom>
          <a:noFill/>
          <a:ln/>
        </p:spPr>
        <p:txBody>
          <a:bodyPr wrap="square" lIns="0" tIns="0" rIns="0" bIns="0" rtlCol="0" anchor="ctr"/>
          <a:lstStyle/>
          <a:p>
            <a:pPr indent="0" marL="0">
              <a:buNone/>
            </a:pPr>
            <a:r>
              <a:rPr lang="en-US" sz="1600" dirty="0">
                <a:solidFill>
                  <a:schemeClr val="bg1"/>
                </a:solidFill>
              </a:rPr>
              <a:t>CNN layers: designed to capture short-term traffic patterns</a:t>
            </a:r>
            <a:endParaRPr lang="en-US" sz="1600" dirty="0"/>
          </a:p>
        </p:txBody>
      </p:sp>
      <p:sp>
        <p:nvSpPr>
          <p:cNvPr id="12" name="icon-bg-697"/>
          <p:cNvSpPr/>
          <p:nvPr/>
        </p:nvSpPr>
        <p:spPr>
          <a:xfrm>
            <a:off x="6278728" y="2487168"/>
            <a:ext cx="548640" cy="548640"/>
          </a:xfrm>
          <a:prstGeom prst="ellipse">
            <a:avLst/>
          </a:prstGeom>
          <a:solidFill>
            <a:schemeClr val="accent1"/>
          </a:solidFill>
          <a:ln w="12700">
            <a:solidFill>
              <a:schemeClr val="accent1"/>
            </a:solidFill>
            <a:prstDash val="solid"/>
          </a:ln>
        </p:spPr>
      </p:sp>
      <p:pic>
        <p:nvPicPr>
          <p:cNvPr id="13" name="icon-698" descr="preencoded.png">    </p:cNvPr>
          <p:cNvPicPr>
            <a:picLocks noChangeAspect="1"/>
          </p:cNvPicPr>
          <p:nvPr/>
        </p:nvPicPr>
        <p:blipFill>
          <a:blip r:embed="rId4"/>
          <a:stretch>
            <a:fillRect/>
          </a:stretch>
        </p:blipFill>
        <p:spPr>
          <a:xfrm>
            <a:off x="6410401" y="2618842"/>
            <a:ext cx="285293" cy="285293"/>
          </a:xfrm>
          <a:prstGeom prst="rect">
            <a:avLst/>
          </a:prstGeom>
        </p:spPr>
      </p:pic>
      <p:sp>
        <p:nvSpPr>
          <p:cNvPr id="14" name="text-699"/>
          <p:cNvSpPr txBox="1"/>
          <p:nvPr/>
        </p:nvSpPr>
        <p:spPr>
          <a:xfrm>
            <a:off x="7055968" y="2441448"/>
            <a:ext cx="4541368" cy="658368"/>
          </a:xfrm>
          <a:prstGeom prst="rect">
            <a:avLst/>
          </a:prstGeom>
          <a:noFill/>
          <a:ln/>
        </p:spPr>
        <p:txBody>
          <a:bodyPr wrap="square" lIns="0" tIns="0" rIns="0" bIns="0" rtlCol="0" anchor="ctr"/>
          <a:lstStyle/>
          <a:p>
            <a:pPr indent="0" marL="0">
              <a:buNone/>
            </a:pPr>
            <a:r>
              <a:rPr lang="en-US" sz="1600" dirty="0">
                <a:solidFill>
                  <a:schemeClr val="bg1"/>
                </a:solidFill>
              </a:rPr>
              <a:t>LSTM layers: designed to capture how those patterns evolve over time</a:t>
            </a:r>
            <a:endParaRPr lang="en-US" sz="1600" dirty="0"/>
          </a:p>
        </p:txBody>
      </p:sp>
      <p:sp>
        <p:nvSpPr>
          <p:cNvPr id="15" name="icon-bg-700"/>
          <p:cNvSpPr/>
          <p:nvPr/>
        </p:nvSpPr>
        <p:spPr>
          <a:xfrm>
            <a:off x="548640" y="3511296"/>
            <a:ext cx="548640" cy="548640"/>
          </a:xfrm>
          <a:prstGeom prst="ellipse">
            <a:avLst/>
          </a:prstGeom>
          <a:solidFill>
            <a:schemeClr val="accent1"/>
          </a:solidFill>
          <a:ln w="12700">
            <a:solidFill>
              <a:schemeClr val="accent1"/>
            </a:solidFill>
            <a:prstDash val="solid"/>
          </a:ln>
        </p:spPr>
      </p:sp>
      <p:pic>
        <p:nvPicPr>
          <p:cNvPr id="16" name="icon-701" descr="preencoded.png">    </p:cNvPr>
          <p:cNvPicPr>
            <a:picLocks noChangeAspect="1"/>
          </p:cNvPicPr>
          <p:nvPr/>
        </p:nvPicPr>
        <p:blipFill>
          <a:blip r:embed="rId5"/>
          <a:stretch>
            <a:fillRect/>
          </a:stretch>
        </p:blipFill>
        <p:spPr>
          <a:xfrm>
            <a:off x="680314" y="3642970"/>
            <a:ext cx="285293" cy="285293"/>
          </a:xfrm>
          <a:prstGeom prst="rect">
            <a:avLst/>
          </a:prstGeom>
        </p:spPr>
      </p:pic>
      <p:sp>
        <p:nvSpPr>
          <p:cNvPr id="17" name="text-702"/>
          <p:cNvSpPr txBox="1"/>
          <p:nvPr/>
        </p:nvSpPr>
        <p:spPr>
          <a:xfrm>
            <a:off x="1325880" y="3465576"/>
            <a:ext cx="4541368" cy="658368"/>
          </a:xfrm>
          <a:prstGeom prst="rect">
            <a:avLst/>
          </a:prstGeom>
          <a:noFill/>
          <a:ln/>
        </p:spPr>
        <p:txBody>
          <a:bodyPr wrap="square" lIns="0" tIns="0" rIns="0" bIns="0" rtlCol="0" anchor="ctr"/>
          <a:lstStyle/>
          <a:p>
            <a:pPr indent="0" marL="0">
              <a:buNone/>
            </a:pPr>
            <a:r>
              <a:rPr lang="en-US" sz="1600" dirty="0">
                <a:solidFill>
                  <a:schemeClr val="bg1"/>
                </a:solidFill>
              </a:rPr>
              <a:t>Residual learning cut neural-model error by about two thirds vs direct prediction</a:t>
            </a:r>
            <a:endParaRPr lang="en-US" sz="1600" dirty="0"/>
          </a:p>
        </p:txBody>
      </p:sp>
      <p:sp>
        <p:nvSpPr>
          <p:cNvPr id="18" name="icon-bg-703"/>
          <p:cNvSpPr/>
          <p:nvPr/>
        </p:nvSpPr>
        <p:spPr>
          <a:xfrm>
            <a:off x="6278728" y="3511296"/>
            <a:ext cx="548640" cy="548640"/>
          </a:xfrm>
          <a:prstGeom prst="ellipse">
            <a:avLst/>
          </a:prstGeom>
          <a:solidFill>
            <a:schemeClr val="accent2"/>
          </a:solidFill>
          <a:ln w="12700">
            <a:solidFill>
              <a:schemeClr val="accent2"/>
            </a:solidFill>
            <a:prstDash val="solid"/>
          </a:ln>
        </p:spPr>
      </p:sp>
      <p:pic>
        <p:nvPicPr>
          <p:cNvPr id="19" name="icon-704" descr="preencoded.png">    </p:cNvPr>
          <p:cNvPicPr>
            <a:picLocks noChangeAspect="1"/>
          </p:cNvPicPr>
          <p:nvPr/>
        </p:nvPicPr>
        <p:blipFill>
          <a:blip r:embed="rId6"/>
          <a:stretch>
            <a:fillRect/>
          </a:stretch>
        </p:blipFill>
        <p:spPr>
          <a:xfrm>
            <a:off x="6410401" y="3642970"/>
            <a:ext cx="285293" cy="285293"/>
          </a:xfrm>
          <a:prstGeom prst="rect">
            <a:avLst/>
          </a:prstGeom>
        </p:spPr>
      </p:pic>
      <p:sp>
        <p:nvSpPr>
          <p:cNvPr id="20" name="text-705"/>
          <p:cNvSpPr txBox="1"/>
          <p:nvPr/>
        </p:nvSpPr>
        <p:spPr>
          <a:xfrm>
            <a:off x="7055968" y="3465576"/>
            <a:ext cx="4541368" cy="658368"/>
          </a:xfrm>
          <a:prstGeom prst="rect">
            <a:avLst/>
          </a:prstGeom>
          <a:noFill/>
          <a:ln/>
        </p:spPr>
        <p:txBody>
          <a:bodyPr wrap="square" lIns="0" tIns="0" rIns="0" bIns="0" rtlCol="0" anchor="ctr"/>
          <a:lstStyle/>
          <a:p>
            <a:pPr indent="0" marL="0">
              <a:buNone/>
            </a:pPr>
            <a:r>
              <a:rPr lang="en-US" sz="1600" dirty="0">
                <a:solidFill>
                  <a:schemeClr val="bg1"/>
                </a:solidFill>
              </a:rPr>
              <a:t>Next: complete the CNN-LSTM and connect forecasts to proactive congestion detection</a:t>
            </a:r>
            <a:endParaRPr lang="en-US" sz="1600" dirty="0"/>
          </a:p>
        </p:txBody>
      </p:sp>
      <p:sp>
        <p:nvSpPr>
          <p:cNvPr id="21" name="text-706"/>
          <p:cNvSpPr txBox="1"/>
          <p:nvPr/>
        </p:nvSpPr>
        <p:spPr>
          <a:xfrm>
            <a:off x="548640" y="4709160"/>
            <a:ext cx="11094415" cy="640080"/>
          </a:xfrm>
          <a:prstGeom prst="rect">
            <a:avLst/>
          </a:prstGeom>
          <a:noFill/>
          <a:ln/>
        </p:spPr>
        <p:txBody>
          <a:bodyPr wrap="square" lIns="0" tIns="0" rIns="0" bIns="0" rtlCol="0" anchor="ctr"/>
          <a:lstStyle/>
          <a:p>
            <a:pPr algn="ctr" indent="0" marL="0">
              <a:buNone/>
            </a:pPr>
            <a:r>
              <a:rPr lang="en-US" sz="2800" b="1" i="1" dirty="0">
                <a:solidFill>
                  <a:schemeClr val="accent2"/>
                </a:solidFill>
                <a:latin typeface="Cambria" pitchFamily="34" charset="0"/>
                <a:ea typeface="Cambria" pitchFamily="34" charset="-122"/>
                <a:cs typeface="Cambria" pitchFamily="34" charset="-120"/>
              </a:rPr>
              <a:t>Predict the traffic before congestion happens.</a:t>
            </a:r>
            <a:endParaRPr lang="en-US" sz="2800" dirty="0"/>
          </a:p>
        </p:txBody>
      </p:sp>
      <p:sp>
        <p:nvSpPr>
          <p:cNvPr id="22" name="text-707"/>
          <p:cNvSpPr txBox="1"/>
          <p:nvPr/>
        </p:nvSpPr>
        <p:spPr>
          <a:xfrm>
            <a:off x="548640" y="5532120"/>
            <a:ext cx="5364328" cy="548640"/>
          </a:xfrm>
          <a:prstGeom prst="rect">
            <a:avLst/>
          </a:prstGeom>
          <a:noFill/>
          <a:ln/>
        </p:spPr>
        <p:txBody>
          <a:bodyPr wrap="square" lIns="0" tIns="0" rIns="0" bIns="0" rtlCol="0" anchor="ctr"/>
          <a:lstStyle/>
          <a:p>
            <a:pPr algn="r" indent="0" marL="0">
              <a:buNone/>
            </a:pPr>
            <a:r>
              <a:rPr lang="en-US" sz="2600" b="1" dirty="0">
                <a:solidFill>
                  <a:schemeClr val="bg1"/>
                </a:solidFill>
              </a:rPr>
              <a:t>Thank You</a:t>
            </a:r>
            <a:endParaRPr lang="en-US" sz="2600" dirty="0"/>
          </a:p>
        </p:txBody>
      </p:sp>
      <p:sp>
        <p:nvSpPr>
          <p:cNvPr id="23" name="text-708"/>
          <p:cNvSpPr txBox="1"/>
          <p:nvPr/>
        </p:nvSpPr>
        <p:spPr>
          <a:xfrm>
            <a:off x="6278728" y="5532120"/>
            <a:ext cx="5364328" cy="548640"/>
          </a:xfrm>
          <a:prstGeom prst="rect">
            <a:avLst/>
          </a:prstGeom>
          <a:noFill/>
          <a:ln/>
        </p:spPr>
        <p:txBody>
          <a:bodyPr wrap="square" lIns="0" tIns="0" rIns="0" bIns="0" rtlCol="0" anchor="ctr"/>
          <a:lstStyle/>
          <a:p>
            <a:pPr indent="0" marL="0">
              <a:buNone/>
            </a:pPr>
            <a:r>
              <a:rPr lang="en-US" sz="2600" b="1" dirty="0">
                <a:solidFill>
                  <a:schemeClr val="accent4"/>
                </a:solidFill>
              </a:rPr>
              <a:t>Questions?</a:t>
            </a:r>
            <a:endParaRPr lang="en-US" sz="2600" dirty="0"/>
          </a:p>
        </p:txBody>
      </p:sp>
      <p:sp>
        <p:nvSpPr>
          <p:cNvPr id="24" name="sep-709"/>
          <p:cNvSpPr/>
          <p:nvPr/>
        </p:nvSpPr>
        <p:spPr>
          <a:xfrm>
            <a:off x="6095848" y="5596128"/>
            <a:ext cx="91" cy="420624"/>
          </a:xfrm>
          <a:prstGeom prst="line">
            <a:avLst/>
          </a:prstGeom>
          <a:noFill/>
          <a:ln w="19050">
            <a:solidFill>
              <a:schemeClr val="accent4"/>
            </a:solidFill>
            <a:prstDash val="solid"/>
          </a:ln>
        </p:spPr>
      </p:sp>
    </p:spTree>
  </p:cSld>
  <p:clrMapOvr>
    <a:masterClrMapping/>
  </p:clrMapOvr>
</p:sld>
</file>

<file path=ppt/theme/theme1.xml><?xml version="1.0" encoding="utf-8"?>
<a:theme xmlns:a="http://schemas.openxmlformats.org/drawingml/2006/main" name="Traffic Forecast">
  <a:themeElements>
    <a:clrScheme name="Traffic Forecast">
      <a:dk1>
        <a:srgbClr val="16232E"/>
      </a:dk1>
      <a:lt1>
        <a:srgbClr val="FFFFFF"/>
      </a:lt1>
      <a:dk2>
        <a:srgbClr val="0E2A3A"/>
      </a:dk2>
      <a:lt2>
        <a:srgbClr val="EEF3F6"/>
      </a:lt2>
      <a:accent1>
        <a:srgbClr val="1C7C8C"/>
      </a:accent1>
      <a:accent2>
        <a:srgbClr val="E07B1A"/>
      </a:accent2>
      <a:accent3>
        <a:srgbClr val="5B6B78"/>
      </a:accent3>
      <a:accent4>
        <a:srgbClr val="A9D3DA"/>
      </a:accent4>
      <a:accent5>
        <a:srgbClr val="C0392B"/>
      </a:accent5>
      <a:accent6>
        <a:srgbClr val="2E8B57"/>
      </a:accent6>
      <a:hlink>
        <a:srgbClr val="1C7C8C"/>
      </a:hlink>
      <a:folHlink>
        <a:srgbClr val="5B6B78"/>
      </a:folHlink>
    </a:clrScheme>
    <a:fontScheme name="Traffic Foreca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CNN-LSTM Based Network Traffic Forecasting</dc:title>
  <dc:subject>Project review</dc:subject>
  <dc:creator>PptxGenJS</dc:creator>
  <cp:lastModifiedBy>PptxGenJS</cp:lastModifiedBy>
  <cp:revision>1</cp:revision>
  <dcterms:created xsi:type="dcterms:W3CDTF">2026-10-07T20:30:01Z</dcterms:created>
  <dcterms:modified xsi:type="dcterms:W3CDTF">2026-10-07T20:30:01Z</dcterms:modified>
</cp:coreProperties>
</file>